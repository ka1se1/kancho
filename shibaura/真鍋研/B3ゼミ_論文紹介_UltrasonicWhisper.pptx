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論文紹介" id="{2BD7E865-1489-7F13-67C5-27E4AABE73DD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37298" autoAdjust="0"/>
  </p:normalViewPr>
  <p:slideViewPr>
    <p:cSldViewPr snapToGrid="0" snapToObjects="1">
      <p:cViewPr varScale="1">
        <p:scale>
          <a:sx n="52" d="100"/>
          <a:sy n="52" d="100"/>
        </p:scale>
        <p:origin x="2780" y="48"/>
      </p:cViewPr>
      <p:guideLst/>
    </p:cSldViewPr>
  </p:slideViewPr>
  <p:notesTextViewPr>
    <p:cViewPr>
      <p:scale>
        <a:sx n="1" d="1"/>
        <a:sy n="1" d="1"/>
      </p:scale>
      <p:origin x="0" y="-50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497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① つかみ・課題（0:00〜0:15）　→ </a:t>
            </a:r>
            <a:r>
              <a:rPr dirty="0" err="1"/>
              <a:t>スライド上の「課題</a:t>
            </a:r>
            <a:r>
              <a:rPr dirty="0"/>
              <a:t>」</a:t>
            </a:r>
          </a:p>
          <a:p>
            <a:endParaRPr dirty="0"/>
          </a:p>
          <a:p>
            <a:r>
              <a:rPr dirty="0"/>
              <a:t>インタラクション2025の「UltrasonicWhisper+」</a:t>
            </a:r>
            <a:r>
              <a:rPr dirty="0" err="1"/>
              <a:t>を紹介します</a:t>
            </a:r>
            <a:r>
              <a:rPr dirty="0"/>
              <a:t>。</a:t>
            </a:r>
          </a:p>
          <a:p>
            <a:r>
              <a:rPr dirty="0" err="1"/>
              <a:t>イヤホンの外音取り込み機能を使っていると、自分にだけ偽の音を聞かされるかもしれない、という研究です</a:t>
            </a:r>
            <a:r>
              <a:rPr dirty="0"/>
              <a:t>。</a:t>
            </a:r>
          </a:p>
          <a:p>
            <a:r>
              <a:rPr dirty="0" err="1"/>
              <a:t>これまでの超音波攻撃は</a:t>
            </a:r>
            <a:r>
              <a:rPr dirty="0"/>
              <a:t> Siri </a:t>
            </a:r>
            <a:r>
              <a:rPr dirty="0" err="1"/>
              <a:t>など機械が標的でしたが、この論文は人間をだませるかを調べています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② 提案・仕組み（0:15〜0:50）　→ 4つの箱を左から順に指す</a:t>
            </a:r>
          </a:p>
          <a:p>
            <a:endParaRPr dirty="0"/>
          </a:p>
          <a:p>
            <a:r>
              <a:rPr dirty="0"/>
              <a:t>仕組みは4ステップです。</a:t>
            </a:r>
          </a:p>
          <a:p>
            <a:r>
              <a:rPr dirty="0"/>
              <a:t>攻撃者は、聞かせたい音を超音波に乗せて送ります。人には聞こえません。ところがマイクの非線形という性質のせいで、マイクの中で普通の音に戻ってしまいます。</a:t>
            </a:r>
          </a:p>
          <a:p>
            <a:r>
              <a:rPr dirty="0" err="1"/>
              <a:t>それを外音取り込みが耳に流すので、本人にだけ聞こえて、周りは気づきません</a:t>
            </a:r>
            <a:r>
              <a:rPr dirty="0"/>
              <a:t>。</a:t>
            </a:r>
          </a:p>
          <a:p>
            <a:r>
              <a:rPr dirty="0" err="1"/>
              <a:t>さらに</a:t>
            </a:r>
            <a:r>
              <a:rPr dirty="0"/>
              <a:t> HRTF </a:t>
            </a:r>
            <a:r>
              <a:rPr dirty="0" err="1"/>
              <a:t>で方向をつけると</a:t>
            </a:r>
            <a:r>
              <a:rPr dirty="0"/>
              <a:t>、「</a:t>
            </a:r>
            <a:r>
              <a:rPr dirty="0" err="1"/>
              <a:t>後ろで鳴った音」のふりもできます</a:t>
            </a:r>
            <a:r>
              <a:rPr dirty="0"/>
              <a:t>。</a:t>
            </a:r>
          </a:p>
          <a:p>
            <a:r>
              <a:rPr dirty="0"/>
              <a:t>→ </a:t>
            </a:r>
            <a:r>
              <a:rPr dirty="0" err="1"/>
              <a:t>左の図</a:t>
            </a:r>
            <a:r>
              <a:rPr dirty="0"/>
              <a:t>　</a:t>
            </a:r>
            <a:r>
              <a:rPr dirty="0" err="1"/>
              <a:t>たとえば偽の信号機の音で赤信号を渡らせる、といった危険があります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③ 結果（0:50〜1:15）　→ </a:t>
            </a:r>
            <a:r>
              <a:rPr dirty="0" err="1"/>
              <a:t>数字を順に指す</a:t>
            </a:r>
            <a:endParaRPr dirty="0"/>
          </a:p>
          <a:p>
            <a:endParaRPr dirty="0"/>
          </a:p>
          <a:p>
            <a:r>
              <a:rPr dirty="0"/>
              <a:t>結果です。市販のイヤホン5機種すべてで音を生成できました。</a:t>
            </a:r>
          </a:p>
          <a:p>
            <a:r>
              <a:rPr dirty="0" err="1"/>
              <a:t>人がだまされるかの実験では、偽の指示に</a:t>
            </a:r>
            <a:r>
              <a:rPr dirty="0"/>
              <a:t> 14.9% </a:t>
            </a:r>
            <a:r>
              <a:rPr dirty="0" err="1"/>
              <a:t>従い、偽の信号音やクラクションは約半分を本物だと判断しました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④ 新規性・有用性（1:15〜1:30）　→ </a:t>
            </a:r>
            <a:r>
              <a:rPr dirty="0" err="1"/>
              <a:t>右側</a:t>
            </a:r>
            <a:endParaRPr dirty="0"/>
          </a:p>
          <a:p>
            <a:endParaRPr dirty="0"/>
          </a:p>
          <a:p>
            <a:r>
              <a:rPr dirty="0" err="1"/>
              <a:t>新規性は、標的を機械から人の知覚に移し、音の方向まで偽装したことだと思います</a:t>
            </a:r>
            <a:r>
              <a:rPr dirty="0"/>
              <a:t>。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ほかの研究では、</a:t>
            </a:r>
            <a:r>
              <a:rPr kumimoji="1" lang="ja-JP" altLang="ja-JP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人には聞こえない超音波に音声コマンドを乗せ、SiriやAlexaなどの**音声アシスタント（機械）**に勝手に命令を実行させ</a:t>
            </a: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る研究はあったが、人を対象としたものはなかった。</a:t>
            </a:r>
            <a:endParaRPr dirty="0"/>
          </a:p>
          <a:p>
            <a:r>
              <a:rPr dirty="0" err="1"/>
              <a:t>有用性は、イヤホンを常につける社会の隠れたリスクを実証し、マイクにカバーを付けるといった対策も示したことです</a:t>
            </a:r>
            <a:r>
              <a:rPr dirty="0"/>
              <a:t>。</a:t>
            </a:r>
            <a:endParaRPr lang="en-US" dirty="0"/>
          </a:p>
          <a:p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「外音取り込みが攻撃の入口になる」ことを示し、マイクにカバーを付けるだけで防げる、という具体的な設計指針まで出したことだと思います。</a:t>
            </a:r>
            <a:endParaRPr dirty="0"/>
          </a:p>
          <a:p>
            <a:endParaRPr dirty="0"/>
          </a:p>
          <a:p>
            <a:r>
              <a:rPr dirty="0"/>
              <a:t>⑤ 面白いところ（1:30〜2:00）　→ </a:t>
            </a:r>
            <a:r>
              <a:rPr dirty="0" err="1"/>
              <a:t>結果の見出し「攻撃を『知っていた』のに</a:t>
            </a:r>
            <a:r>
              <a:rPr dirty="0"/>
              <a:t>…」</a:t>
            </a:r>
          </a:p>
          <a:p>
            <a:endParaRPr dirty="0"/>
          </a:p>
          <a:p>
            <a:r>
              <a:rPr dirty="0" err="1"/>
              <a:t>私が一番面白いと思ったのは、知っていてもだまされるところです</a:t>
            </a:r>
            <a:r>
              <a:rPr dirty="0"/>
              <a:t>。</a:t>
            </a:r>
          </a:p>
          <a:p>
            <a:r>
              <a:rPr dirty="0" err="1"/>
              <a:t>この実験の参加者は、攻撃があることを事前に知らされていて、攻撃音がどんな音かも練習で聞いていました</a:t>
            </a:r>
            <a:r>
              <a:rPr dirty="0"/>
              <a:t>。</a:t>
            </a:r>
          </a:p>
          <a:p>
            <a:r>
              <a:rPr dirty="0" err="1"/>
              <a:t>しかも音質は本物より悪く、集中すれば聞き分けられるレベルです</a:t>
            </a:r>
            <a:r>
              <a:rPr dirty="0"/>
              <a:t>。</a:t>
            </a:r>
          </a:p>
          <a:p>
            <a:r>
              <a:rPr dirty="0" err="1"/>
              <a:t>それでも作業しながらだと、つい従ってしまう</a:t>
            </a:r>
            <a:r>
              <a:rPr dirty="0"/>
              <a:t>。</a:t>
            </a:r>
          </a:p>
          <a:p>
            <a:r>
              <a:rPr dirty="0" err="1"/>
              <a:t>何も知らずに街を歩いている普段の私たちなら、もっとだまされるはずで、そこが怖くて面白いと思いました。以上です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 noRot="1" noMove="1" noResize="1" noEditPoints="1" noAdjustHandles="1" noChangeArrowheads="1" noChangeShapeType="1"/>
          </p:cNvSpPr>
          <p:nvPr>
            <p:ph type="title" idx="100" hasCustomPrompt="1"/>
          </p:nvPr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2"/>
                </a:solidFill>
              </a:rPr>
              <a:t>UltrasonicWhisper+</a:t>
            </a:r>
            <a:r>
              <a:rPr lang="en-US" sz="2200" b="1" dirty="0">
                <a:solidFill>
                  <a:schemeClr val="tx2"/>
                </a:solidFill>
              </a:rPr>
              <a:t>：超音波でイヤホンに「偽の音」を聞かせる</a:t>
            </a:r>
            <a:endParaRPr lang="en-US" sz="2200" dirty="0"/>
          </a:p>
        </p:txBody>
      </p:sp>
      <p:sp>
        <p:nvSpPr>
          <p:cNvPr id="3" name="Text 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5760" y="65836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渡邉拓貴（公立はこだて未来大）・寺田努（神戸大）／ インタラクション2025</a:t>
            </a:r>
            <a:endParaRPr lang="en-US" sz="1100" dirty="0"/>
          </a:p>
        </p:txBody>
      </p:sp>
      <p:sp>
        <p:nvSpPr>
          <p:cNvPr id="4" name="questionBar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760" y="950976"/>
            <a:ext cx="841248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02920" y="950976"/>
            <a:ext cx="8183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課題　</a:t>
            </a:r>
            <a:r>
              <a:rPr lang="en-US" sz="1500" dirty="0">
                <a:solidFill>
                  <a:schemeClr val="tx1"/>
                </a:solidFill>
              </a:rPr>
              <a:t>超音波攻撃の標的はこれまで「機械」。</a:t>
            </a:r>
            <a:r>
              <a:rPr lang="en-US" sz="1500" b="1" dirty="0">
                <a:solidFill>
                  <a:schemeClr val="tx1"/>
                </a:solidFill>
              </a:rPr>
              <a:t>イヤホンをつけた「人間」もだませる？</a:t>
            </a:r>
            <a:endParaRPr lang="en-US" sz="1500" dirty="0"/>
          </a:p>
        </p:txBody>
      </p:sp>
      <p:pic>
        <p:nvPicPr>
          <p:cNvPr id="6" name="fig2b" descr="preencoded.png"/>
          <p:cNvPicPr>
            <a:picLocks noChangeAspect="1"/>
          </p:cNvPicPr>
          <p:nvPr/>
        </p:nvPicPr>
        <p:blipFill>
          <a:blip r:embed="rId3"/>
          <a:srcRect r="13032"/>
          <a:stretch>
            <a:fillRect/>
          </a:stretch>
        </p:blipFill>
        <p:spPr>
          <a:xfrm>
            <a:off x="264033" y="1751584"/>
            <a:ext cx="2322957" cy="1137920"/>
          </a:xfrm>
          <a:prstGeom prst="rect">
            <a:avLst/>
          </a:prstGeom>
        </p:spPr>
      </p:pic>
      <p:sp>
        <p:nvSpPr>
          <p:cNvPr id="7" name="Text 4"/>
          <p:cNvSpPr txBox="1">
            <a:spLocks/>
          </p:cNvSpPr>
          <p:nvPr/>
        </p:nvSpPr>
        <p:spPr>
          <a:xfrm>
            <a:off x="365760" y="294436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偽の信号音で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4"/>
                </a:solidFill>
              </a:rPr>
              <a:t>赤信号を渡らせる（図2）</a:t>
            </a:r>
            <a:endParaRPr lang="en-US" sz="1150" dirty="0"/>
          </a:p>
        </p:txBody>
      </p:sp>
      <p:sp>
        <p:nvSpPr>
          <p:cNvPr id="8" name="Text 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97480" y="1572768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提案　</a:t>
            </a:r>
            <a:r>
              <a:rPr lang="en-US" b="1" dirty="0">
                <a:solidFill>
                  <a:schemeClr val="tx2"/>
                </a:solidFill>
                <a:highlight>
                  <a:srgbClr val="FFFF00"/>
                </a:highlight>
              </a:rPr>
              <a:t>どうやって本人にだけ聞かせる？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9" name="step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97480" y="1901952"/>
            <a:ext cx="138303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tepIconBg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196971" y="19751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stepIcon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9267" y="205740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34056" y="2414016"/>
            <a:ext cx="1309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超音波で送る</a:t>
            </a:r>
            <a:endParaRPr lang="en-US" sz="1300" dirty="0"/>
          </a:p>
        </p:txBody>
      </p:sp>
      <p:sp>
        <p:nvSpPr>
          <p:cNvPr id="13" name="Text 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34056" y="2688336"/>
            <a:ext cx="1309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人には聞こえない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40kHzに音を乗せる</a:t>
            </a:r>
            <a:endParaRPr lang="en-US" sz="1100" dirty="0"/>
          </a:p>
        </p:txBody>
      </p:sp>
      <p:sp>
        <p:nvSpPr>
          <p:cNvPr id="14" name="arrow0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07942" y="2414016"/>
            <a:ext cx="155448" cy="137160"/>
          </a:xfrm>
          <a:prstGeom prst="triangl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tep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63390" y="1901952"/>
            <a:ext cx="138303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tepIconBg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62881" y="19751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7" name="stepIcon1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177" y="205740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99966" y="2414016"/>
            <a:ext cx="1309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マイクで音に戻る</a:t>
            </a:r>
            <a:endParaRPr lang="en-US" sz="1300" dirty="0"/>
          </a:p>
        </p:txBody>
      </p:sp>
      <p:sp>
        <p:nvSpPr>
          <p:cNvPr id="19" name="Text 1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99966" y="2688336"/>
            <a:ext cx="1309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マイクの非線形性で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可聴音が生まれる</a:t>
            </a:r>
            <a:endParaRPr lang="en-US" sz="1100" dirty="0"/>
          </a:p>
        </p:txBody>
      </p:sp>
      <p:sp>
        <p:nvSpPr>
          <p:cNvPr id="20" name="arrow1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673852" y="2414016"/>
            <a:ext cx="155448" cy="137160"/>
          </a:xfrm>
          <a:prstGeom prst="triangl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tep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29300" y="1901952"/>
            <a:ext cx="138303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tepIconBg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28791" y="19751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3" name="stepIcon2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087" y="205740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65876" y="2414016"/>
            <a:ext cx="1309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イヤホンが再生</a:t>
            </a:r>
            <a:endParaRPr lang="en-US" sz="1300" dirty="0"/>
          </a:p>
        </p:txBody>
      </p:sp>
      <p:sp>
        <p:nvSpPr>
          <p:cNvPr id="25" name="Text 1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65876" y="2688336"/>
            <a:ext cx="1309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外音取り込みが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そのまま耳へ流す</a:t>
            </a:r>
            <a:endParaRPr lang="en-US" sz="1100" dirty="0"/>
          </a:p>
        </p:txBody>
      </p:sp>
      <p:sp>
        <p:nvSpPr>
          <p:cNvPr id="26" name="arrow2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7239762" y="2414016"/>
            <a:ext cx="155448" cy="137160"/>
          </a:xfrm>
          <a:prstGeom prst="triangl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step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95210" y="1901952"/>
            <a:ext cx="138303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tepIconBg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94701" y="197510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9" name="stepIcon3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6997" y="2057400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431786" y="2414016"/>
            <a:ext cx="1309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本人だけ聞こえる</a:t>
            </a:r>
            <a:endParaRPr lang="en-US" sz="1300" dirty="0"/>
          </a:p>
        </p:txBody>
      </p:sp>
      <p:sp>
        <p:nvSpPr>
          <p:cNvPr id="31" name="Text 2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431786" y="2688336"/>
            <a:ext cx="1309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周りは気づかない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イヤホンの細工不要</a:t>
            </a:r>
            <a:endParaRPr lang="en-US" sz="1100" dirty="0"/>
          </a:p>
        </p:txBody>
      </p:sp>
      <p:sp>
        <p:nvSpPr>
          <p:cNvPr id="32" name="Text 2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97480" y="3145536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＋HRTF</a:t>
            </a:r>
            <a:r>
              <a:rPr lang="en-US" sz="1200" dirty="0">
                <a:solidFill>
                  <a:schemeClr val="tx1"/>
                </a:solidFill>
              </a:rPr>
              <a:t>で方向もつけると「背後で鳴った音」まで偽装できる</a:t>
            </a:r>
            <a:endParaRPr lang="en-US" sz="1200" dirty="0"/>
          </a:p>
        </p:txBody>
      </p:sp>
      <p:sp>
        <p:nvSpPr>
          <p:cNvPr id="33" name="Text 26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5760" y="36210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結果　攻撃を「知っていた」のに…</a:t>
            </a:r>
            <a:endParaRPr lang="en-US" sz="2000" dirty="0"/>
          </a:p>
        </p:txBody>
      </p:sp>
      <p:sp>
        <p:nvSpPr>
          <p:cNvPr id="34" name="stat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760" y="3950207"/>
            <a:ext cx="2468880" cy="804672"/>
          </a:xfrm>
          <a:prstGeom prst="roundRect">
            <a:avLst>
              <a:gd name="adj" fmla="val 9091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2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7200" y="3986783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5/5機種</a:t>
            </a:r>
            <a:endParaRPr lang="en-US" sz="2400" dirty="0"/>
          </a:p>
        </p:txBody>
      </p:sp>
      <p:sp>
        <p:nvSpPr>
          <p:cNvPr id="36" name="Text 2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7200" y="4370831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市販5機種すべてで音の生成に成功</a:t>
            </a:r>
            <a:endParaRPr lang="en-US" sz="1050" dirty="0"/>
          </a:p>
        </p:txBody>
      </p:sp>
      <p:sp>
        <p:nvSpPr>
          <p:cNvPr id="37" name="stat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17520" y="3950207"/>
            <a:ext cx="2468880" cy="804672"/>
          </a:xfrm>
          <a:prstGeom prst="roundRect">
            <a:avLst>
              <a:gd name="adj" fmla="val 9091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08960" y="3986783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14.9%</a:t>
            </a:r>
            <a:endParaRPr lang="en-US" sz="2400" dirty="0"/>
          </a:p>
        </p:txBody>
      </p:sp>
      <p:sp>
        <p:nvSpPr>
          <p:cNvPr id="39" name="Text 3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08960" y="4370831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chemeClr val="tx1"/>
                </a:solidFill>
              </a:rPr>
              <a:t>偽の指示に従った</a:t>
            </a:r>
            <a:endParaRPr lang="en-US" sz="1050" dirty="0"/>
          </a:p>
        </p:txBody>
      </p:sp>
      <p:sp>
        <p:nvSpPr>
          <p:cNvPr id="43" name="chip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0720" y="3657600"/>
            <a:ext cx="676656" cy="27432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Text 37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60720" y="365760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新規性</a:t>
            </a:r>
            <a:endParaRPr lang="en-US" sz="1200" dirty="0"/>
          </a:p>
        </p:txBody>
      </p:sp>
      <p:sp>
        <p:nvSpPr>
          <p:cNvPr id="45" name="Text 3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528816" y="3639312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標的を「人の知覚」へ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音の方向まで偽装</a:t>
            </a:r>
            <a:endParaRPr lang="en-US" sz="1400" dirty="0"/>
          </a:p>
        </p:txBody>
      </p:sp>
      <p:sp>
        <p:nvSpPr>
          <p:cNvPr id="46" name="chip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0720" y="4242816"/>
            <a:ext cx="676656" cy="27432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60720" y="4242816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有用性</a:t>
            </a:r>
            <a:endParaRPr lang="en-US" sz="1200" dirty="0"/>
          </a:p>
        </p:txBody>
      </p:sp>
      <p:sp>
        <p:nvSpPr>
          <p:cNvPr id="48" name="Text 4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528816" y="4224528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常時装着社会の隠れた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リスクを実証・対策も提示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ltrasonicWhisper">
  <a:themeElements>
    <a:clrScheme name="UltrasonicWhisper">
      <a:dk1>
        <a:srgbClr val="1B2333"/>
      </a:dk1>
      <a:lt1>
        <a:srgbClr val="FFFFFF"/>
      </a:lt1>
      <a:dk2>
        <a:srgbClr val="1F2A44"/>
      </a:dk2>
      <a:lt2>
        <a:srgbClr val="F1F3F7"/>
      </a:lt2>
      <a:accent1>
        <a:srgbClr val="1F2A44"/>
      </a:accent1>
      <a:accent2>
        <a:srgbClr val="E8590C"/>
      </a:accent2>
      <a:accent3>
        <a:srgbClr val="FDEBDD"/>
      </a:accent3>
      <a:accent4>
        <a:srgbClr val="5B6475"/>
      </a:accent4>
      <a:accent5>
        <a:srgbClr val="E3E7EE"/>
      </a:accent5>
      <a:accent6>
        <a:srgbClr val="ADB5BD"/>
      </a:accent6>
      <a:hlink>
        <a:srgbClr val="1F6FEB"/>
      </a:hlink>
      <a:folHlink>
        <a:srgbClr val="6F42C1"/>
      </a:folHlink>
    </a:clrScheme>
    <a:fontScheme name="UltrasonicWhisper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332</Words>
  <Application>Microsoft Office PowerPoint</Application>
  <PresentationFormat>画面に合わせる (16:9)</PresentationFormat>
  <Paragraphs>64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游ゴシック</vt:lpstr>
      <vt:lpstr>Arial</vt:lpstr>
      <vt:lpstr>UltrasonicWhisper</vt:lpstr>
      <vt:lpstr>UltrasonicWhisper+：超音波でイヤホンに「偽の音」を聞かせる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颯斗 卜部</cp:lastModifiedBy>
  <cp:revision>4</cp:revision>
  <dcterms:created xsi:type="dcterms:W3CDTF">2026-10-14T04:58:44Z</dcterms:created>
  <dcterms:modified xsi:type="dcterms:W3CDTF">2026-10-15T00:54:31Z</dcterms:modified>
</cp:coreProperties>
</file>