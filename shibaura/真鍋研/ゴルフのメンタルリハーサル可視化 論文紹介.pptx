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41376" autoAdjust="0"/>
  </p:normalViewPr>
  <p:slideViewPr>
    <p:cSldViewPr snapToGrid="0" snapToObjects="1">
      <p:cViewPr varScale="1">
        <p:scale>
          <a:sx n="106" d="100"/>
          <a:sy n="106" d="100"/>
        </p:scale>
        <p:origin x="204" y="7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806728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 つかみ・課題 0:00〜0:20】インタラクション2025の、ゴルフのプロの「頭の中」を見せる研究を紹介します。プロのゴルファーは、パットを打つ前に頭の中で「ボールがこう転がって入る」とイメージします。</a:t>
            </a:r>
          </a:p>
          <a:p>
            <a:r>
              <a:rPr lang="en-US" dirty="0" err="1"/>
              <a:t>でも初心者はそのイメージが持てないので</a:t>
            </a:r>
            <a:r>
              <a:rPr lang="en-US" dirty="0"/>
              <a:t>、</a:t>
            </a:r>
            <a:r>
              <a:rPr lang="ja-JP" altLang="en-US" dirty="0"/>
              <a:t>簡単に</a:t>
            </a:r>
            <a:r>
              <a:rPr lang="en-US" dirty="0" err="1"/>
              <a:t>まね</a:t>
            </a:r>
            <a:r>
              <a:rPr lang="ja-JP" altLang="en-US" dirty="0"/>
              <a:t>することは</a:t>
            </a:r>
            <a:r>
              <a:rPr lang="en-US" dirty="0" err="1"/>
              <a:t>できません</a:t>
            </a:r>
            <a:r>
              <a:rPr lang="en-US" dirty="0"/>
              <a:t>。 </a:t>
            </a:r>
          </a:p>
          <a:p>
            <a:endParaRPr lang="en-US" dirty="0"/>
          </a:p>
          <a:p>
            <a:r>
              <a:rPr lang="en-US" dirty="0"/>
              <a:t>【② 提案 0:20〜0:50】</a:t>
            </a:r>
          </a:p>
          <a:p>
            <a:r>
              <a:rPr lang="en-US" dirty="0"/>
              <a:t>そこでこの論文は、プロ6人にインタビューして、打つ前のイメージを3種類に整理しました。カップまでのライン、理想の転がり、1秒ごとのボールの位置です。</a:t>
            </a:r>
          </a:p>
          <a:p>
            <a:r>
              <a:rPr lang="en-US" dirty="0" err="1"/>
              <a:t>それを</a:t>
            </a:r>
            <a:r>
              <a:rPr lang="en-US" dirty="0"/>
              <a:t> Quest 3 で、本物の練習マットの上に重ねて見せます。初心者48人を、素振りだけ、成功動画、イメージの動画、XR の4つに分けて、4日間練習してもらいました。 </a:t>
            </a:r>
          </a:p>
          <a:p>
            <a:endParaRPr lang="en-US" dirty="0"/>
          </a:p>
          <a:p>
            <a:r>
              <a:rPr lang="en-US" dirty="0"/>
              <a:t>【③ 結果 0:50〜1:25】</a:t>
            </a:r>
          </a:p>
          <a:p>
            <a:r>
              <a:rPr lang="en-US" dirty="0"/>
              <a:t>まず成績、パットのズレは、どの条件も同じように上達して差はありませんでした。ただ、インタビューで「何がわかったか」を聞くと違いが出ました。力加減などの運動感覚がわかったと言った人は、成功動画では12人中3人、XR では11人。ボールの軌道や速さを理解した人も1人から11人。逆にフォームがわかった人は、成功動画で7人、XR では0人でした。</a:t>
            </a:r>
          </a:p>
          <a:p>
            <a:endParaRPr lang="en-US" dirty="0"/>
          </a:p>
          <a:p>
            <a:r>
              <a:rPr lang="en-US" dirty="0"/>
              <a:t> 【④ 新規性・有用性 1:25〜1:45】</a:t>
            </a:r>
          </a:p>
          <a:p>
            <a:r>
              <a:rPr lang="en-US" dirty="0" err="1"/>
              <a:t>新規性は、熟練者の頭の中を見せたことです</a:t>
            </a:r>
            <a:r>
              <a:rPr lang="en-US" dirty="0"/>
              <a:t>。</a:t>
            </a:r>
          </a:p>
          <a:p>
            <a:r>
              <a:rPr lang="en-US" dirty="0" err="1"/>
              <a:t>有用性は、フォームを教えるなら外からの映像、感覚を教えるならプロのイメージ、という使い分けの指針になることだと思います</a:t>
            </a:r>
            <a:r>
              <a:rPr lang="en-US" dirty="0"/>
              <a:t>。</a:t>
            </a:r>
          </a:p>
          <a:p>
            <a:r>
              <a:rPr lang="en-US" dirty="0"/>
              <a:t> 【⑤ 面白いところ 1:45〜2:00】</a:t>
            </a:r>
          </a:p>
          <a:p>
            <a:r>
              <a:rPr lang="en-US" dirty="0"/>
              <a:t>私はブレイクダンスをやっていて、手本どおりのつもりでも動画で見ると違う、という悩みがあります。見せ方を変えるだけで伝わる中身が変わる、というのが面白くて、ダンスでも先生の頭の中を見せられたら上達が変わるかもしれないと思いました。以上で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304800"/>
            <a:ext cx="11176000" cy="408914"/>
          </a:xfrm>
          <a:prstGeom prst="rect">
            <a:avLst/>
          </a:prstGeom>
          <a:noFill/>
          <a:ln/>
        </p:spPr>
        <p:txBody>
          <a:bodyPr wrap="square" lIns="0" tIns="0" rIns="0" bIns="0" rtlCol="0" anchor="t"/>
          <a:lstStyle>
            <a:lvl1pPr marL="0" indent="0" algn="l">
              <a:lnSpc>
                <a:spcPct val="115000"/>
              </a:lnSpc>
              <a:buNone/>
              <a:defRPr lang="en-US" sz="2800" dirty="0">
                <a:solidFill>
                  <a:srgbClr val="1E2A22"/>
                </a:solidFill>
                <a:latin typeface="Noto Sans JP" pitchFamily="34" charset="0"/>
                <a:ea typeface="Noto Sans JP" pitchFamily="34" charset="-122"/>
                <a:cs typeface="Noto Sans JP"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508000" y="1018514"/>
            <a:ext cx="10871200" cy="5026686"/>
          </a:xfrm>
          <a:prstGeom prst="rect">
            <a:avLst/>
          </a:prstGeom>
          <a:noFill/>
          <a:ln/>
        </p:spPr>
        <p:txBody>
          <a:bodyPr wrap="square" lIns="0" tIns="0" rIns="0" bIns="0" rtlCol="0" anchor="t"/>
          <a:lstStyle>
            <a:lvl1pPr marL="0" indent="0" algn="l">
              <a:lnSpc>
                <a:spcPct val="140000"/>
              </a:lnSpc>
              <a:buNone/>
              <a:defRPr lang="en-US" sz="1600" dirty="0">
                <a:solidFill>
                  <a:srgbClr val="1E2A22"/>
                </a:solidFill>
                <a:latin typeface="Noto Sans JP" pitchFamily="34" charset="0"/>
                <a:ea typeface="Noto Sans JP" pitchFamily="34" charset="-122"/>
                <a:cs typeface="Noto Sans JP"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 y="304800"/>
            <a:ext cx="11176000" cy="408914"/>
          </a:xfrm>
          <a:prstGeom prst="rect">
            <a:avLst/>
          </a:prstGeom>
          <a:noFill/>
          <a:ln/>
        </p:spPr>
        <p:txBody>
          <a:bodyPr wrap="square" lIns="0" tIns="0" rIns="0" bIns="0" rtlCol="0" anchor="t"/>
          <a:lstStyle>
            <a:lvl1pPr marL="0" indent="0" algn="l">
              <a:lnSpc>
                <a:spcPct val="115000"/>
              </a:lnSpc>
              <a:buNone/>
              <a:defRPr lang="en-US" sz="2800" dirty="0">
                <a:solidFill>
                  <a:srgbClr val="1E2A22"/>
                </a:solidFill>
                <a:latin typeface="Noto Sans JP" pitchFamily="34" charset="0"/>
                <a:ea typeface="Noto Sans JP" pitchFamily="34" charset="-122"/>
                <a:cs typeface="Noto Sans JP"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508000" y="1018514"/>
            <a:ext cx="10871200" cy="5026686"/>
          </a:xfrm>
          <a:prstGeom prst="rect">
            <a:avLst/>
          </a:prstGeom>
          <a:noFill/>
          <a:ln/>
        </p:spPr>
        <p:txBody>
          <a:bodyPr wrap="square" lIns="0" tIns="0" rIns="0" bIns="0" rtlCol="0" anchor="t"/>
          <a:lstStyle>
            <a:lvl1pPr marL="0" indent="0" algn="l">
              <a:lnSpc>
                <a:spcPct val="140000"/>
              </a:lnSpc>
              <a:buNone/>
              <a:defRPr lang="en-US" sz="1600" dirty="0">
                <a:solidFill>
                  <a:srgbClr val="1E2A22"/>
                </a:solidFill>
                <a:latin typeface="Noto Sans JP" pitchFamily="34" charset="0"/>
                <a:ea typeface="Noto Sans JP" pitchFamily="34" charset="-122"/>
                <a:cs typeface="Noto Sans JP"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2"/>
        </a:solidFill>
        <a:effectLst/>
      </p:bgPr>
    </p:bg>
    <p:spTree>
      <p:nvGrpSpPr>
        <p:cNvPr id="1" name=""/>
        <p:cNvGrpSpPr/>
        <p:nvPr/>
      </p:nvGrpSpPr>
      <p:grpSpPr>
        <a:xfrm>
          <a:off x="0" y="0"/>
          <a:ext cx="0" cy="0"/>
          <a:chOff x="0" y="0"/>
          <a:chExt cx="0" cy="0"/>
        </a:xfrm>
      </p:grpSpPr>
      <p:sp>
        <p:nvSpPr>
          <p:cNvPr id="39" name="Shape 18">
            <a:extLst>
              <a:ext uri="{FF2B5EF4-FFF2-40B4-BE49-F238E27FC236}">
                <a16:creationId xmlns:a16="http://schemas.microsoft.com/office/drawing/2014/main" id="{C0E2A605-D36B-D4A3-BC50-A59B5F6A1165}"/>
              </a:ext>
            </a:extLst>
          </p:cNvPr>
          <p:cNvSpPr/>
          <p:nvPr/>
        </p:nvSpPr>
        <p:spPr>
          <a:xfrm>
            <a:off x="8827762" y="4786116"/>
            <a:ext cx="2070434" cy="1039083"/>
          </a:xfrm>
          <a:prstGeom prst="roundRect">
            <a:avLst>
              <a:gd name="adj" fmla="val 10466"/>
            </a:avLst>
          </a:prstGeom>
          <a:solidFill>
            <a:srgbClr val="FDFDFB"/>
          </a:solidFill>
          <a:ln w="6350">
            <a:solidFill>
              <a:srgbClr val="DCE2D8"/>
            </a:solidFill>
            <a:prstDash val="solid"/>
          </a:ln>
        </p:spPr>
        <p:txBody>
          <a:bodyPr/>
          <a:lstStyle/>
          <a:p>
            <a:endParaRPr lang="ja-JP" altLang="en-US" dirty="0"/>
          </a:p>
        </p:txBody>
      </p:sp>
      <p:sp>
        <p:nvSpPr>
          <p:cNvPr id="37" name="正方形/長方形 36">
            <a:extLst>
              <a:ext uri="{FF2B5EF4-FFF2-40B4-BE49-F238E27FC236}">
                <a16:creationId xmlns:a16="http://schemas.microsoft.com/office/drawing/2014/main" id="{ED897FA0-C43B-79C5-0626-DDC83A539AA6}"/>
              </a:ext>
            </a:extLst>
          </p:cNvPr>
          <p:cNvSpPr/>
          <p:nvPr/>
        </p:nvSpPr>
        <p:spPr>
          <a:xfrm>
            <a:off x="346960" y="1944204"/>
            <a:ext cx="5101590" cy="2631611"/>
          </a:xfrm>
          <a:prstGeom prst="rect">
            <a:avLst/>
          </a:prstGeom>
          <a:solidFill>
            <a:schemeClr val="tx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Text 0"/>
          <p:cNvSpPr>
            <a:spLocks noGrp="1"/>
          </p:cNvSpPr>
          <p:nvPr>
            <p:ph type="title"/>
          </p:nvPr>
        </p:nvSpPr>
        <p:spPr>
          <a:xfrm>
            <a:off x="508000" y="304800"/>
            <a:ext cx="11511280" cy="434314"/>
          </a:xfrm>
          <a:prstGeom prst="rect">
            <a:avLst/>
          </a:prstGeom>
          <a:noFill/>
          <a:ln/>
        </p:spPr>
        <p:txBody>
          <a:bodyPr wrap="square" lIns="0" tIns="0" rIns="0" bIns="0" rtlCol="0" anchor="t">
            <a:normAutofit/>
          </a:bodyPr>
          <a:lstStyle/>
          <a:p>
            <a:pPr marL="0" indent="0" algn="l">
              <a:lnSpc>
                <a:spcPts val="3220"/>
              </a:lnSpc>
              <a:buNone/>
            </a:pPr>
            <a:r>
              <a:rPr lang="en-US" sz="3200" b="1" i="0" dirty="0">
                <a:solidFill>
                  <a:srgbClr val="2E5E3E"/>
                </a:solidFill>
                <a:latin typeface="Noto Sans JP" pitchFamily="34" charset="0"/>
                <a:ea typeface="Noto Sans JP" pitchFamily="34" charset="-122"/>
                <a:cs typeface="Noto Sans JP" pitchFamily="34" charset="-120"/>
              </a:rPr>
              <a:t>プロの「頭の中」</a:t>
            </a:r>
            <a:r>
              <a:rPr lang="en-US" sz="3200" b="1" i="0" dirty="0">
                <a:solidFill>
                  <a:srgbClr val="1E2A22"/>
                </a:solidFill>
                <a:latin typeface="Noto Sans JP" pitchFamily="34" charset="0"/>
                <a:ea typeface="Noto Sans JP" pitchFamily="34" charset="-122"/>
                <a:cs typeface="Noto Sans JP" pitchFamily="34" charset="-120"/>
              </a:rPr>
              <a:t>をXRで見せると、初心者は何がわかる？</a:t>
            </a:r>
            <a:endParaRPr lang="en-US" sz="3200" dirty="0"/>
          </a:p>
        </p:txBody>
      </p:sp>
      <p:sp>
        <p:nvSpPr>
          <p:cNvPr id="3" name="Text 1"/>
          <p:cNvSpPr/>
          <p:nvPr/>
        </p:nvSpPr>
        <p:spPr>
          <a:xfrm>
            <a:off x="508000" y="751814"/>
            <a:ext cx="1151128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5E"/>
                </a:solidFill>
                <a:latin typeface="Noto Sans JP" pitchFamily="34" charset="0"/>
                <a:ea typeface="Noto Sans JP" pitchFamily="34" charset="-122"/>
                <a:cs typeface="Noto Sans JP" pitchFamily="34" charset="-120"/>
              </a:rPr>
              <a:t>鈴木湧登・坂本大介・小野哲雄（北海道大学）／ インタラクション2025</a:t>
            </a:r>
            <a:endParaRPr lang="en-US" sz="1400" dirty="0"/>
          </a:p>
        </p:txBody>
      </p:sp>
      <p:sp>
        <p:nvSpPr>
          <p:cNvPr id="4" name="Shape 2"/>
          <p:cNvSpPr/>
          <p:nvPr/>
        </p:nvSpPr>
        <p:spPr>
          <a:xfrm>
            <a:off x="508000" y="1243145"/>
            <a:ext cx="11176000" cy="502907"/>
          </a:xfrm>
          <a:prstGeom prst="roundRect">
            <a:avLst>
              <a:gd name="adj" fmla="val 20203"/>
            </a:avLst>
          </a:prstGeom>
          <a:solidFill>
            <a:srgbClr val="E4ECE2"/>
          </a:solidFill>
          <a:ln/>
        </p:spPr>
        <p:txBody>
          <a:bodyPr/>
          <a:lstStyle/>
          <a:p>
            <a:endParaRPr lang="ja-JP" altLang="en-US"/>
          </a:p>
        </p:txBody>
      </p:sp>
      <p:sp>
        <p:nvSpPr>
          <p:cNvPr id="5" name="Text 3"/>
          <p:cNvSpPr/>
          <p:nvPr/>
        </p:nvSpPr>
        <p:spPr>
          <a:xfrm>
            <a:off x="685800" y="1357445"/>
            <a:ext cx="457200" cy="299707"/>
          </a:xfrm>
          <a:prstGeom prst="rect">
            <a:avLst/>
          </a:prstGeom>
          <a:noFill/>
          <a:ln/>
        </p:spPr>
        <p:txBody>
          <a:bodyPr wrap="none" lIns="0" tIns="0" rIns="0" bIns="0" rtlCol="0" anchor="t">
            <a:normAutofit/>
          </a:bodyPr>
          <a:lstStyle/>
          <a:p>
            <a:pPr marL="0" indent="0" algn="l">
              <a:lnSpc>
                <a:spcPts val="2160"/>
              </a:lnSpc>
              <a:buNone/>
            </a:pPr>
            <a:r>
              <a:rPr lang="en-US" sz="1600" b="1" dirty="0">
                <a:solidFill>
                  <a:srgbClr val="B85C12"/>
                </a:solidFill>
                <a:latin typeface="Noto Sans JP" pitchFamily="34" charset="0"/>
                <a:ea typeface="Noto Sans JP" pitchFamily="34" charset="-122"/>
                <a:cs typeface="Noto Sans JP" pitchFamily="34" charset="-120"/>
              </a:rPr>
              <a:t>課題</a:t>
            </a:r>
            <a:endParaRPr lang="en-US" sz="1600" dirty="0"/>
          </a:p>
        </p:txBody>
      </p:sp>
      <p:sp>
        <p:nvSpPr>
          <p:cNvPr id="6" name="Text 4"/>
          <p:cNvSpPr/>
          <p:nvPr/>
        </p:nvSpPr>
        <p:spPr>
          <a:xfrm>
            <a:off x="1244600" y="1370145"/>
            <a:ext cx="10439400" cy="274307"/>
          </a:xfrm>
          <a:prstGeom prst="rect">
            <a:avLst/>
          </a:prstGeom>
          <a:noFill/>
          <a:ln/>
        </p:spPr>
        <p:txBody>
          <a:bodyPr wrap="square" lIns="0" tIns="0" rIns="0" bIns="0" rtlCol="0" anchor="t">
            <a:noAutofit/>
          </a:bodyPr>
          <a:lstStyle/>
          <a:p>
            <a:pPr marL="0" indent="0" algn="l">
              <a:lnSpc>
                <a:spcPts val="1960"/>
              </a:lnSpc>
              <a:buNone/>
            </a:pPr>
            <a:r>
              <a:rPr lang="en-US" dirty="0" err="1">
                <a:solidFill>
                  <a:srgbClr val="1E2A22"/>
                </a:solidFill>
                <a:latin typeface="Noto Sans JP" pitchFamily="34" charset="0"/>
                <a:ea typeface="Noto Sans JP" pitchFamily="34" charset="-122"/>
                <a:cs typeface="Noto Sans JP" pitchFamily="34" charset="-120"/>
              </a:rPr>
              <a:t>プロは打つ前に頭の中でボールの動きをイメージする。初心者にはそれが</a:t>
            </a:r>
            <a:r>
              <a:rPr lang="ja-JP" altLang="en-US" b="1" dirty="0">
                <a:solidFill>
                  <a:srgbClr val="1E2A22"/>
                </a:solidFill>
                <a:latin typeface="Noto Sans JP" pitchFamily="34" charset="0"/>
                <a:ea typeface="Noto Sans JP" pitchFamily="34" charset="-122"/>
                <a:cs typeface="Noto Sans JP" pitchFamily="34" charset="-120"/>
              </a:rPr>
              <a:t>難しい</a:t>
            </a:r>
            <a:endParaRPr lang="en-US" dirty="0"/>
          </a:p>
        </p:txBody>
      </p:sp>
      <p:sp>
        <p:nvSpPr>
          <p:cNvPr id="7" name="Text 5"/>
          <p:cNvSpPr/>
          <p:nvPr/>
        </p:nvSpPr>
        <p:spPr>
          <a:xfrm>
            <a:off x="346960" y="2030809"/>
            <a:ext cx="5101590" cy="299707"/>
          </a:xfrm>
          <a:prstGeom prst="rect">
            <a:avLst/>
          </a:prstGeom>
          <a:noFill/>
          <a:ln/>
        </p:spPr>
        <p:txBody>
          <a:bodyPr wrap="square" lIns="0" tIns="0" rIns="0" bIns="0" rtlCol="0" anchor="t">
            <a:normAutofit/>
          </a:bodyPr>
          <a:lstStyle/>
          <a:p>
            <a:pPr marL="0" indent="0" algn="ctr">
              <a:lnSpc>
                <a:spcPts val="2160"/>
              </a:lnSpc>
              <a:buNone/>
            </a:pPr>
            <a:r>
              <a:rPr lang="en-US" sz="1600" b="1" dirty="0">
                <a:solidFill>
                  <a:srgbClr val="B85C12"/>
                </a:solidFill>
                <a:latin typeface="Noto Sans JP" pitchFamily="34" charset="0"/>
                <a:ea typeface="Noto Sans JP" pitchFamily="34" charset="-122"/>
                <a:cs typeface="Noto Sans JP" pitchFamily="34" charset="-120"/>
              </a:rPr>
              <a:t>提案</a:t>
            </a:r>
            <a:r>
              <a:rPr lang="en-US" sz="1600" b="1" dirty="0">
                <a:solidFill>
                  <a:srgbClr val="1E2A22"/>
                </a:solidFill>
                <a:latin typeface="Noto Sans JP" pitchFamily="34" charset="0"/>
                <a:ea typeface="Noto Sans JP" pitchFamily="34" charset="-122"/>
                <a:cs typeface="Noto Sans JP" pitchFamily="34" charset="-120"/>
              </a:rPr>
              <a:t>　</a:t>
            </a:r>
            <a:r>
              <a:rPr lang="en-US" b="1" dirty="0">
                <a:solidFill>
                  <a:srgbClr val="FF0000"/>
                </a:solidFill>
                <a:latin typeface="Noto Sans JP" pitchFamily="34" charset="0"/>
                <a:ea typeface="Noto Sans JP" pitchFamily="34" charset="-122"/>
                <a:cs typeface="Noto Sans JP" pitchFamily="34" charset="-120"/>
              </a:rPr>
              <a:t>プロの頭の中をXRで重ねる</a:t>
            </a:r>
            <a:endParaRPr lang="en-US" dirty="0">
              <a:solidFill>
                <a:srgbClr val="FF0000"/>
              </a:solidFill>
            </a:endParaRPr>
          </a:p>
        </p:txBody>
      </p:sp>
      <p:sp>
        <p:nvSpPr>
          <p:cNvPr id="8" name="Text 6"/>
          <p:cNvSpPr/>
          <p:nvPr/>
        </p:nvSpPr>
        <p:spPr>
          <a:xfrm>
            <a:off x="427480" y="2496476"/>
            <a:ext cx="5101590" cy="523214"/>
          </a:xfrm>
          <a:prstGeom prst="rect">
            <a:avLst/>
          </a:prstGeom>
          <a:noFill/>
          <a:ln/>
        </p:spPr>
        <p:txBody>
          <a:bodyPr wrap="square" lIns="0" tIns="0" rIns="0" bIns="0" rtlCol="0" anchor="t">
            <a:normAutofit/>
          </a:bodyPr>
          <a:lstStyle/>
          <a:p>
            <a:pPr marL="0" indent="0" algn="l">
              <a:lnSpc>
                <a:spcPts val="1960"/>
              </a:lnSpc>
              <a:buNone/>
            </a:pPr>
            <a:r>
              <a:rPr lang="en-US" sz="2000" b="1" dirty="0">
                <a:solidFill>
                  <a:srgbClr val="1E2A22"/>
                </a:solidFill>
                <a:latin typeface="Noto Sans JP" pitchFamily="34" charset="0"/>
                <a:ea typeface="Noto Sans JP" pitchFamily="34" charset="-122"/>
                <a:cs typeface="Noto Sans JP" pitchFamily="34" charset="-120"/>
              </a:rPr>
              <a:t>① プロ6人にインタビュー</a:t>
            </a:r>
            <a:endParaRPr lang="en-US" sz="2000" dirty="0"/>
          </a:p>
          <a:p>
            <a:pPr marL="0" indent="0" algn="l">
              <a:lnSpc>
                <a:spcPts val="1960"/>
              </a:lnSpc>
              <a:buNone/>
            </a:pPr>
            <a:r>
              <a:rPr lang="en-US" sz="2000" dirty="0">
                <a:solidFill>
                  <a:srgbClr val="1E2A22"/>
                </a:solidFill>
                <a:latin typeface="Noto Sans JP" pitchFamily="34" charset="0"/>
                <a:ea typeface="Noto Sans JP" pitchFamily="34" charset="-122"/>
                <a:cs typeface="Noto Sans JP" pitchFamily="34" charset="-120"/>
              </a:rPr>
              <a:t>打つ前のイメージを3種類に整理</a:t>
            </a:r>
            <a:endParaRPr lang="en-US" sz="2000" dirty="0"/>
          </a:p>
        </p:txBody>
      </p:sp>
      <p:sp>
        <p:nvSpPr>
          <p:cNvPr id="9" name="Text 7"/>
          <p:cNvSpPr/>
          <p:nvPr/>
        </p:nvSpPr>
        <p:spPr>
          <a:xfrm>
            <a:off x="427480" y="3227983"/>
            <a:ext cx="5101590" cy="523214"/>
          </a:xfrm>
          <a:prstGeom prst="rect">
            <a:avLst/>
          </a:prstGeom>
          <a:noFill/>
          <a:ln/>
        </p:spPr>
        <p:txBody>
          <a:bodyPr wrap="square" lIns="0" tIns="0" rIns="0" bIns="0" rtlCol="0" anchor="t">
            <a:normAutofit/>
          </a:bodyPr>
          <a:lstStyle/>
          <a:p>
            <a:pPr marL="0" indent="0" algn="l">
              <a:lnSpc>
                <a:spcPts val="1960"/>
              </a:lnSpc>
              <a:buNone/>
            </a:pPr>
            <a:r>
              <a:rPr lang="en-US" sz="2000" b="1" dirty="0">
                <a:solidFill>
                  <a:srgbClr val="1E2A22"/>
                </a:solidFill>
                <a:latin typeface="Noto Sans JP" pitchFamily="34" charset="0"/>
                <a:ea typeface="Noto Sans JP" pitchFamily="34" charset="-122"/>
                <a:cs typeface="Noto Sans JP" pitchFamily="34" charset="-120"/>
              </a:rPr>
              <a:t>② Quest 3 で練習マットに重ねる</a:t>
            </a:r>
            <a:endParaRPr lang="en-US" sz="2000" dirty="0"/>
          </a:p>
          <a:p>
            <a:pPr marL="0" indent="0" algn="l">
              <a:lnSpc>
                <a:spcPts val="1960"/>
              </a:lnSpc>
              <a:buNone/>
            </a:pPr>
            <a:r>
              <a:rPr lang="en-US" sz="2000" dirty="0">
                <a:solidFill>
                  <a:srgbClr val="1E2A22"/>
                </a:solidFill>
                <a:latin typeface="Noto Sans JP" pitchFamily="34" charset="0"/>
                <a:ea typeface="Noto Sans JP" pitchFamily="34" charset="-122"/>
                <a:cs typeface="Noto Sans JP" pitchFamily="34" charset="-120"/>
              </a:rPr>
              <a:t>ボールとカップに印を置くと表示</a:t>
            </a:r>
            <a:endParaRPr lang="en-US" sz="2000" dirty="0"/>
          </a:p>
        </p:txBody>
      </p:sp>
      <p:sp>
        <p:nvSpPr>
          <p:cNvPr id="10" name="Text 8"/>
          <p:cNvSpPr/>
          <p:nvPr/>
        </p:nvSpPr>
        <p:spPr>
          <a:xfrm>
            <a:off x="427480" y="3971330"/>
            <a:ext cx="5101590" cy="523214"/>
          </a:xfrm>
          <a:prstGeom prst="rect">
            <a:avLst/>
          </a:prstGeom>
          <a:noFill/>
          <a:ln/>
        </p:spPr>
        <p:txBody>
          <a:bodyPr wrap="square" lIns="0" tIns="0" rIns="0" bIns="0" rtlCol="0" anchor="t">
            <a:normAutofit/>
          </a:bodyPr>
          <a:lstStyle/>
          <a:p>
            <a:pPr marL="0" indent="0" algn="l">
              <a:lnSpc>
                <a:spcPts val="1960"/>
              </a:lnSpc>
              <a:buNone/>
            </a:pPr>
            <a:r>
              <a:rPr lang="en-US" sz="2000" b="1" dirty="0">
                <a:solidFill>
                  <a:srgbClr val="1E2A22"/>
                </a:solidFill>
                <a:latin typeface="Noto Sans JP" pitchFamily="34" charset="0"/>
                <a:ea typeface="Noto Sans JP" pitchFamily="34" charset="-122"/>
                <a:cs typeface="Noto Sans JP" pitchFamily="34" charset="-120"/>
              </a:rPr>
              <a:t>③ 初心者48人 × 4日間で比較</a:t>
            </a:r>
            <a:endParaRPr lang="en-US" sz="2000" dirty="0"/>
          </a:p>
          <a:p>
            <a:pPr marL="0" indent="0" algn="l">
              <a:lnSpc>
                <a:spcPts val="1960"/>
              </a:lnSpc>
              <a:buNone/>
            </a:pPr>
            <a:r>
              <a:rPr lang="en-US" sz="2000" dirty="0">
                <a:solidFill>
                  <a:srgbClr val="1E2A22"/>
                </a:solidFill>
                <a:latin typeface="Noto Sans JP" pitchFamily="34" charset="0"/>
                <a:ea typeface="Noto Sans JP" pitchFamily="34" charset="-122"/>
                <a:cs typeface="Noto Sans JP" pitchFamily="34" charset="-120"/>
              </a:rPr>
              <a:t>素振りのみ／成功動画／イメージ動画／</a:t>
            </a:r>
            <a:r>
              <a:rPr lang="en-US" sz="2000" b="1" dirty="0">
                <a:solidFill>
                  <a:srgbClr val="1E2A22"/>
                </a:solidFill>
                <a:latin typeface="Noto Sans JP" pitchFamily="34" charset="0"/>
                <a:ea typeface="Noto Sans JP" pitchFamily="34" charset="-122"/>
                <a:cs typeface="Noto Sans JP" pitchFamily="34" charset="-120"/>
              </a:rPr>
              <a:t>XR</a:t>
            </a:r>
            <a:endParaRPr lang="en-US" sz="2000" dirty="0"/>
          </a:p>
        </p:txBody>
      </p:sp>
      <p:pic>
        <p:nvPicPr>
          <p:cNvPr id="11" name="Image 0" descr="パターマットの上に、ボールからカップまで白いラインが重なって見える様子"/>
          <p:cNvPicPr>
            <a:picLocks noChangeAspect="1"/>
          </p:cNvPicPr>
          <p:nvPr/>
        </p:nvPicPr>
        <p:blipFill>
          <a:blip r:embed="rId3"/>
          <a:srcRect/>
          <a:stretch/>
        </p:blipFill>
        <p:spPr>
          <a:xfrm>
            <a:off x="5715000" y="1988476"/>
            <a:ext cx="1905000" cy="1905000"/>
          </a:xfrm>
          <a:prstGeom prst="roundRect">
            <a:avLst>
              <a:gd name="adj" fmla="val 4000"/>
            </a:avLst>
          </a:prstGeom>
        </p:spPr>
      </p:pic>
      <p:sp>
        <p:nvSpPr>
          <p:cNvPr id="12" name="Text 9"/>
          <p:cNvSpPr/>
          <p:nvPr/>
        </p:nvSpPr>
        <p:spPr>
          <a:xfrm>
            <a:off x="6347460" y="3944276"/>
            <a:ext cx="640080"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2E5E3E"/>
                </a:solidFill>
                <a:latin typeface="Noto Sans JP" pitchFamily="34" charset="0"/>
                <a:ea typeface="Noto Sans JP" pitchFamily="34" charset="-122"/>
                <a:cs typeface="Noto Sans JP" pitchFamily="34" charset="-120"/>
              </a:rPr>
              <a:t>ライン</a:t>
            </a:r>
            <a:endParaRPr lang="en-US" sz="1400" dirty="0"/>
          </a:p>
        </p:txBody>
      </p:sp>
      <p:sp>
        <p:nvSpPr>
          <p:cNvPr id="13" name="Text 10"/>
          <p:cNvSpPr/>
          <p:nvPr/>
        </p:nvSpPr>
        <p:spPr>
          <a:xfrm>
            <a:off x="6027420" y="4243983"/>
            <a:ext cx="128016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65E"/>
                </a:solidFill>
                <a:latin typeface="Noto Sans JP" pitchFamily="34" charset="0"/>
                <a:ea typeface="Noto Sans JP" pitchFamily="34" charset="-122"/>
                <a:cs typeface="Noto Sans JP" pitchFamily="34" charset="-120"/>
              </a:rPr>
              <a:t>カップまでの線</a:t>
            </a:r>
            <a:endParaRPr lang="en-US" sz="1200" dirty="0"/>
          </a:p>
        </p:txBody>
      </p:sp>
      <p:pic>
        <p:nvPicPr>
          <p:cNvPr id="14" name="Image 1" descr="仮想のボールがカップに向かって転がっていく様子"/>
          <p:cNvPicPr>
            <a:picLocks noChangeAspect="1"/>
          </p:cNvPicPr>
          <p:nvPr/>
        </p:nvPicPr>
        <p:blipFill>
          <a:blip r:embed="rId4"/>
          <a:srcRect/>
          <a:stretch/>
        </p:blipFill>
        <p:spPr>
          <a:xfrm>
            <a:off x="7747000" y="1988476"/>
            <a:ext cx="1905000" cy="1905000"/>
          </a:xfrm>
          <a:prstGeom prst="roundRect">
            <a:avLst>
              <a:gd name="adj" fmla="val 4000"/>
            </a:avLst>
          </a:prstGeom>
        </p:spPr>
      </p:pic>
      <p:sp>
        <p:nvSpPr>
          <p:cNvPr id="15" name="Text 11"/>
          <p:cNvSpPr/>
          <p:nvPr/>
        </p:nvSpPr>
        <p:spPr>
          <a:xfrm>
            <a:off x="8166100" y="3944276"/>
            <a:ext cx="1066800"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2E5E3E"/>
                </a:solidFill>
                <a:latin typeface="Noto Sans JP" pitchFamily="34" charset="0"/>
                <a:ea typeface="Noto Sans JP" pitchFamily="34" charset="-122"/>
                <a:cs typeface="Noto Sans JP" pitchFamily="34" charset="-120"/>
              </a:rPr>
              <a:t>ローリング</a:t>
            </a:r>
            <a:endParaRPr lang="en-US" sz="1400" dirty="0"/>
          </a:p>
        </p:txBody>
      </p:sp>
      <p:sp>
        <p:nvSpPr>
          <p:cNvPr id="16" name="Text 12"/>
          <p:cNvSpPr/>
          <p:nvPr/>
        </p:nvSpPr>
        <p:spPr>
          <a:xfrm>
            <a:off x="8150860" y="4243983"/>
            <a:ext cx="109728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65E"/>
                </a:solidFill>
                <a:latin typeface="Noto Sans JP" pitchFamily="34" charset="0"/>
                <a:ea typeface="Noto Sans JP" pitchFamily="34" charset="-122"/>
                <a:cs typeface="Noto Sans JP" pitchFamily="34" charset="-120"/>
              </a:rPr>
              <a:t>理想の転がり</a:t>
            </a:r>
            <a:endParaRPr lang="en-US" sz="1200" dirty="0"/>
          </a:p>
        </p:txBody>
      </p:sp>
      <p:pic>
        <p:nvPicPr>
          <p:cNvPr id="17" name="Image 2" descr="1秒ごとのボールの位置が点で並んで表示されている様子"/>
          <p:cNvPicPr>
            <a:picLocks noChangeAspect="1"/>
          </p:cNvPicPr>
          <p:nvPr/>
        </p:nvPicPr>
        <p:blipFill>
          <a:blip r:embed="rId5"/>
          <a:srcRect/>
          <a:stretch/>
        </p:blipFill>
        <p:spPr>
          <a:xfrm>
            <a:off x="9779000" y="1988476"/>
            <a:ext cx="1905000" cy="1905000"/>
          </a:xfrm>
          <a:prstGeom prst="roundRect">
            <a:avLst>
              <a:gd name="adj" fmla="val 4000"/>
            </a:avLst>
          </a:prstGeom>
        </p:spPr>
      </p:pic>
      <p:sp>
        <p:nvSpPr>
          <p:cNvPr id="18" name="Text 13"/>
          <p:cNvSpPr/>
          <p:nvPr/>
        </p:nvSpPr>
        <p:spPr>
          <a:xfrm>
            <a:off x="10304780" y="3944276"/>
            <a:ext cx="853440"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2E5E3E"/>
                </a:solidFill>
                <a:latin typeface="Noto Sans JP" pitchFamily="34" charset="0"/>
                <a:ea typeface="Noto Sans JP" pitchFamily="34" charset="-122"/>
                <a:cs typeface="Noto Sans JP" pitchFamily="34" charset="-120"/>
              </a:rPr>
              <a:t>ストロボ</a:t>
            </a:r>
            <a:endParaRPr lang="en-US" sz="1400" dirty="0"/>
          </a:p>
        </p:txBody>
      </p:sp>
      <p:sp>
        <p:nvSpPr>
          <p:cNvPr id="19" name="Text 14"/>
          <p:cNvSpPr/>
          <p:nvPr/>
        </p:nvSpPr>
        <p:spPr>
          <a:xfrm>
            <a:off x="10133013" y="4243983"/>
            <a:ext cx="119697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65E"/>
                </a:solidFill>
                <a:latin typeface="Noto Sans JP" pitchFamily="34" charset="0"/>
                <a:ea typeface="Noto Sans JP" pitchFamily="34" charset="-122"/>
                <a:cs typeface="Noto Sans JP" pitchFamily="34" charset="-120"/>
              </a:rPr>
              <a:t>1秒ごとの位置</a:t>
            </a:r>
            <a:endParaRPr lang="en-US" sz="1200" dirty="0"/>
          </a:p>
        </p:txBody>
      </p:sp>
      <p:sp>
        <p:nvSpPr>
          <p:cNvPr id="20" name="Shape 15"/>
          <p:cNvSpPr/>
          <p:nvPr/>
        </p:nvSpPr>
        <p:spPr>
          <a:xfrm>
            <a:off x="508000" y="4702837"/>
            <a:ext cx="11176000" cy="0"/>
          </a:xfrm>
          <a:prstGeom prst="line">
            <a:avLst/>
          </a:prstGeom>
          <a:noFill/>
          <a:ln w="6350">
            <a:solidFill>
              <a:srgbClr val="CFD6CC"/>
            </a:solidFill>
            <a:prstDash val="solid"/>
          </a:ln>
        </p:spPr>
        <p:txBody>
          <a:bodyPr/>
          <a:lstStyle/>
          <a:p>
            <a:endParaRPr lang="ja-JP" altLang="en-US"/>
          </a:p>
        </p:txBody>
      </p:sp>
      <p:sp>
        <p:nvSpPr>
          <p:cNvPr id="21" name="Text 16"/>
          <p:cNvSpPr/>
          <p:nvPr/>
        </p:nvSpPr>
        <p:spPr>
          <a:xfrm>
            <a:off x="1642311" y="5231830"/>
            <a:ext cx="4072689" cy="727151"/>
          </a:xfrm>
          <a:prstGeom prst="rect">
            <a:avLst/>
          </a:prstGeom>
          <a:noFill/>
          <a:ln/>
        </p:spPr>
        <p:txBody>
          <a:bodyPr wrap="square" lIns="0" tIns="0" rIns="0" bIns="0" rtlCol="0" anchor="t">
            <a:normAutofit/>
          </a:bodyPr>
          <a:lstStyle/>
          <a:p>
            <a:pPr marL="0" indent="0" algn="l">
              <a:lnSpc>
                <a:spcPts val="2160"/>
              </a:lnSpc>
              <a:buNone/>
            </a:pPr>
            <a:r>
              <a:rPr lang="en-US" sz="3200" b="1" dirty="0" err="1">
                <a:solidFill>
                  <a:srgbClr val="B85C12"/>
                </a:solidFill>
                <a:latin typeface="Noto Sans JP" pitchFamily="34" charset="0"/>
                <a:ea typeface="Noto Sans JP" pitchFamily="34" charset="-122"/>
                <a:cs typeface="Noto Sans JP" pitchFamily="34" charset="-120"/>
              </a:rPr>
              <a:t>結果</a:t>
            </a:r>
            <a:r>
              <a:rPr lang="en-US" sz="3200" b="1" dirty="0">
                <a:solidFill>
                  <a:srgbClr val="1E2A22"/>
                </a:solidFill>
                <a:latin typeface="Noto Sans JP" pitchFamily="34" charset="0"/>
                <a:ea typeface="Noto Sans JP" pitchFamily="34" charset="-122"/>
                <a:cs typeface="Noto Sans JP" pitchFamily="34" charset="-120"/>
              </a:rPr>
              <a:t>　</a:t>
            </a:r>
            <a:r>
              <a:rPr lang="en-US" sz="3200" b="1" dirty="0" err="1">
                <a:solidFill>
                  <a:srgbClr val="1E2A22"/>
                </a:solidFill>
                <a:latin typeface="Noto Sans JP" pitchFamily="34" charset="0"/>
                <a:ea typeface="Noto Sans JP" pitchFamily="34" charset="-122"/>
                <a:cs typeface="Noto Sans JP" pitchFamily="34" charset="-120"/>
              </a:rPr>
              <a:t>成績は差なし</a:t>
            </a:r>
            <a:r>
              <a:rPr lang="en-US" sz="3200" b="1" dirty="0">
                <a:solidFill>
                  <a:srgbClr val="1E2A22"/>
                </a:solidFill>
                <a:latin typeface="Noto Sans JP" pitchFamily="34" charset="0"/>
                <a:ea typeface="Noto Sans JP" pitchFamily="34" charset="-122"/>
                <a:cs typeface="Noto Sans JP" pitchFamily="34" charset="-120"/>
              </a:rPr>
              <a:t>。</a:t>
            </a:r>
            <a:endParaRPr lang="en-US" sz="3200" dirty="0"/>
          </a:p>
        </p:txBody>
      </p:sp>
      <p:sp>
        <p:nvSpPr>
          <p:cNvPr id="22" name="Text 17"/>
          <p:cNvSpPr/>
          <p:nvPr/>
        </p:nvSpPr>
        <p:spPr>
          <a:xfrm>
            <a:off x="1049604" y="5548648"/>
            <a:ext cx="5101590"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23" name="Shape 18"/>
          <p:cNvSpPr/>
          <p:nvPr/>
        </p:nvSpPr>
        <p:spPr>
          <a:xfrm>
            <a:off x="6584783" y="4786116"/>
            <a:ext cx="2070434" cy="1039083"/>
          </a:xfrm>
          <a:prstGeom prst="roundRect">
            <a:avLst>
              <a:gd name="adj" fmla="val 10466"/>
            </a:avLst>
          </a:prstGeom>
          <a:solidFill>
            <a:srgbClr val="FDFDFB"/>
          </a:solidFill>
          <a:ln w="6350">
            <a:solidFill>
              <a:srgbClr val="DCE2D8"/>
            </a:solidFill>
            <a:prstDash val="solid"/>
          </a:ln>
        </p:spPr>
        <p:txBody>
          <a:bodyPr/>
          <a:lstStyle/>
          <a:p>
            <a:endParaRPr lang="ja-JP" altLang="en-US" dirty="0"/>
          </a:p>
        </p:txBody>
      </p:sp>
      <p:sp>
        <p:nvSpPr>
          <p:cNvPr id="24" name="Text 19"/>
          <p:cNvSpPr/>
          <p:nvPr/>
        </p:nvSpPr>
        <p:spPr>
          <a:xfrm>
            <a:off x="6716908" y="4967652"/>
            <a:ext cx="1892300"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E2A22"/>
                </a:solidFill>
                <a:latin typeface="Noto Sans JP" pitchFamily="34" charset="0"/>
                <a:ea typeface="Noto Sans JP" pitchFamily="34" charset="-122"/>
                <a:cs typeface="Noto Sans JP" pitchFamily="34" charset="-120"/>
              </a:rPr>
              <a:t>運動感覚がわかった</a:t>
            </a:r>
            <a:endParaRPr lang="en-US" sz="1400" dirty="0"/>
          </a:p>
        </p:txBody>
      </p:sp>
      <p:sp>
        <p:nvSpPr>
          <p:cNvPr id="25" name="Text 20"/>
          <p:cNvSpPr/>
          <p:nvPr/>
        </p:nvSpPr>
        <p:spPr>
          <a:xfrm>
            <a:off x="6879389" y="5396147"/>
            <a:ext cx="1567339" cy="360627"/>
          </a:xfrm>
          <a:prstGeom prst="rect">
            <a:avLst/>
          </a:prstGeom>
          <a:noFill/>
          <a:ln/>
        </p:spPr>
        <p:txBody>
          <a:bodyPr wrap="square" lIns="0" tIns="0" rIns="0" bIns="0" rtlCol="0" anchor="t">
            <a:normAutofit/>
          </a:bodyPr>
          <a:lstStyle/>
          <a:p>
            <a:pPr marL="0" indent="0" algn="ctr">
              <a:lnSpc>
                <a:spcPts val="2640"/>
              </a:lnSpc>
              <a:buNone/>
            </a:pPr>
            <a:r>
              <a:rPr lang="en-US" sz="2400" b="1" dirty="0">
                <a:solidFill>
                  <a:srgbClr val="B85C12"/>
                </a:solidFill>
                <a:latin typeface="Noto Sans JP" pitchFamily="34" charset="0"/>
                <a:ea typeface="Noto Sans JP" pitchFamily="34" charset="-122"/>
                <a:cs typeface="Noto Sans JP" pitchFamily="34" charset="-120"/>
              </a:rPr>
              <a:t>3 → 11人</a:t>
            </a:r>
            <a:endParaRPr lang="en-US" sz="2400" dirty="0"/>
          </a:p>
        </p:txBody>
      </p:sp>
      <p:sp>
        <p:nvSpPr>
          <p:cNvPr id="27" name="Text 22"/>
          <p:cNvSpPr/>
          <p:nvPr/>
        </p:nvSpPr>
        <p:spPr>
          <a:xfrm>
            <a:off x="9024620" y="4967651"/>
            <a:ext cx="1706880" cy="274307"/>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E2A22"/>
                </a:solidFill>
                <a:latin typeface="Noto Sans JP" pitchFamily="34" charset="0"/>
                <a:ea typeface="Noto Sans JP" pitchFamily="34" charset="-122"/>
                <a:cs typeface="Noto Sans JP" pitchFamily="34" charset="-120"/>
              </a:rPr>
              <a:t>軌道・速さを理解</a:t>
            </a:r>
            <a:endParaRPr lang="en-US" sz="1400" dirty="0"/>
          </a:p>
        </p:txBody>
      </p:sp>
      <p:sp>
        <p:nvSpPr>
          <p:cNvPr id="28" name="Text 23"/>
          <p:cNvSpPr/>
          <p:nvPr/>
        </p:nvSpPr>
        <p:spPr>
          <a:xfrm>
            <a:off x="9079309" y="5360988"/>
            <a:ext cx="1567339" cy="360627"/>
          </a:xfrm>
          <a:prstGeom prst="rect">
            <a:avLst/>
          </a:prstGeom>
          <a:noFill/>
          <a:ln/>
        </p:spPr>
        <p:txBody>
          <a:bodyPr wrap="square" lIns="0" tIns="0" rIns="0" bIns="0" rtlCol="0" anchor="t">
            <a:normAutofit/>
          </a:bodyPr>
          <a:lstStyle/>
          <a:p>
            <a:pPr marL="0" indent="0" algn="ctr">
              <a:lnSpc>
                <a:spcPts val="2640"/>
              </a:lnSpc>
              <a:buNone/>
            </a:pPr>
            <a:r>
              <a:rPr lang="en-US" sz="2400" b="1" dirty="0">
                <a:solidFill>
                  <a:srgbClr val="B85C12"/>
                </a:solidFill>
                <a:latin typeface="Noto Sans JP" pitchFamily="34" charset="0"/>
                <a:ea typeface="Noto Sans JP" pitchFamily="34" charset="-122"/>
                <a:cs typeface="Noto Sans JP" pitchFamily="34" charset="-120"/>
              </a:rPr>
              <a:t>1 → 11人</a:t>
            </a:r>
            <a:endParaRPr lang="en-US" sz="2400" dirty="0"/>
          </a:p>
        </p:txBody>
      </p:sp>
      <p:sp>
        <p:nvSpPr>
          <p:cNvPr id="32" name="Shape 27"/>
          <p:cNvSpPr/>
          <p:nvPr/>
        </p:nvSpPr>
        <p:spPr>
          <a:xfrm>
            <a:off x="508000" y="5901928"/>
            <a:ext cx="11176000" cy="0"/>
          </a:xfrm>
          <a:prstGeom prst="line">
            <a:avLst/>
          </a:prstGeom>
          <a:noFill/>
          <a:ln w="6350">
            <a:solidFill>
              <a:srgbClr val="CFD6CC"/>
            </a:solidFill>
            <a:prstDash val="solid"/>
          </a:ln>
        </p:spPr>
        <p:txBody>
          <a:bodyPr/>
          <a:lstStyle/>
          <a:p>
            <a:endParaRPr lang="ja-JP" altLang="en-US"/>
          </a:p>
        </p:txBody>
      </p:sp>
      <p:sp>
        <p:nvSpPr>
          <p:cNvPr id="33" name="Text 28"/>
          <p:cNvSpPr/>
          <p:nvPr/>
        </p:nvSpPr>
        <p:spPr>
          <a:xfrm>
            <a:off x="508000" y="6029987"/>
            <a:ext cx="736600" cy="299707"/>
          </a:xfrm>
          <a:prstGeom prst="roundRect">
            <a:avLst>
              <a:gd name="adj" fmla="val 21187"/>
            </a:avLst>
          </a:prstGeom>
          <a:solidFill>
            <a:srgbClr val="2E5E3E"/>
          </a:solidFill>
          <a:ln/>
        </p:spPr>
        <p:txBody>
          <a:bodyPr wrap="none" lIns="0" tIns="0" rIns="0" bIns="0" rtlCol="0" anchor="ctr">
            <a:normAutofit/>
          </a:bodyPr>
          <a:lstStyle/>
          <a:p>
            <a:pPr marL="0" indent="0" algn="ctr">
              <a:lnSpc>
                <a:spcPts val="1960"/>
              </a:lnSpc>
              <a:buNone/>
            </a:pPr>
            <a:r>
              <a:rPr lang="en-US" sz="1400" b="1" dirty="0">
                <a:solidFill>
                  <a:srgbClr val="F6F7F2"/>
                </a:solidFill>
                <a:latin typeface="Noto Sans JP" pitchFamily="34" charset="0"/>
                <a:ea typeface="Noto Sans JP" pitchFamily="34" charset="-122"/>
                <a:cs typeface="Noto Sans JP" pitchFamily="34" charset="-120"/>
              </a:rPr>
              <a:t>新規性</a:t>
            </a:r>
            <a:endParaRPr lang="en-US" sz="1400" dirty="0"/>
          </a:p>
        </p:txBody>
      </p:sp>
      <p:sp>
        <p:nvSpPr>
          <p:cNvPr id="34" name="Text 29"/>
          <p:cNvSpPr/>
          <p:nvPr/>
        </p:nvSpPr>
        <p:spPr>
          <a:xfrm>
            <a:off x="1431290" y="6055387"/>
            <a:ext cx="4356100" cy="274307"/>
          </a:xfrm>
          <a:prstGeom prst="rect">
            <a:avLst/>
          </a:prstGeom>
          <a:noFill/>
          <a:ln/>
        </p:spPr>
        <p:txBody>
          <a:bodyPr wrap="square" lIns="0" tIns="0" rIns="0" bIns="0" rtlCol="0" anchor="t">
            <a:noAutofit/>
          </a:bodyPr>
          <a:lstStyle/>
          <a:p>
            <a:pPr>
              <a:lnSpc>
                <a:spcPts val="1960"/>
              </a:lnSpc>
            </a:pPr>
            <a:r>
              <a:rPr lang="en-US" altLang="ja-JP" sz="2000" dirty="0" err="1">
                <a:solidFill>
                  <a:srgbClr val="1E2A22"/>
                </a:solidFill>
                <a:latin typeface="Noto Sans JP" pitchFamily="34" charset="0"/>
                <a:ea typeface="Noto Sans JP" pitchFamily="34" charset="-122"/>
                <a:cs typeface="Noto Sans JP" pitchFamily="34" charset="-120"/>
              </a:rPr>
              <a:t>熟練者の</a:t>
            </a:r>
            <a:r>
              <a:rPr lang="en-US" altLang="ja-JP" sz="2000" b="1" dirty="0" err="1">
                <a:solidFill>
                  <a:srgbClr val="1E2A22"/>
                </a:solidFill>
                <a:latin typeface="Noto Sans JP" pitchFamily="34" charset="0"/>
                <a:ea typeface="Noto Sans JP" pitchFamily="34" charset="-122"/>
                <a:cs typeface="Noto Sans JP" pitchFamily="34" charset="-120"/>
              </a:rPr>
              <a:t>頭の中</a:t>
            </a:r>
            <a:r>
              <a:rPr lang="en-US" altLang="ja-JP" sz="2000" dirty="0" err="1">
                <a:solidFill>
                  <a:srgbClr val="1E2A22"/>
                </a:solidFill>
                <a:latin typeface="Noto Sans JP" pitchFamily="34" charset="0"/>
                <a:ea typeface="Noto Sans JP" pitchFamily="34" charset="-122"/>
                <a:cs typeface="Noto Sans JP" pitchFamily="34" charset="-120"/>
              </a:rPr>
              <a:t>を見せた</a:t>
            </a:r>
            <a:endParaRPr lang="en-US" sz="2000" dirty="0">
              <a:solidFill>
                <a:srgbClr val="1E2A22"/>
              </a:solidFill>
              <a:latin typeface="Noto Sans JP" pitchFamily="34" charset="0"/>
              <a:ea typeface="Noto Sans JP" pitchFamily="34" charset="-122"/>
              <a:cs typeface="Noto Sans JP" pitchFamily="34" charset="-120"/>
            </a:endParaRPr>
          </a:p>
          <a:p>
            <a:pPr marL="0" indent="0" algn="l">
              <a:lnSpc>
                <a:spcPts val="1960"/>
              </a:lnSpc>
              <a:buNone/>
            </a:pPr>
            <a:endParaRPr lang="en-US" sz="2000" dirty="0"/>
          </a:p>
        </p:txBody>
      </p:sp>
      <p:sp>
        <p:nvSpPr>
          <p:cNvPr id="35" name="Text 30"/>
          <p:cNvSpPr/>
          <p:nvPr/>
        </p:nvSpPr>
        <p:spPr>
          <a:xfrm>
            <a:off x="5646888" y="6039585"/>
            <a:ext cx="701013" cy="299707"/>
          </a:xfrm>
          <a:prstGeom prst="roundRect">
            <a:avLst>
              <a:gd name="adj" fmla="val 21187"/>
            </a:avLst>
          </a:prstGeom>
          <a:solidFill>
            <a:srgbClr val="2E5E3E"/>
          </a:solidFill>
          <a:ln/>
        </p:spPr>
        <p:txBody>
          <a:bodyPr wrap="none" lIns="83001" tIns="6801" rIns="32201" bIns="0" rtlCol="0" anchor="t">
            <a:normAutofit/>
          </a:bodyPr>
          <a:lstStyle/>
          <a:p>
            <a:pPr marL="0" indent="0" algn="l">
              <a:lnSpc>
                <a:spcPts val="1960"/>
              </a:lnSpc>
              <a:buNone/>
            </a:pPr>
            <a:r>
              <a:rPr lang="en-US" sz="1400" b="1" dirty="0">
                <a:solidFill>
                  <a:srgbClr val="F6F7F2"/>
                </a:solidFill>
                <a:latin typeface="Noto Sans JP" pitchFamily="34" charset="0"/>
                <a:ea typeface="Noto Sans JP" pitchFamily="34" charset="-122"/>
                <a:cs typeface="Noto Sans JP" pitchFamily="34" charset="-120"/>
              </a:rPr>
              <a:t>有用性</a:t>
            </a:r>
            <a:endParaRPr lang="en-US" sz="1400" dirty="0"/>
          </a:p>
        </p:txBody>
      </p:sp>
      <p:sp>
        <p:nvSpPr>
          <p:cNvPr id="36" name="Text 31"/>
          <p:cNvSpPr/>
          <p:nvPr/>
        </p:nvSpPr>
        <p:spPr>
          <a:xfrm>
            <a:off x="6446507" y="6055387"/>
            <a:ext cx="5394618" cy="523214"/>
          </a:xfrm>
          <a:prstGeom prst="rect">
            <a:avLst/>
          </a:prstGeom>
          <a:noFill/>
          <a:ln/>
        </p:spPr>
        <p:txBody>
          <a:bodyPr wrap="square" lIns="0" tIns="0" rIns="0" bIns="0" rtlCol="0" anchor="t">
            <a:normAutofit/>
          </a:bodyPr>
          <a:lstStyle/>
          <a:p>
            <a:pPr marL="0" indent="0" algn="l">
              <a:lnSpc>
                <a:spcPts val="1960"/>
              </a:lnSpc>
              <a:buNone/>
            </a:pPr>
            <a:r>
              <a:rPr lang="en-US" sz="2000" dirty="0">
                <a:solidFill>
                  <a:srgbClr val="1E2A22"/>
                </a:solidFill>
                <a:latin typeface="Noto Sans JP" pitchFamily="34" charset="0"/>
                <a:ea typeface="Noto Sans JP" pitchFamily="34" charset="-122"/>
                <a:cs typeface="Noto Sans JP" pitchFamily="34" charset="-120"/>
              </a:rPr>
              <a:t>フォームなら外からの映像、</a:t>
            </a:r>
            <a:r>
              <a:rPr lang="en-US" sz="2000" b="1" dirty="0">
                <a:solidFill>
                  <a:srgbClr val="1E2A22"/>
                </a:solidFill>
                <a:latin typeface="Noto Sans JP" pitchFamily="34" charset="0"/>
                <a:ea typeface="Noto Sans JP" pitchFamily="34" charset="-122"/>
                <a:cs typeface="Noto Sans JP" pitchFamily="34" charset="-120"/>
              </a:rPr>
              <a:t>感覚ならプロのイメージ</a:t>
            </a:r>
            <a:r>
              <a:rPr lang="en-US" sz="2000" dirty="0">
                <a:solidFill>
                  <a:srgbClr val="1E2A22"/>
                </a:solidFill>
                <a:latin typeface="Noto Sans JP" pitchFamily="34" charset="0"/>
                <a:ea typeface="Noto Sans JP" pitchFamily="34" charset="-122"/>
                <a:cs typeface="Noto Sans JP" pitchFamily="34" charset="-120"/>
              </a:rPr>
              <a:t>。教えたい内容で映像を選べる</a:t>
            </a:r>
            <a:endParaRPr lang="en-US" sz="2000" dirty="0"/>
          </a:p>
        </p:txBody>
      </p:sp>
    </p:spTree>
  </p:cSld>
  <p:clrMapOvr>
    <a:masterClrMapping/>
  </p:clrMapOvr>
</p:sld>
</file>

<file path=ppt/theme/theme1.xml><?xml version="1.0" encoding="utf-8"?>
<a:theme xmlns:a="http://schemas.openxmlformats.org/drawingml/2006/main" name="ゴルフのメンタルリハーサル可視化 論文紹介">
  <a:themeElements>
    <a:clrScheme name="ゴルフのメンタルリハーサル可視化 論文紹介">
      <a:dk1>
        <a:srgbClr val="1E2A22"/>
      </a:dk1>
      <a:lt1>
        <a:srgbClr val="F6F7F2"/>
      </a:lt1>
      <a:dk2>
        <a:srgbClr val="545D56"/>
      </a:dk2>
      <a:lt2>
        <a:srgbClr val="E0E3DD"/>
      </a:lt2>
      <a:accent1>
        <a:srgbClr val="2E5E3E"/>
      </a:accent1>
      <a:accent2>
        <a:srgbClr val="B85C12"/>
      </a:accent2>
      <a:accent3>
        <a:srgbClr val="5B665E"/>
      </a:accent3>
      <a:accent4>
        <a:srgbClr val="9AA0A6"/>
      </a:accent4>
      <a:accent5>
        <a:srgbClr val="747C75"/>
      </a:accent5>
      <a:accent6>
        <a:srgbClr val="959B94"/>
      </a:accent6>
      <a:hlink>
        <a:srgbClr val="0563C1"/>
      </a:hlink>
      <a:folHlink>
        <a:srgbClr val="954F72"/>
      </a:folHlink>
    </a:clrScheme>
    <a:fontScheme name="ゴルフのメンタルリハーサル可視化 論文紹介">
      <a:majorFont>
        <a:latin typeface="Noto Sans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1851</TotalTime>
  <Words>257</Words>
  <Application>Microsoft Office PowerPoint</Application>
  <PresentationFormat>ワイド画面</PresentationFormat>
  <Paragraphs>42</Paragraphs>
  <Slides>1</Slides>
  <Notes>1</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vt:i4>
      </vt:variant>
    </vt:vector>
  </HeadingPairs>
  <TitlesOfParts>
    <vt:vector size="4" baseType="lpstr">
      <vt:lpstr>Noto Sans JP</vt:lpstr>
      <vt:lpstr>Arial</vt:lpstr>
      <vt:lpstr>ゴルフのメンタルリハーサル可視化 論文紹介</vt:lpstr>
      <vt:lpstr>プロの「頭の中」をXRで見せると、初心者は何がわかる？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ゴルフのメンタルリハーサル可視化 論文紹介</dc:title>
  <dc:subject/>
  <dc:creator/>
  <cp:lastModifiedBy>颯斗 卜部</cp:lastModifiedBy>
  <cp:revision>4</cp:revision>
  <dcterms:created xsi:type="dcterms:W3CDTF">2026-10-19T23:19:05Z</dcterms:created>
  <dcterms:modified xsi:type="dcterms:W3CDTF">2026-10-27T02:34:07Z</dcterms:modified>
</cp:coreProperties>
</file>