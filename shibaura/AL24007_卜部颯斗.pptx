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20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816408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7"/>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852160" cy="5852160"/>
          </a:xfrm>
          <a:prstGeom prst="ellipse">
            <a:avLst/>
          </a:prstGeom>
          <a:solidFill>
            <a:srgbClr val="0B4F71">
              <a:alpha val="60000"/>
            </a:srgbClr>
          </a:solidFill>
          <a:ln/>
        </p:spPr>
        <p:txBody>
          <a:bodyPr/>
          <a:lstStyle/>
          <a:p>
            <a:endParaRPr lang="ja-JP" altLang="en-US"/>
          </a:p>
        </p:txBody>
      </p:sp>
      <p:sp>
        <p:nvSpPr>
          <p:cNvPr id="3" name="Shape 1"/>
          <p:cNvSpPr/>
          <p:nvPr/>
        </p:nvSpPr>
        <p:spPr>
          <a:xfrm>
            <a:off x="10241280" y="3291840"/>
            <a:ext cx="4206240" cy="4206240"/>
          </a:xfrm>
          <a:prstGeom prst="ellipse">
            <a:avLst/>
          </a:prstGeom>
          <a:solidFill>
            <a:srgbClr val="1C7293">
              <a:alpha val="45000"/>
            </a:srgbClr>
          </a:solidFill>
          <a:ln/>
        </p:spPr>
        <p:txBody>
          <a:bodyPr/>
          <a:lstStyle/>
          <a:p>
            <a:endParaRPr lang="ja-JP" altLang="en-US"/>
          </a:p>
        </p:txBody>
      </p:sp>
      <p:sp>
        <p:nvSpPr>
          <p:cNvPr id="4" name="Shape 2"/>
          <p:cNvSpPr/>
          <p:nvPr/>
        </p:nvSpPr>
        <p:spPr>
          <a:xfrm>
            <a:off x="822960" y="932688"/>
            <a:ext cx="128016" cy="822960"/>
          </a:xfrm>
          <a:prstGeom prst="rect">
            <a:avLst/>
          </a:prstGeom>
          <a:solidFill>
            <a:srgbClr val="E0A63C"/>
          </a:solidFill>
          <a:ln/>
        </p:spPr>
        <p:txBody>
          <a:bodyPr/>
          <a:lstStyle/>
          <a:p>
            <a:endParaRPr lang="ja-JP" altLang="en-US"/>
          </a:p>
        </p:txBody>
      </p:sp>
      <p:sp>
        <p:nvSpPr>
          <p:cNvPr id="5" name="Text 3"/>
          <p:cNvSpPr/>
          <p:nvPr/>
        </p:nvSpPr>
        <p:spPr>
          <a:xfrm>
            <a:off x="1097280" y="914400"/>
            <a:ext cx="7315200" cy="365760"/>
          </a:xfrm>
          <a:prstGeom prst="rect">
            <a:avLst/>
          </a:prstGeom>
          <a:noFill/>
          <a:ln/>
        </p:spPr>
        <p:txBody>
          <a:bodyPr wrap="square" lIns="0" tIns="0" rIns="0" bIns="0" rtlCol="0" anchor="ctr"/>
          <a:lstStyle/>
          <a:p>
            <a:pPr marL="0" indent="0">
              <a:buNone/>
            </a:pPr>
            <a:r>
              <a:rPr lang="en-US" sz="1400" b="1" kern="0" spc="300" dirty="0">
                <a:solidFill>
                  <a:srgbClr val="E0A63C"/>
                </a:solidFill>
                <a:latin typeface="Meiryo" pitchFamily="34" charset="0"/>
                <a:ea typeface="Meiryo" pitchFamily="34" charset="-122"/>
                <a:cs typeface="Meiryo" pitchFamily="34" charset="-120"/>
              </a:rPr>
              <a:t>CISO 宛 報告書</a:t>
            </a:r>
            <a:endParaRPr lang="en-US" sz="1400" dirty="0"/>
          </a:p>
        </p:txBody>
      </p:sp>
      <p:sp>
        <p:nvSpPr>
          <p:cNvPr id="6" name="Text 4"/>
          <p:cNvSpPr/>
          <p:nvPr/>
        </p:nvSpPr>
        <p:spPr>
          <a:xfrm>
            <a:off x="1051560" y="1417320"/>
            <a:ext cx="9601200" cy="1737360"/>
          </a:xfrm>
          <a:prstGeom prst="rect">
            <a:avLst/>
          </a:prstGeom>
          <a:noFill/>
          <a:ln/>
        </p:spPr>
        <p:txBody>
          <a:bodyPr wrap="square" lIns="0" tIns="0" rIns="0" bIns="0" rtlCol="0" anchor="ctr"/>
          <a:lstStyle/>
          <a:p>
            <a:pPr marL="0" indent="0">
              <a:lnSpc>
                <a:spcPct val="105000"/>
              </a:lnSpc>
              <a:buNone/>
            </a:pPr>
            <a:r>
              <a:rPr lang="en-US" sz="4600" b="1" dirty="0">
                <a:solidFill>
                  <a:srgbClr val="FFFFFF"/>
                </a:solidFill>
                <a:latin typeface="Meiryo" pitchFamily="34" charset="0"/>
                <a:ea typeface="Meiryo" pitchFamily="34" charset="-122"/>
                <a:cs typeface="Meiryo" pitchFamily="34" charset="-120"/>
              </a:rPr>
              <a:t>情報セキュリティポリシー</a:t>
            </a:r>
            <a:endParaRPr lang="en-US" sz="4600" dirty="0"/>
          </a:p>
          <a:p>
            <a:pPr marL="0" indent="0">
              <a:lnSpc>
                <a:spcPct val="105000"/>
              </a:lnSpc>
              <a:buNone/>
            </a:pPr>
            <a:r>
              <a:rPr lang="en-US" sz="4600" b="1" dirty="0">
                <a:solidFill>
                  <a:srgbClr val="FFFFFF"/>
                </a:solidFill>
                <a:latin typeface="Meiryo" pitchFamily="34" charset="0"/>
                <a:ea typeface="Meiryo" pitchFamily="34" charset="-122"/>
                <a:cs typeface="Meiryo" pitchFamily="34" charset="-120"/>
              </a:rPr>
              <a:t>改訂レポート</a:t>
            </a:r>
            <a:endParaRPr lang="en-US" sz="4600" dirty="0"/>
          </a:p>
        </p:txBody>
      </p:sp>
      <p:sp>
        <p:nvSpPr>
          <p:cNvPr id="7" name="Text 5"/>
          <p:cNvSpPr/>
          <p:nvPr/>
        </p:nvSpPr>
        <p:spPr>
          <a:xfrm>
            <a:off x="1097280" y="3246120"/>
            <a:ext cx="9601200" cy="457200"/>
          </a:xfrm>
          <a:prstGeom prst="rect">
            <a:avLst/>
          </a:prstGeom>
          <a:noFill/>
          <a:ln/>
        </p:spPr>
        <p:txBody>
          <a:bodyPr wrap="square" lIns="0" tIns="0" rIns="0" bIns="0" rtlCol="0" anchor="ctr"/>
          <a:lstStyle/>
          <a:p>
            <a:pPr marL="0" indent="0">
              <a:buNone/>
            </a:pPr>
            <a:r>
              <a:rPr lang="en-US" sz="1900" dirty="0">
                <a:solidFill>
                  <a:srgbClr val="CFE0EC"/>
                </a:solidFill>
                <a:latin typeface="Meiryo" pitchFamily="34" charset="0"/>
                <a:ea typeface="Meiryo" pitchFamily="34" charset="-122"/>
                <a:cs typeface="Meiryo" pitchFamily="34" charset="-120"/>
              </a:rPr>
              <a:t>リスク分析と「事件・事故の対応」の具体化</a:t>
            </a:r>
            <a:endParaRPr lang="en-US" sz="1900" dirty="0"/>
          </a:p>
        </p:txBody>
      </p:sp>
      <p:sp>
        <p:nvSpPr>
          <p:cNvPr id="8" name="Shape 6"/>
          <p:cNvSpPr/>
          <p:nvPr/>
        </p:nvSpPr>
        <p:spPr>
          <a:xfrm>
            <a:off x="1097280" y="3977640"/>
            <a:ext cx="2011680" cy="310896"/>
          </a:xfrm>
          <a:prstGeom prst="roundRect">
            <a:avLst>
              <a:gd name="adj" fmla="val 50000"/>
            </a:avLst>
          </a:prstGeom>
          <a:solidFill>
            <a:srgbClr val="0B4F71"/>
          </a:solidFill>
          <a:ln/>
        </p:spPr>
        <p:txBody>
          <a:bodyPr/>
          <a:lstStyle/>
          <a:p>
            <a:endParaRPr lang="ja-JP" altLang="en-US"/>
          </a:p>
        </p:txBody>
      </p:sp>
      <p:sp>
        <p:nvSpPr>
          <p:cNvPr id="9" name="Text 7"/>
          <p:cNvSpPr/>
          <p:nvPr/>
        </p:nvSpPr>
        <p:spPr>
          <a:xfrm>
            <a:off x="1097280" y="3977640"/>
            <a:ext cx="20116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GDPR 対応</a:t>
            </a:r>
            <a:endParaRPr lang="en-US" sz="1100" dirty="0"/>
          </a:p>
        </p:txBody>
      </p:sp>
      <p:sp>
        <p:nvSpPr>
          <p:cNvPr id="10" name="Shape 8"/>
          <p:cNvSpPr/>
          <p:nvPr/>
        </p:nvSpPr>
        <p:spPr>
          <a:xfrm>
            <a:off x="3246120" y="3977640"/>
            <a:ext cx="2606040" cy="310896"/>
          </a:xfrm>
          <a:prstGeom prst="roundRect">
            <a:avLst>
              <a:gd name="adj" fmla="val 50000"/>
            </a:avLst>
          </a:prstGeom>
          <a:solidFill>
            <a:srgbClr val="0B4F71"/>
          </a:solidFill>
          <a:ln/>
        </p:spPr>
        <p:txBody>
          <a:bodyPr/>
          <a:lstStyle/>
          <a:p>
            <a:endParaRPr lang="ja-JP" altLang="en-US"/>
          </a:p>
        </p:txBody>
      </p:sp>
      <p:sp>
        <p:nvSpPr>
          <p:cNvPr id="11" name="Text 9"/>
          <p:cNvSpPr/>
          <p:nvPr/>
        </p:nvSpPr>
        <p:spPr>
          <a:xfrm>
            <a:off x="3246120" y="3977640"/>
            <a:ext cx="260604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個人情報保護法 改正</a:t>
            </a:r>
            <a:endParaRPr lang="en-US" sz="1100" dirty="0"/>
          </a:p>
        </p:txBody>
      </p:sp>
      <p:sp>
        <p:nvSpPr>
          <p:cNvPr id="12" name="Shape 10"/>
          <p:cNvSpPr/>
          <p:nvPr/>
        </p:nvSpPr>
        <p:spPr>
          <a:xfrm>
            <a:off x="5989320" y="3977640"/>
            <a:ext cx="2148840" cy="310896"/>
          </a:xfrm>
          <a:prstGeom prst="roundRect">
            <a:avLst>
              <a:gd name="adj" fmla="val 50000"/>
            </a:avLst>
          </a:prstGeom>
          <a:solidFill>
            <a:srgbClr val="0B4F71"/>
          </a:solidFill>
          <a:ln/>
        </p:spPr>
        <p:txBody>
          <a:bodyPr/>
          <a:lstStyle/>
          <a:p>
            <a:endParaRPr lang="ja-JP" altLang="en-US"/>
          </a:p>
        </p:txBody>
      </p:sp>
      <p:sp>
        <p:nvSpPr>
          <p:cNvPr id="13" name="Text 11"/>
          <p:cNvSpPr/>
          <p:nvPr/>
        </p:nvSpPr>
        <p:spPr>
          <a:xfrm>
            <a:off x="5989320" y="3977640"/>
            <a:ext cx="214884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SOC 外注</a:t>
            </a:r>
            <a:endParaRPr lang="en-US" sz="1100" dirty="0"/>
          </a:p>
        </p:txBody>
      </p:sp>
      <p:sp>
        <p:nvSpPr>
          <p:cNvPr id="14" name="Shape 12"/>
          <p:cNvSpPr/>
          <p:nvPr/>
        </p:nvSpPr>
        <p:spPr>
          <a:xfrm>
            <a:off x="1097280" y="4983480"/>
            <a:ext cx="7680960" cy="0"/>
          </a:xfrm>
          <a:prstGeom prst="line">
            <a:avLst/>
          </a:prstGeom>
          <a:noFill/>
          <a:ln w="12700">
            <a:solidFill>
              <a:srgbClr val="35597A"/>
            </a:solidFill>
            <a:prstDash val="solid"/>
          </a:ln>
        </p:spPr>
        <p:txBody>
          <a:bodyPr/>
          <a:lstStyle/>
          <a:p>
            <a:endParaRPr lang="ja-JP" altLang="en-US"/>
          </a:p>
        </p:txBody>
      </p:sp>
      <p:sp>
        <p:nvSpPr>
          <p:cNvPr id="15" name="Text 13"/>
          <p:cNvSpPr/>
          <p:nvPr/>
        </p:nvSpPr>
        <p:spPr>
          <a:xfrm>
            <a:off x="1097280" y="5120640"/>
            <a:ext cx="10058400" cy="1188720"/>
          </a:xfrm>
          <a:prstGeom prst="rect">
            <a:avLst/>
          </a:prstGeom>
          <a:noFill/>
          <a:ln/>
        </p:spPr>
        <p:txBody>
          <a:bodyPr wrap="square" lIns="0" tIns="0" rIns="0" bIns="0" rtlCol="0" anchor="ctr"/>
          <a:lstStyle/>
          <a:p>
            <a:pPr marL="0" indent="0">
              <a:lnSpc>
                <a:spcPct val="125000"/>
              </a:lnSpc>
              <a:buNone/>
            </a:pPr>
            <a:r>
              <a:rPr lang="en-US" sz="1800" b="1" dirty="0">
                <a:solidFill>
                  <a:srgbClr val="FFFFFF"/>
                </a:solidFill>
                <a:latin typeface="Meiryo" pitchFamily="34" charset="0"/>
                <a:ea typeface="Meiryo" pitchFamily="34" charset="-122"/>
                <a:cs typeface="Meiryo" pitchFamily="34" charset="-120"/>
              </a:rPr>
              <a:t>株式会社 芝浦トラベル</a:t>
            </a:r>
            <a:endParaRPr lang="en-US" sz="1800" dirty="0"/>
          </a:p>
          <a:p>
            <a:pPr marL="0" indent="0">
              <a:lnSpc>
                <a:spcPct val="125000"/>
              </a:lnSpc>
              <a:buNone/>
            </a:pPr>
            <a:r>
              <a:rPr lang="en-US" sz="1250" dirty="0">
                <a:solidFill>
                  <a:srgbClr val="AFC4D6"/>
                </a:solidFill>
                <a:latin typeface="Meiryo" pitchFamily="34" charset="0"/>
                <a:ea typeface="Meiryo" pitchFamily="34" charset="-122"/>
                <a:cs typeface="Meiryo" pitchFamily="34" charset="-120"/>
              </a:rPr>
              <a:t>提出日：2026年7月8日</a:t>
            </a:r>
            <a:endParaRPr lang="en-US" sz="1800" dirty="0"/>
          </a:p>
          <a:p>
            <a:pPr marL="0" indent="0">
              <a:lnSpc>
                <a:spcPct val="125000"/>
              </a:lnSpc>
              <a:buNone/>
            </a:pPr>
            <a:r>
              <a:rPr lang="en-US" sz="1250" dirty="0" err="1">
                <a:solidFill>
                  <a:srgbClr val="AFC4D6"/>
                </a:solidFill>
                <a:latin typeface="Meiryo" pitchFamily="34" charset="0"/>
                <a:ea typeface="Meiryo" pitchFamily="34" charset="-122"/>
                <a:cs typeface="Meiryo" pitchFamily="34" charset="-120"/>
              </a:rPr>
              <a:t>学籍番号</a:t>
            </a:r>
            <a:r>
              <a:rPr lang="en-US" sz="1250" dirty="0">
                <a:solidFill>
                  <a:srgbClr val="AFC4D6"/>
                </a:solidFill>
                <a:latin typeface="Meiryo" pitchFamily="34" charset="0"/>
                <a:ea typeface="Meiryo" pitchFamily="34" charset="-122"/>
                <a:cs typeface="Meiryo" pitchFamily="34" charset="-120"/>
              </a:rPr>
              <a:t>：［AL24007］　</a:t>
            </a:r>
            <a:r>
              <a:rPr lang="en-US" sz="1250" dirty="0" err="1">
                <a:solidFill>
                  <a:srgbClr val="AFC4D6"/>
                </a:solidFill>
                <a:latin typeface="Meiryo" pitchFamily="34" charset="0"/>
                <a:ea typeface="Meiryo" pitchFamily="34" charset="-122"/>
                <a:cs typeface="Meiryo" pitchFamily="34" charset="-120"/>
              </a:rPr>
              <a:t>氏名</a:t>
            </a:r>
            <a:r>
              <a:rPr lang="en-US" sz="1250" dirty="0">
                <a:solidFill>
                  <a:srgbClr val="AFC4D6"/>
                </a:solidFill>
                <a:latin typeface="Meiryo" pitchFamily="34" charset="0"/>
                <a:ea typeface="Meiryo" pitchFamily="34" charset="-122"/>
                <a:cs typeface="Meiryo" pitchFamily="34" charset="-120"/>
              </a:rPr>
              <a:t>：［</a:t>
            </a:r>
            <a:r>
              <a:rPr lang="ja-JP" altLang="en-US" sz="1250" dirty="0">
                <a:solidFill>
                  <a:srgbClr val="AFC4D6"/>
                </a:solidFill>
                <a:latin typeface="Meiryo" pitchFamily="34" charset="0"/>
                <a:ea typeface="Meiryo" pitchFamily="34" charset="-122"/>
                <a:cs typeface="Meiryo" pitchFamily="34" charset="-120"/>
              </a:rPr>
              <a:t>卜部颯斗</a:t>
            </a:r>
            <a:r>
              <a:rPr lang="en-US" sz="1250" dirty="0">
                <a:solidFill>
                  <a:srgbClr val="AFC4D6"/>
                </a:solidFill>
                <a:latin typeface="Meiryo" pitchFamily="34" charset="0"/>
                <a:ea typeface="Meiryo" pitchFamily="34" charset="-122"/>
                <a:cs typeface="Meiryo" pitchFamily="34" charset="-120"/>
              </a:rPr>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Meiryo" pitchFamily="34" charset="0"/>
                <a:ea typeface="Meiryo" pitchFamily="34" charset="-122"/>
                <a:cs typeface="Meiryo" pitchFamily="34" charset="-120"/>
              </a:rPr>
              <a:t>1. はじめに</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600" b="1" dirty="0">
                <a:solidFill>
                  <a:srgbClr val="0F2A47"/>
                </a:solidFill>
                <a:latin typeface="Meiryo" pitchFamily="34" charset="0"/>
                <a:ea typeface="Meiryo" pitchFamily="34" charset="-122"/>
                <a:cs typeface="Meiryo" pitchFamily="34" charset="-120"/>
              </a:rPr>
              <a:t>改訂の背景・目的と本レポートの構成</a:t>
            </a:r>
            <a:endParaRPr lang="en-US" sz="2600" dirty="0"/>
          </a:p>
        </p:txBody>
      </p:sp>
      <p:sp>
        <p:nvSpPr>
          <p:cNvPr id="4" name="Shape 2"/>
          <p:cNvSpPr/>
          <p:nvPr/>
        </p:nvSpPr>
        <p:spPr>
          <a:xfrm>
            <a:off x="548640" y="1481328"/>
            <a:ext cx="6172200" cy="1298448"/>
          </a:xfrm>
          <a:prstGeom prst="roundRect">
            <a:avLst>
              <a:gd name="adj" fmla="val 5634"/>
            </a:avLst>
          </a:prstGeom>
          <a:solidFill>
            <a:srgbClr val="EEF4F8"/>
          </a:solidFill>
          <a:ln/>
          <a:effectLst>
            <a:outerShdw blurRad="88900" dist="38100" dir="5400000" algn="bl" rotWithShape="0">
              <a:srgbClr val="0F2A47">
                <a:alpha val="16000"/>
              </a:srgbClr>
            </a:outerShdw>
          </a:effectLst>
        </p:spPr>
        <p:txBody>
          <a:bodyPr/>
          <a:lstStyle/>
          <a:p>
            <a:endParaRPr lang="ja-JP" altLang="en-US"/>
          </a:p>
        </p:txBody>
      </p:sp>
      <p:sp>
        <p:nvSpPr>
          <p:cNvPr id="5" name="Shape 3"/>
          <p:cNvSpPr/>
          <p:nvPr/>
        </p:nvSpPr>
        <p:spPr>
          <a:xfrm>
            <a:off x="749808" y="1865376"/>
            <a:ext cx="530352" cy="530352"/>
          </a:xfrm>
          <a:prstGeom prst="ellipse">
            <a:avLst/>
          </a:prstGeom>
          <a:solidFill>
            <a:srgbClr val="0B4F71"/>
          </a:solidFill>
          <a:ln/>
        </p:spPr>
        <p:txBody>
          <a:bodyPr/>
          <a:lstStyle/>
          <a:p>
            <a:endParaRPr lang="ja-JP" altLang="en-US"/>
          </a:p>
        </p:txBody>
      </p:sp>
      <p:sp>
        <p:nvSpPr>
          <p:cNvPr id="6" name="Text 4"/>
          <p:cNvSpPr/>
          <p:nvPr/>
        </p:nvSpPr>
        <p:spPr>
          <a:xfrm>
            <a:off x="749808" y="1865376"/>
            <a:ext cx="530352" cy="530352"/>
          </a:xfrm>
          <a:prstGeom prst="rect">
            <a:avLst/>
          </a:prstGeom>
          <a:noFill/>
          <a:ln/>
        </p:spPr>
        <p:txBody>
          <a:bodyPr wrap="square" lIns="0" tIns="0" rIns="0" bIns="0" rtlCol="0" anchor="ctr"/>
          <a:lstStyle/>
          <a:p>
            <a:pPr marL="0" indent="0" algn="ctr">
              <a:buNone/>
            </a:pPr>
            <a:r>
              <a:rPr lang="en-US" sz="2000" b="1" dirty="0">
                <a:solidFill>
                  <a:srgbClr val="FFFFFF"/>
                </a:solidFill>
                <a:latin typeface="Meiryo" pitchFamily="34" charset="0"/>
                <a:ea typeface="Meiryo" pitchFamily="34" charset="-122"/>
                <a:cs typeface="Meiryo" pitchFamily="34" charset="-120"/>
              </a:rPr>
              <a:t>1</a:t>
            </a:r>
            <a:endParaRPr lang="en-US" sz="2000" dirty="0"/>
          </a:p>
        </p:txBody>
      </p:sp>
      <p:sp>
        <p:nvSpPr>
          <p:cNvPr id="7" name="Text 5"/>
          <p:cNvSpPr/>
          <p:nvPr/>
        </p:nvSpPr>
        <p:spPr>
          <a:xfrm>
            <a:off x="1463040" y="1609344"/>
            <a:ext cx="5120640" cy="329184"/>
          </a:xfrm>
          <a:prstGeom prst="rect">
            <a:avLst/>
          </a:prstGeom>
          <a:noFill/>
          <a:ln/>
        </p:spPr>
        <p:txBody>
          <a:bodyPr wrap="square" lIns="0" tIns="0" rIns="0" bIns="0" rtlCol="0" anchor="ctr"/>
          <a:lstStyle/>
          <a:p>
            <a:pPr marL="0" indent="0">
              <a:buNone/>
            </a:pPr>
            <a:r>
              <a:rPr lang="en-US" sz="1450" b="1" dirty="0">
                <a:solidFill>
                  <a:srgbClr val="0F2A47"/>
                </a:solidFill>
                <a:latin typeface="Meiryo" pitchFamily="34" charset="0"/>
                <a:ea typeface="Meiryo" pitchFamily="34" charset="-122"/>
                <a:cs typeface="Meiryo" pitchFamily="34" charset="-120"/>
              </a:rPr>
              <a:t>GDPR 対応</a:t>
            </a:r>
            <a:endParaRPr lang="en-US" sz="1450" dirty="0"/>
          </a:p>
        </p:txBody>
      </p:sp>
      <p:sp>
        <p:nvSpPr>
          <p:cNvPr id="8" name="Text 6"/>
          <p:cNvSpPr/>
          <p:nvPr/>
        </p:nvSpPr>
        <p:spPr>
          <a:xfrm>
            <a:off x="1463040" y="1938528"/>
            <a:ext cx="5166360" cy="786384"/>
          </a:xfrm>
          <a:prstGeom prst="rect">
            <a:avLst/>
          </a:prstGeom>
          <a:noFill/>
          <a:ln/>
        </p:spPr>
        <p:txBody>
          <a:bodyPr wrap="square" lIns="0" tIns="0" rIns="0" bIns="0" rtlCol="0" anchor="ctr"/>
          <a:lstStyle/>
          <a:p>
            <a:pPr marL="0" indent="0">
              <a:lnSpc>
                <a:spcPct val="105000"/>
              </a:lnSpc>
              <a:buNone/>
            </a:pPr>
            <a:r>
              <a:rPr lang="en-US" sz="1150" dirty="0">
                <a:solidFill>
                  <a:srgbClr val="1E293B"/>
                </a:solidFill>
                <a:latin typeface="Meiryo" pitchFamily="34" charset="0"/>
                <a:ea typeface="Meiryo" pitchFamily="34" charset="-122"/>
                <a:cs typeface="Meiryo" pitchFamily="34" charset="-120"/>
              </a:rPr>
              <a:t>EU（域内）居住者の個人データを国内で取り扱うため、GDPR の域外適用に対応した管理・通知体制が必要。</a:t>
            </a:r>
            <a:endParaRPr lang="en-US" sz="1150" dirty="0"/>
          </a:p>
        </p:txBody>
      </p:sp>
      <p:sp>
        <p:nvSpPr>
          <p:cNvPr id="9" name="Shape 7"/>
          <p:cNvSpPr/>
          <p:nvPr/>
        </p:nvSpPr>
        <p:spPr>
          <a:xfrm>
            <a:off x="548640" y="2898648"/>
            <a:ext cx="6172200" cy="1298448"/>
          </a:xfrm>
          <a:prstGeom prst="roundRect">
            <a:avLst>
              <a:gd name="adj" fmla="val 5634"/>
            </a:avLst>
          </a:prstGeom>
          <a:solidFill>
            <a:srgbClr val="EEF4F8"/>
          </a:solidFill>
          <a:ln/>
          <a:effectLst>
            <a:outerShdw blurRad="88900" dist="38100" dir="5400000" algn="bl" rotWithShape="0">
              <a:srgbClr val="0F2A47">
                <a:alpha val="16000"/>
              </a:srgbClr>
            </a:outerShdw>
          </a:effectLst>
        </p:spPr>
        <p:txBody>
          <a:bodyPr/>
          <a:lstStyle/>
          <a:p>
            <a:endParaRPr lang="ja-JP" altLang="en-US"/>
          </a:p>
        </p:txBody>
      </p:sp>
      <p:sp>
        <p:nvSpPr>
          <p:cNvPr id="10" name="Shape 8"/>
          <p:cNvSpPr/>
          <p:nvPr/>
        </p:nvSpPr>
        <p:spPr>
          <a:xfrm>
            <a:off x="749808" y="3282696"/>
            <a:ext cx="530352" cy="530352"/>
          </a:xfrm>
          <a:prstGeom prst="ellipse">
            <a:avLst/>
          </a:prstGeom>
          <a:solidFill>
            <a:srgbClr val="0B4F71"/>
          </a:solidFill>
          <a:ln/>
        </p:spPr>
        <p:txBody>
          <a:bodyPr/>
          <a:lstStyle/>
          <a:p>
            <a:endParaRPr lang="ja-JP" altLang="en-US"/>
          </a:p>
        </p:txBody>
      </p:sp>
      <p:sp>
        <p:nvSpPr>
          <p:cNvPr id="11" name="Text 9"/>
          <p:cNvSpPr/>
          <p:nvPr/>
        </p:nvSpPr>
        <p:spPr>
          <a:xfrm>
            <a:off x="749808" y="3282696"/>
            <a:ext cx="530352" cy="530352"/>
          </a:xfrm>
          <a:prstGeom prst="rect">
            <a:avLst/>
          </a:prstGeom>
          <a:noFill/>
          <a:ln/>
        </p:spPr>
        <p:txBody>
          <a:bodyPr wrap="square" lIns="0" tIns="0" rIns="0" bIns="0" rtlCol="0" anchor="ctr"/>
          <a:lstStyle/>
          <a:p>
            <a:pPr marL="0" indent="0" algn="ctr">
              <a:buNone/>
            </a:pPr>
            <a:r>
              <a:rPr lang="en-US" sz="2000" b="1" dirty="0">
                <a:solidFill>
                  <a:srgbClr val="FFFFFF"/>
                </a:solidFill>
                <a:latin typeface="Meiryo" pitchFamily="34" charset="0"/>
                <a:ea typeface="Meiryo" pitchFamily="34" charset="-122"/>
                <a:cs typeface="Meiryo" pitchFamily="34" charset="-120"/>
              </a:rPr>
              <a:t>2</a:t>
            </a:r>
            <a:endParaRPr lang="en-US" sz="2000" dirty="0"/>
          </a:p>
        </p:txBody>
      </p:sp>
      <p:sp>
        <p:nvSpPr>
          <p:cNvPr id="12" name="Text 10"/>
          <p:cNvSpPr/>
          <p:nvPr/>
        </p:nvSpPr>
        <p:spPr>
          <a:xfrm>
            <a:off x="1463040" y="3026664"/>
            <a:ext cx="5120640" cy="329184"/>
          </a:xfrm>
          <a:prstGeom prst="rect">
            <a:avLst/>
          </a:prstGeom>
          <a:noFill/>
          <a:ln/>
        </p:spPr>
        <p:txBody>
          <a:bodyPr wrap="square" lIns="0" tIns="0" rIns="0" bIns="0" rtlCol="0" anchor="ctr"/>
          <a:lstStyle/>
          <a:p>
            <a:pPr marL="0" indent="0">
              <a:buNone/>
            </a:pPr>
            <a:r>
              <a:rPr lang="en-US" sz="1450" b="1" dirty="0">
                <a:solidFill>
                  <a:srgbClr val="0F2A47"/>
                </a:solidFill>
                <a:latin typeface="Meiryo" pitchFamily="34" charset="0"/>
                <a:ea typeface="Meiryo" pitchFamily="34" charset="-122"/>
                <a:cs typeface="Meiryo" pitchFamily="34" charset="-120"/>
              </a:rPr>
              <a:t>個人情報保護法の改正</a:t>
            </a:r>
            <a:endParaRPr lang="en-US" sz="1450" dirty="0"/>
          </a:p>
        </p:txBody>
      </p:sp>
      <p:sp>
        <p:nvSpPr>
          <p:cNvPr id="13" name="Text 11"/>
          <p:cNvSpPr/>
          <p:nvPr/>
        </p:nvSpPr>
        <p:spPr>
          <a:xfrm>
            <a:off x="1463040" y="3355848"/>
            <a:ext cx="5166360" cy="786384"/>
          </a:xfrm>
          <a:prstGeom prst="rect">
            <a:avLst/>
          </a:prstGeom>
          <a:noFill/>
          <a:ln/>
        </p:spPr>
        <p:txBody>
          <a:bodyPr wrap="square" lIns="0" tIns="0" rIns="0" bIns="0" rtlCol="0" anchor="ctr"/>
          <a:lstStyle/>
          <a:p>
            <a:pPr marL="0" indent="0">
              <a:lnSpc>
                <a:spcPct val="105000"/>
              </a:lnSpc>
              <a:buNone/>
            </a:pPr>
            <a:r>
              <a:rPr lang="en-US" sz="1150" dirty="0">
                <a:solidFill>
                  <a:srgbClr val="1E293B"/>
                </a:solidFill>
                <a:latin typeface="Meiryo" pitchFamily="34" charset="0"/>
                <a:ea typeface="Meiryo" pitchFamily="34" charset="-122"/>
                <a:cs typeface="Meiryo" pitchFamily="34" charset="-120"/>
              </a:rPr>
              <a:t>漏えい等発生時の個人情報保護委員会への報告および本人通知が義務化。対応手順の明文化が必要。</a:t>
            </a:r>
            <a:endParaRPr lang="en-US" sz="1150" dirty="0"/>
          </a:p>
        </p:txBody>
      </p:sp>
      <p:sp>
        <p:nvSpPr>
          <p:cNvPr id="14" name="Shape 12"/>
          <p:cNvSpPr/>
          <p:nvPr/>
        </p:nvSpPr>
        <p:spPr>
          <a:xfrm>
            <a:off x="548640" y="4315968"/>
            <a:ext cx="6172200" cy="1298448"/>
          </a:xfrm>
          <a:prstGeom prst="roundRect">
            <a:avLst>
              <a:gd name="adj" fmla="val 5634"/>
            </a:avLst>
          </a:prstGeom>
          <a:solidFill>
            <a:srgbClr val="EEF4F8"/>
          </a:solidFill>
          <a:ln/>
          <a:effectLst>
            <a:outerShdw blurRad="88900" dist="38100" dir="5400000" algn="bl" rotWithShape="0">
              <a:srgbClr val="0F2A47">
                <a:alpha val="16000"/>
              </a:srgbClr>
            </a:outerShdw>
          </a:effectLst>
        </p:spPr>
        <p:txBody>
          <a:bodyPr/>
          <a:lstStyle/>
          <a:p>
            <a:endParaRPr lang="ja-JP" altLang="en-US"/>
          </a:p>
        </p:txBody>
      </p:sp>
      <p:sp>
        <p:nvSpPr>
          <p:cNvPr id="15" name="Shape 13"/>
          <p:cNvSpPr/>
          <p:nvPr/>
        </p:nvSpPr>
        <p:spPr>
          <a:xfrm>
            <a:off x="749808" y="4700016"/>
            <a:ext cx="530352" cy="530352"/>
          </a:xfrm>
          <a:prstGeom prst="ellipse">
            <a:avLst/>
          </a:prstGeom>
          <a:solidFill>
            <a:srgbClr val="0B4F71"/>
          </a:solidFill>
          <a:ln/>
        </p:spPr>
        <p:txBody>
          <a:bodyPr/>
          <a:lstStyle/>
          <a:p>
            <a:endParaRPr lang="ja-JP" altLang="en-US"/>
          </a:p>
        </p:txBody>
      </p:sp>
      <p:sp>
        <p:nvSpPr>
          <p:cNvPr id="16" name="Text 14"/>
          <p:cNvSpPr/>
          <p:nvPr/>
        </p:nvSpPr>
        <p:spPr>
          <a:xfrm>
            <a:off x="749808" y="4700016"/>
            <a:ext cx="530352" cy="530352"/>
          </a:xfrm>
          <a:prstGeom prst="rect">
            <a:avLst/>
          </a:prstGeom>
          <a:noFill/>
          <a:ln/>
        </p:spPr>
        <p:txBody>
          <a:bodyPr wrap="square" lIns="0" tIns="0" rIns="0" bIns="0" rtlCol="0" anchor="ctr"/>
          <a:lstStyle/>
          <a:p>
            <a:pPr marL="0" indent="0" algn="ctr">
              <a:buNone/>
            </a:pPr>
            <a:r>
              <a:rPr lang="en-US" sz="2000" b="1" dirty="0">
                <a:solidFill>
                  <a:srgbClr val="FFFFFF"/>
                </a:solidFill>
                <a:latin typeface="Meiryo" pitchFamily="34" charset="0"/>
                <a:ea typeface="Meiryo" pitchFamily="34" charset="-122"/>
                <a:cs typeface="Meiryo" pitchFamily="34" charset="-120"/>
              </a:rPr>
              <a:t>3</a:t>
            </a:r>
            <a:endParaRPr lang="en-US" sz="2000" dirty="0"/>
          </a:p>
        </p:txBody>
      </p:sp>
      <p:sp>
        <p:nvSpPr>
          <p:cNvPr id="17" name="Text 15"/>
          <p:cNvSpPr/>
          <p:nvPr/>
        </p:nvSpPr>
        <p:spPr>
          <a:xfrm>
            <a:off x="1463040" y="4443984"/>
            <a:ext cx="5120640" cy="329184"/>
          </a:xfrm>
          <a:prstGeom prst="rect">
            <a:avLst/>
          </a:prstGeom>
          <a:noFill/>
          <a:ln/>
        </p:spPr>
        <p:txBody>
          <a:bodyPr wrap="square" lIns="0" tIns="0" rIns="0" bIns="0" rtlCol="0" anchor="ctr"/>
          <a:lstStyle/>
          <a:p>
            <a:pPr marL="0" indent="0">
              <a:buNone/>
            </a:pPr>
            <a:r>
              <a:rPr lang="en-US" sz="1450" b="1" dirty="0">
                <a:solidFill>
                  <a:srgbClr val="0F2A47"/>
                </a:solidFill>
                <a:latin typeface="Meiryo" pitchFamily="34" charset="0"/>
                <a:ea typeface="Meiryo" pitchFamily="34" charset="-122"/>
                <a:cs typeface="Meiryo" pitchFamily="34" charset="-120"/>
              </a:rPr>
              <a:t>SOC の外注</a:t>
            </a:r>
            <a:endParaRPr lang="en-US" sz="1450" dirty="0"/>
          </a:p>
        </p:txBody>
      </p:sp>
      <p:sp>
        <p:nvSpPr>
          <p:cNvPr id="18" name="Text 16"/>
          <p:cNvSpPr/>
          <p:nvPr/>
        </p:nvSpPr>
        <p:spPr>
          <a:xfrm>
            <a:off x="1463040" y="4773168"/>
            <a:ext cx="5166360" cy="786384"/>
          </a:xfrm>
          <a:prstGeom prst="rect">
            <a:avLst/>
          </a:prstGeom>
          <a:noFill/>
          <a:ln/>
        </p:spPr>
        <p:txBody>
          <a:bodyPr wrap="square" lIns="0" tIns="0" rIns="0" bIns="0" rtlCol="0" anchor="ctr"/>
          <a:lstStyle/>
          <a:p>
            <a:pPr marL="0" indent="0">
              <a:lnSpc>
                <a:spcPct val="105000"/>
              </a:lnSpc>
              <a:buNone/>
            </a:pPr>
            <a:r>
              <a:rPr lang="en-US" sz="1150" dirty="0">
                <a:solidFill>
                  <a:srgbClr val="1E293B"/>
                </a:solidFill>
                <a:latin typeface="Meiryo" pitchFamily="34" charset="0"/>
                <a:ea typeface="Meiryo" pitchFamily="34" charset="-122"/>
                <a:cs typeface="Meiryo" pitchFamily="34" charset="-120"/>
              </a:rPr>
              <a:t>セキュリティ監視業務を外部 SOC へ委託。検知～初動の連携と責任分界点の明確化が必要。</a:t>
            </a:r>
            <a:endParaRPr lang="en-US" sz="1150" dirty="0"/>
          </a:p>
        </p:txBody>
      </p:sp>
      <p:sp>
        <p:nvSpPr>
          <p:cNvPr id="19" name="Shape 17"/>
          <p:cNvSpPr/>
          <p:nvPr/>
        </p:nvSpPr>
        <p:spPr>
          <a:xfrm>
            <a:off x="7040880" y="1481328"/>
            <a:ext cx="4617720" cy="1371600"/>
          </a:xfrm>
          <a:prstGeom prst="roundRect">
            <a:avLst>
              <a:gd name="adj" fmla="val 5333"/>
            </a:avLst>
          </a:prstGeom>
          <a:solidFill>
            <a:srgbClr val="0F2A47"/>
          </a:solidFill>
          <a:ln/>
        </p:spPr>
        <p:txBody>
          <a:bodyPr/>
          <a:lstStyle/>
          <a:p>
            <a:endParaRPr lang="ja-JP" altLang="en-US"/>
          </a:p>
        </p:txBody>
      </p:sp>
      <p:sp>
        <p:nvSpPr>
          <p:cNvPr id="20" name="Text 18"/>
          <p:cNvSpPr/>
          <p:nvPr/>
        </p:nvSpPr>
        <p:spPr>
          <a:xfrm>
            <a:off x="7269480" y="1627632"/>
            <a:ext cx="4206240" cy="310896"/>
          </a:xfrm>
          <a:prstGeom prst="rect">
            <a:avLst/>
          </a:prstGeom>
          <a:noFill/>
          <a:ln/>
        </p:spPr>
        <p:txBody>
          <a:bodyPr wrap="square" lIns="0" tIns="0" rIns="0" bIns="0" rtlCol="0" anchor="ctr"/>
          <a:lstStyle/>
          <a:p>
            <a:pPr marL="0" indent="0">
              <a:buNone/>
            </a:pPr>
            <a:r>
              <a:rPr lang="en-US" sz="1300" b="1" dirty="0">
                <a:solidFill>
                  <a:srgbClr val="E0A63C"/>
                </a:solidFill>
                <a:latin typeface="Meiryo" pitchFamily="34" charset="0"/>
                <a:ea typeface="Meiryo" pitchFamily="34" charset="-122"/>
                <a:cs typeface="Meiryo" pitchFamily="34" charset="-120"/>
              </a:rPr>
              <a:t>CISO からの指示</a:t>
            </a:r>
            <a:endParaRPr lang="en-US" sz="1300" dirty="0"/>
          </a:p>
        </p:txBody>
      </p:sp>
      <p:sp>
        <p:nvSpPr>
          <p:cNvPr id="21" name="Text 19"/>
          <p:cNvSpPr/>
          <p:nvPr/>
        </p:nvSpPr>
        <p:spPr>
          <a:xfrm>
            <a:off x="7269480" y="1956816"/>
            <a:ext cx="4206240" cy="822960"/>
          </a:xfrm>
          <a:prstGeom prst="rect">
            <a:avLst/>
          </a:prstGeom>
          <a:noFill/>
          <a:ln/>
        </p:spPr>
        <p:txBody>
          <a:bodyPr wrap="square" lIns="0" tIns="0" rIns="0" bIns="0" rtlCol="0" anchor="ctr"/>
          <a:lstStyle/>
          <a:p>
            <a:pPr marL="0" indent="0">
              <a:lnSpc>
                <a:spcPct val="110000"/>
              </a:lnSpc>
              <a:buNone/>
            </a:pPr>
            <a:r>
              <a:rPr lang="en-US" sz="1150" dirty="0">
                <a:solidFill>
                  <a:srgbClr val="FFFFFF"/>
                </a:solidFill>
                <a:latin typeface="Meiryo" pitchFamily="34" charset="0"/>
                <a:ea typeface="Meiryo" pitchFamily="34" charset="-122"/>
                <a:cs typeface="Meiryo" pitchFamily="34" charset="-120"/>
              </a:rPr>
              <a:t>情報セキュリティポリシー（別紙第2）を改訂し、特に「事件・事故の対応」を具体化してレポートとして提出すること。</a:t>
            </a:r>
            <a:endParaRPr lang="en-US" sz="1150" dirty="0"/>
          </a:p>
        </p:txBody>
      </p:sp>
      <p:sp>
        <p:nvSpPr>
          <p:cNvPr id="22" name="Text 20"/>
          <p:cNvSpPr/>
          <p:nvPr/>
        </p:nvSpPr>
        <p:spPr>
          <a:xfrm>
            <a:off x="7040880" y="3063240"/>
            <a:ext cx="4572000" cy="329184"/>
          </a:xfrm>
          <a:prstGeom prst="rect">
            <a:avLst/>
          </a:prstGeom>
          <a:noFill/>
          <a:ln/>
        </p:spPr>
        <p:txBody>
          <a:bodyPr wrap="square" lIns="0" tIns="0" rIns="0" bIns="0" rtlCol="0" anchor="ctr"/>
          <a:lstStyle/>
          <a:p>
            <a:pPr marL="0" indent="0">
              <a:buNone/>
            </a:pPr>
            <a:r>
              <a:rPr lang="en-US" sz="1400" b="1" dirty="0">
                <a:solidFill>
                  <a:srgbClr val="0F2A47"/>
                </a:solidFill>
                <a:latin typeface="Meiryo" pitchFamily="34" charset="0"/>
                <a:ea typeface="Meiryo" pitchFamily="34" charset="-122"/>
                <a:cs typeface="Meiryo" pitchFamily="34" charset="-120"/>
              </a:rPr>
              <a:t>本レポートの構成</a:t>
            </a:r>
            <a:endParaRPr lang="en-US" sz="1400" dirty="0"/>
          </a:p>
        </p:txBody>
      </p:sp>
      <p:sp>
        <p:nvSpPr>
          <p:cNvPr id="23" name="Shape 21"/>
          <p:cNvSpPr/>
          <p:nvPr/>
        </p:nvSpPr>
        <p:spPr>
          <a:xfrm>
            <a:off x="7086600" y="3511296"/>
            <a:ext cx="384048" cy="384048"/>
          </a:xfrm>
          <a:prstGeom prst="ellipse">
            <a:avLst/>
          </a:prstGeom>
          <a:solidFill>
            <a:srgbClr val="1C7293"/>
          </a:solidFill>
          <a:ln/>
        </p:spPr>
        <p:txBody>
          <a:bodyPr/>
          <a:lstStyle/>
          <a:p>
            <a:endParaRPr lang="ja-JP" altLang="en-US"/>
          </a:p>
        </p:txBody>
      </p:sp>
      <p:sp>
        <p:nvSpPr>
          <p:cNvPr id="24" name="Text 22"/>
          <p:cNvSpPr/>
          <p:nvPr/>
        </p:nvSpPr>
        <p:spPr>
          <a:xfrm>
            <a:off x="7086600" y="35112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25" name="Text 23"/>
          <p:cNvSpPr/>
          <p:nvPr/>
        </p:nvSpPr>
        <p:spPr>
          <a:xfrm>
            <a:off x="7635240" y="3474720"/>
            <a:ext cx="40233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pitchFamily="34" charset="0"/>
                <a:ea typeface="Meiryo" pitchFamily="34" charset="-122"/>
                <a:cs typeface="Meiryo" pitchFamily="34" charset="-120"/>
              </a:rPr>
              <a:t>リスク分析（情報資産・脅威・優先順位付け）</a:t>
            </a:r>
            <a:endParaRPr lang="en-US" sz="1200" dirty="0"/>
          </a:p>
        </p:txBody>
      </p:sp>
      <p:sp>
        <p:nvSpPr>
          <p:cNvPr id="26" name="Shape 24"/>
          <p:cNvSpPr/>
          <p:nvPr/>
        </p:nvSpPr>
        <p:spPr>
          <a:xfrm>
            <a:off x="7086600" y="4078224"/>
            <a:ext cx="384048" cy="384048"/>
          </a:xfrm>
          <a:prstGeom prst="ellipse">
            <a:avLst/>
          </a:prstGeom>
          <a:solidFill>
            <a:srgbClr val="1C7293"/>
          </a:solidFill>
          <a:ln/>
        </p:spPr>
        <p:txBody>
          <a:bodyPr/>
          <a:lstStyle/>
          <a:p>
            <a:endParaRPr lang="ja-JP" altLang="en-US"/>
          </a:p>
        </p:txBody>
      </p:sp>
      <p:sp>
        <p:nvSpPr>
          <p:cNvPr id="27" name="Text 25"/>
          <p:cNvSpPr/>
          <p:nvPr/>
        </p:nvSpPr>
        <p:spPr>
          <a:xfrm>
            <a:off x="7086600" y="40782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28" name="Text 26"/>
          <p:cNvSpPr/>
          <p:nvPr/>
        </p:nvSpPr>
        <p:spPr>
          <a:xfrm>
            <a:off x="7635240" y="4041648"/>
            <a:ext cx="40233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pitchFamily="34" charset="0"/>
                <a:ea typeface="Meiryo" pitchFamily="34" charset="-122"/>
                <a:cs typeface="Meiryo" pitchFamily="34" charset="-120"/>
              </a:rPr>
              <a:t>基本規定「7. 事件・事故の対応」の改訂</a:t>
            </a:r>
            <a:endParaRPr lang="en-US" sz="1200" dirty="0"/>
          </a:p>
        </p:txBody>
      </p:sp>
      <p:sp>
        <p:nvSpPr>
          <p:cNvPr id="29" name="Shape 27"/>
          <p:cNvSpPr/>
          <p:nvPr/>
        </p:nvSpPr>
        <p:spPr>
          <a:xfrm>
            <a:off x="7086600" y="4645152"/>
            <a:ext cx="384048" cy="384048"/>
          </a:xfrm>
          <a:prstGeom prst="ellipse">
            <a:avLst/>
          </a:prstGeom>
          <a:solidFill>
            <a:srgbClr val="1C7293"/>
          </a:solidFill>
          <a:ln/>
        </p:spPr>
        <p:txBody>
          <a:bodyPr/>
          <a:lstStyle/>
          <a:p>
            <a:endParaRPr lang="ja-JP" altLang="en-US"/>
          </a:p>
        </p:txBody>
      </p:sp>
      <p:sp>
        <p:nvSpPr>
          <p:cNvPr id="30" name="Text 28"/>
          <p:cNvSpPr/>
          <p:nvPr/>
        </p:nvSpPr>
        <p:spPr>
          <a:xfrm>
            <a:off x="7086600" y="464515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31" name="Text 29"/>
          <p:cNvSpPr/>
          <p:nvPr/>
        </p:nvSpPr>
        <p:spPr>
          <a:xfrm>
            <a:off x="7635240" y="4608576"/>
            <a:ext cx="40233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pitchFamily="34" charset="0"/>
                <a:ea typeface="Meiryo" pitchFamily="34" charset="-122"/>
                <a:cs typeface="Meiryo" pitchFamily="34" charset="-120"/>
              </a:rPr>
              <a:t>対策基準（事件・事故対応）の作成</a:t>
            </a:r>
            <a:endParaRPr lang="en-US" sz="1200" dirty="0"/>
          </a:p>
        </p:txBody>
      </p:sp>
      <p:sp>
        <p:nvSpPr>
          <p:cNvPr id="32" name="Shape 30"/>
          <p:cNvSpPr/>
          <p:nvPr/>
        </p:nvSpPr>
        <p:spPr>
          <a:xfrm>
            <a:off x="7086600" y="5212080"/>
            <a:ext cx="384048" cy="384048"/>
          </a:xfrm>
          <a:prstGeom prst="ellipse">
            <a:avLst/>
          </a:prstGeom>
          <a:solidFill>
            <a:srgbClr val="1C7293"/>
          </a:solidFill>
          <a:ln/>
        </p:spPr>
        <p:txBody>
          <a:bodyPr/>
          <a:lstStyle/>
          <a:p>
            <a:endParaRPr lang="ja-JP" altLang="en-US"/>
          </a:p>
        </p:txBody>
      </p:sp>
      <p:sp>
        <p:nvSpPr>
          <p:cNvPr id="33" name="Text 31"/>
          <p:cNvSpPr/>
          <p:nvPr/>
        </p:nvSpPr>
        <p:spPr>
          <a:xfrm>
            <a:off x="7086600" y="5212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34" name="Text 32"/>
          <p:cNvSpPr/>
          <p:nvPr/>
        </p:nvSpPr>
        <p:spPr>
          <a:xfrm>
            <a:off x="7635240" y="5175504"/>
            <a:ext cx="40233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pitchFamily="34" charset="0"/>
                <a:ea typeface="Meiryo" pitchFamily="34" charset="-122"/>
                <a:cs typeface="Meiryo" pitchFamily="34" charset="-120"/>
              </a:rPr>
              <a:t>基本規定 その他必要箇所の改訂</a:t>
            </a:r>
            <a:endParaRPr lang="en-US" sz="1200" dirty="0"/>
          </a:p>
        </p:txBody>
      </p:sp>
      <p:sp>
        <p:nvSpPr>
          <p:cNvPr id="35" name="Text 33"/>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36" name="Text 34"/>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Meiryo" pitchFamily="34" charset="0"/>
                <a:ea typeface="Meiryo" pitchFamily="34" charset="-122"/>
                <a:cs typeface="Meiryo" pitchFamily="34" charset="-120"/>
              </a:rPr>
              <a:t>参考：全体像</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600" b="1" dirty="0">
                <a:solidFill>
                  <a:srgbClr val="0F2A47"/>
                </a:solidFill>
                <a:latin typeface="Meiryo" pitchFamily="34" charset="0"/>
                <a:ea typeface="Meiryo" pitchFamily="34" charset="-122"/>
                <a:cs typeface="Meiryo" pitchFamily="34" charset="-120"/>
              </a:rPr>
              <a:t>情報セキュリティポリシーの体系と本改訂の位置づけ</a:t>
            </a:r>
            <a:endParaRPr lang="en-US" sz="2600" dirty="0"/>
          </a:p>
        </p:txBody>
      </p:sp>
      <p:sp>
        <p:nvSpPr>
          <p:cNvPr id="4" name="Shape 2"/>
          <p:cNvSpPr/>
          <p:nvPr/>
        </p:nvSpPr>
        <p:spPr>
          <a:xfrm>
            <a:off x="3396996" y="1600200"/>
            <a:ext cx="5394960" cy="932688"/>
          </a:xfrm>
          <a:prstGeom prst="roundRect">
            <a:avLst>
              <a:gd name="adj" fmla="val 5882"/>
            </a:avLst>
          </a:prstGeom>
          <a:solidFill>
            <a:srgbClr val="0B4F71"/>
          </a:solidFill>
          <a:ln/>
          <a:effectLst>
            <a:outerShdw blurRad="88900" dist="38100" dir="5400000" algn="bl" rotWithShape="0">
              <a:srgbClr val="0F2A47">
                <a:alpha val="16000"/>
              </a:srgbClr>
            </a:outerShdw>
          </a:effectLst>
        </p:spPr>
        <p:txBody>
          <a:bodyPr/>
          <a:lstStyle/>
          <a:p>
            <a:endParaRPr lang="ja-JP" altLang="en-US"/>
          </a:p>
        </p:txBody>
      </p:sp>
      <p:sp>
        <p:nvSpPr>
          <p:cNvPr id="5" name="Text 3"/>
          <p:cNvSpPr/>
          <p:nvPr/>
        </p:nvSpPr>
        <p:spPr>
          <a:xfrm>
            <a:off x="3671316" y="1719072"/>
            <a:ext cx="48463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pitchFamily="34" charset="0"/>
                <a:ea typeface="Meiryo" pitchFamily="34" charset="-122"/>
                <a:cs typeface="Meiryo" pitchFamily="34" charset="-120"/>
              </a:rPr>
              <a:t>基本方針（ポリシー）</a:t>
            </a:r>
            <a:endParaRPr lang="en-US" sz="1600" dirty="0"/>
          </a:p>
        </p:txBody>
      </p:sp>
      <p:sp>
        <p:nvSpPr>
          <p:cNvPr id="6" name="Text 4"/>
          <p:cNvSpPr/>
          <p:nvPr/>
        </p:nvSpPr>
        <p:spPr>
          <a:xfrm>
            <a:off x="3671316" y="2103120"/>
            <a:ext cx="4846320" cy="365760"/>
          </a:xfrm>
          <a:prstGeom prst="rect">
            <a:avLst/>
          </a:prstGeom>
          <a:noFill/>
          <a:ln/>
        </p:spPr>
        <p:txBody>
          <a:bodyPr wrap="square" lIns="0" tIns="0" rIns="0" bIns="0" rtlCol="0" anchor="ctr"/>
          <a:lstStyle/>
          <a:p>
            <a:pPr marL="0" indent="0" algn="ctr">
              <a:buNone/>
            </a:pPr>
            <a:r>
              <a:rPr lang="en-US" sz="1100" dirty="0">
                <a:solidFill>
                  <a:srgbClr val="F2F7FA"/>
                </a:solidFill>
                <a:latin typeface="Meiryo" pitchFamily="34" charset="0"/>
                <a:ea typeface="Meiryo" pitchFamily="34" charset="-122"/>
                <a:cs typeface="Meiryo" pitchFamily="34" charset="-120"/>
              </a:rPr>
              <a:t>経営としての宣言・方針（別紙第2-1）</a:t>
            </a:r>
            <a:endParaRPr lang="en-US" sz="1100" dirty="0"/>
          </a:p>
        </p:txBody>
      </p:sp>
      <p:sp>
        <p:nvSpPr>
          <p:cNvPr id="7" name="Shape 5"/>
          <p:cNvSpPr/>
          <p:nvPr/>
        </p:nvSpPr>
        <p:spPr>
          <a:xfrm>
            <a:off x="2894076" y="2697480"/>
            <a:ext cx="6400800" cy="932688"/>
          </a:xfrm>
          <a:prstGeom prst="roundRect">
            <a:avLst>
              <a:gd name="adj" fmla="val 5882"/>
            </a:avLst>
          </a:prstGeom>
          <a:solidFill>
            <a:srgbClr val="1C7293"/>
          </a:solidFill>
          <a:ln/>
          <a:effectLst>
            <a:outerShdw blurRad="88900" dist="38100" dir="5400000" algn="bl" rotWithShape="0">
              <a:srgbClr val="0F2A47">
                <a:alpha val="16000"/>
              </a:srgbClr>
            </a:outerShdw>
          </a:effectLst>
        </p:spPr>
        <p:txBody>
          <a:bodyPr/>
          <a:lstStyle/>
          <a:p>
            <a:endParaRPr lang="ja-JP" altLang="en-US"/>
          </a:p>
        </p:txBody>
      </p:sp>
      <p:sp>
        <p:nvSpPr>
          <p:cNvPr id="8" name="Text 6"/>
          <p:cNvSpPr/>
          <p:nvPr/>
        </p:nvSpPr>
        <p:spPr>
          <a:xfrm>
            <a:off x="3168396" y="2816352"/>
            <a:ext cx="58521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pitchFamily="34" charset="0"/>
                <a:ea typeface="Meiryo" pitchFamily="34" charset="-122"/>
                <a:cs typeface="Meiryo" pitchFamily="34" charset="-120"/>
              </a:rPr>
              <a:t>基本規定</a:t>
            </a:r>
            <a:endParaRPr lang="en-US" sz="1600" dirty="0"/>
          </a:p>
        </p:txBody>
      </p:sp>
      <p:sp>
        <p:nvSpPr>
          <p:cNvPr id="9" name="Text 7"/>
          <p:cNvSpPr/>
          <p:nvPr/>
        </p:nvSpPr>
        <p:spPr>
          <a:xfrm>
            <a:off x="3168396" y="3200400"/>
            <a:ext cx="5852160" cy="365760"/>
          </a:xfrm>
          <a:prstGeom prst="rect">
            <a:avLst/>
          </a:prstGeom>
          <a:noFill/>
          <a:ln/>
        </p:spPr>
        <p:txBody>
          <a:bodyPr wrap="square" lIns="0" tIns="0" rIns="0" bIns="0" rtlCol="0" anchor="ctr"/>
          <a:lstStyle/>
          <a:p>
            <a:pPr marL="0" indent="0" algn="ctr">
              <a:buNone/>
            </a:pPr>
            <a:r>
              <a:rPr lang="en-US" sz="1100" dirty="0">
                <a:solidFill>
                  <a:srgbClr val="F2F7FA"/>
                </a:solidFill>
                <a:latin typeface="Meiryo" pitchFamily="34" charset="0"/>
                <a:ea typeface="Meiryo" pitchFamily="34" charset="-122"/>
                <a:cs typeface="Meiryo" pitchFamily="34" charset="-120"/>
              </a:rPr>
              <a:t>遵守すべき統一ルール（別紙第2-2〜5）　★7. を改訂</a:t>
            </a:r>
            <a:endParaRPr lang="en-US" sz="1100" dirty="0"/>
          </a:p>
        </p:txBody>
      </p:sp>
      <p:sp>
        <p:nvSpPr>
          <p:cNvPr id="10" name="Shape 8"/>
          <p:cNvSpPr/>
          <p:nvPr/>
        </p:nvSpPr>
        <p:spPr>
          <a:xfrm>
            <a:off x="2391156" y="3794760"/>
            <a:ext cx="7406640" cy="932688"/>
          </a:xfrm>
          <a:prstGeom prst="roundRect">
            <a:avLst>
              <a:gd name="adj" fmla="val 5882"/>
            </a:avLst>
          </a:prstGeom>
          <a:solidFill>
            <a:srgbClr val="E0A63C"/>
          </a:solidFill>
          <a:ln/>
          <a:effectLst>
            <a:outerShdw blurRad="88900" dist="38100" dir="5400000" algn="bl" rotWithShape="0">
              <a:srgbClr val="0F2A47">
                <a:alpha val="16000"/>
              </a:srgbClr>
            </a:outerShdw>
          </a:effectLst>
        </p:spPr>
        <p:txBody>
          <a:bodyPr/>
          <a:lstStyle/>
          <a:p>
            <a:endParaRPr lang="ja-JP" altLang="en-US"/>
          </a:p>
        </p:txBody>
      </p:sp>
      <p:sp>
        <p:nvSpPr>
          <p:cNvPr id="11" name="Text 9"/>
          <p:cNvSpPr/>
          <p:nvPr/>
        </p:nvSpPr>
        <p:spPr>
          <a:xfrm>
            <a:off x="2665476" y="3913632"/>
            <a:ext cx="68580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pitchFamily="34" charset="0"/>
                <a:ea typeface="Meiryo" pitchFamily="34" charset="-122"/>
                <a:cs typeface="Meiryo" pitchFamily="34" charset="-120"/>
              </a:rPr>
              <a:t>対策基準（スタンダード）</a:t>
            </a:r>
            <a:endParaRPr lang="en-US" sz="1600" dirty="0"/>
          </a:p>
        </p:txBody>
      </p:sp>
      <p:sp>
        <p:nvSpPr>
          <p:cNvPr id="12" name="Text 10"/>
          <p:cNvSpPr/>
          <p:nvPr/>
        </p:nvSpPr>
        <p:spPr>
          <a:xfrm>
            <a:off x="2665476" y="4297680"/>
            <a:ext cx="6858000" cy="365760"/>
          </a:xfrm>
          <a:prstGeom prst="rect">
            <a:avLst/>
          </a:prstGeom>
          <a:noFill/>
          <a:ln/>
        </p:spPr>
        <p:txBody>
          <a:bodyPr wrap="square" lIns="0" tIns="0" rIns="0" bIns="0" rtlCol="0" anchor="ctr"/>
          <a:lstStyle/>
          <a:p>
            <a:pPr marL="0" indent="0" algn="ctr">
              <a:buNone/>
            </a:pPr>
            <a:r>
              <a:rPr lang="en-US" sz="1100" dirty="0">
                <a:solidFill>
                  <a:srgbClr val="F2F7FA"/>
                </a:solidFill>
                <a:latin typeface="Meiryo" pitchFamily="34" charset="0"/>
                <a:ea typeface="Meiryo" pitchFamily="34" charset="-122"/>
                <a:cs typeface="Meiryo" pitchFamily="34" charset="-120"/>
              </a:rPr>
              <a:t>規定を実現する具体的な対策要件　★事件・事故対応を新規作成</a:t>
            </a:r>
            <a:endParaRPr lang="en-US" sz="1100" dirty="0"/>
          </a:p>
        </p:txBody>
      </p:sp>
      <p:sp>
        <p:nvSpPr>
          <p:cNvPr id="13" name="Shape 11"/>
          <p:cNvSpPr/>
          <p:nvPr/>
        </p:nvSpPr>
        <p:spPr>
          <a:xfrm>
            <a:off x="1888236" y="4892040"/>
            <a:ext cx="8412480" cy="932688"/>
          </a:xfrm>
          <a:prstGeom prst="roundRect">
            <a:avLst>
              <a:gd name="adj" fmla="val 5882"/>
            </a:avLst>
          </a:prstGeom>
          <a:solidFill>
            <a:srgbClr val="8AA0B2"/>
          </a:solidFill>
          <a:ln/>
          <a:effectLst>
            <a:outerShdw blurRad="88900" dist="38100" dir="5400000" algn="bl" rotWithShape="0">
              <a:srgbClr val="0F2A47">
                <a:alpha val="16000"/>
              </a:srgbClr>
            </a:outerShdw>
          </a:effectLst>
        </p:spPr>
        <p:txBody>
          <a:bodyPr/>
          <a:lstStyle/>
          <a:p>
            <a:endParaRPr lang="ja-JP" altLang="en-US"/>
          </a:p>
        </p:txBody>
      </p:sp>
      <p:sp>
        <p:nvSpPr>
          <p:cNvPr id="14" name="Text 12"/>
          <p:cNvSpPr/>
          <p:nvPr/>
        </p:nvSpPr>
        <p:spPr>
          <a:xfrm>
            <a:off x="2162556" y="5010912"/>
            <a:ext cx="78638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pitchFamily="34" charset="0"/>
                <a:ea typeface="Meiryo" pitchFamily="34" charset="-122"/>
                <a:cs typeface="Meiryo" pitchFamily="34" charset="-120"/>
              </a:rPr>
              <a:t>実施手順（プロシージャ）</a:t>
            </a:r>
            <a:endParaRPr lang="en-US" sz="1600" dirty="0"/>
          </a:p>
        </p:txBody>
      </p:sp>
      <p:sp>
        <p:nvSpPr>
          <p:cNvPr id="15" name="Text 13"/>
          <p:cNvSpPr/>
          <p:nvPr/>
        </p:nvSpPr>
        <p:spPr>
          <a:xfrm>
            <a:off x="2162556" y="5394960"/>
            <a:ext cx="7863840" cy="365760"/>
          </a:xfrm>
          <a:prstGeom prst="rect">
            <a:avLst/>
          </a:prstGeom>
          <a:noFill/>
          <a:ln/>
        </p:spPr>
        <p:txBody>
          <a:bodyPr wrap="square" lIns="0" tIns="0" rIns="0" bIns="0" rtlCol="0" anchor="ctr"/>
          <a:lstStyle/>
          <a:p>
            <a:pPr marL="0" indent="0" algn="ctr">
              <a:buNone/>
            </a:pPr>
            <a:r>
              <a:rPr lang="en-US" sz="1100" dirty="0">
                <a:solidFill>
                  <a:srgbClr val="F2F7FA"/>
                </a:solidFill>
                <a:latin typeface="Meiryo" pitchFamily="34" charset="0"/>
                <a:ea typeface="Meiryo" pitchFamily="34" charset="-122"/>
                <a:cs typeface="Meiryo" pitchFamily="34" charset="-120"/>
              </a:rPr>
              <a:t>現場での作業手順・マニュアル（今後整備）</a:t>
            </a:r>
            <a:endParaRPr lang="en-US" sz="1100" dirty="0"/>
          </a:p>
        </p:txBody>
      </p:sp>
      <p:sp>
        <p:nvSpPr>
          <p:cNvPr id="16" name="Text 14"/>
          <p:cNvSpPr/>
          <p:nvPr/>
        </p:nvSpPr>
        <p:spPr>
          <a:xfrm>
            <a:off x="1188720" y="6053328"/>
            <a:ext cx="9784080" cy="320040"/>
          </a:xfrm>
          <a:prstGeom prst="rect">
            <a:avLst/>
          </a:prstGeom>
          <a:noFill/>
          <a:ln/>
        </p:spPr>
        <p:txBody>
          <a:bodyPr wrap="square" lIns="0" tIns="0" rIns="0" bIns="0" rtlCol="0" anchor="ctr"/>
          <a:lstStyle/>
          <a:p>
            <a:pPr marL="0" indent="0" algn="ctr">
              <a:buNone/>
            </a:pPr>
            <a:r>
              <a:rPr lang="en-US" sz="1050" i="1" dirty="0">
                <a:solidFill>
                  <a:srgbClr val="5B6B7B"/>
                </a:solidFill>
                <a:latin typeface="Meiryo" pitchFamily="34" charset="0"/>
                <a:ea typeface="Meiryo" pitchFamily="34" charset="-122"/>
                <a:cs typeface="Meiryo" pitchFamily="34" charset="-120"/>
              </a:rPr>
              <a:t>上位文書ほど抽象的・安定的、下位文書ほど具体的・可変的。本レポートは★の2階層を対象とする。</a:t>
            </a:r>
            <a:endParaRPr lang="en-US" sz="1050" dirty="0"/>
          </a:p>
        </p:txBody>
      </p:sp>
      <p:sp>
        <p:nvSpPr>
          <p:cNvPr id="17" name="Text 15"/>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18" name="Text 16"/>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Meiryo" pitchFamily="34" charset="0"/>
                <a:ea typeface="Meiryo" pitchFamily="34" charset="-122"/>
                <a:cs typeface="Meiryo" pitchFamily="34" charset="-120"/>
              </a:rPr>
              <a:t>2. リスク分析 ①</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600" b="1" dirty="0">
                <a:solidFill>
                  <a:srgbClr val="0F2A47"/>
                </a:solidFill>
                <a:latin typeface="Meiryo" pitchFamily="34" charset="0"/>
                <a:ea typeface="Meiryo" pitchFamily="34" charset="-122"/>
                <a:cs typeface="Meiryo" pitchFamily="34" charset="-120"/>
              </a:rPr>
              <a:t>情報資産の洗い出し（別紙2-2「適用範囲」の具体化）</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4535424"/>
        </p:xfrm>
        <a:graphic>
          <a:graphicData uri="http://schemas.openxmlformats.org/drawingml/2006/table">
            <a:tbl>
              <a:tblPr/>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566928">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分類</a:t>
                      </a:r>
                      <a:endParaRPr lang="en-US" sz="120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具体的な情報資産</a:t>
                      </a:r>
                      <a:endParaRPr lang="en-US" sz="120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extLst>
                  <a:ext uri="{0D108BD9-81ED-4DB2-BD59-A6C34878D82A}">
                    <a16:rowId xmlns:a16="http://schemas.microsoft.com/office/drawing/2014/main" val="10000"/>
                  </a:ext>
                </a:extLst>
              </a:tr>
              <a:tr h="566928">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顧客個人情報</a:t>
                      </a:r>
                      <a:endParaRPr lang="en-US" sz="110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50" dirty="0">
                          <a:solidFill>
                            <a:srgbClr val="1E293B"/>
                          </a:solidFill>
                          <a:latin typeface="Meiryo" pitchFamily="34" charset="0"/>
                          <a:ea typeface="Meiryo" pitchFamily="34" charset="-122"/>
                          <a:cs typeface="Meiryo" pitchFamily="34" charset="-120"/>
                        </a:rPr>
                        <a:t>氏名・住所・電話・メール・生年月日、旅券（パスポート）番号、クレジットカード・決済情報、渡航・予約履歴</a:t>
                      </a:r>
                      <a:endParaRPr lang="en-US" sz="105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EU居住者の個人データ</a:t>
                      </a:r>
                      <a:endParaRPr lang="en-US" sz="110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50" dirty="0">
                          <a:solidFill>
                            <a:srgbClr val="1E293B"/>
                          </a:solidFill>
                          <a:latin typeface="Meiryo" pitchFamily="34" charset="0"/>
                          <a:ea typeface="Meiryo" pitchFamily="34" charset="-122"/>
                          <a:cs typeface="Meiryo" pitchFamily="34" charset="-120"/>
                        </a:rPr>
                        <a:t>EU からの観光客の予約・決済・渡航情報（GDPR の対象。域外適用に留意）</a:t>
                      </a:r>
                      <a:endParaRPr lang="en-US" sz="105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予約・取引データ</a:t>
                      </a:r>
                      <a:endParaRPr lang="en-US" sz="110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50" dirty="0">
                          <a:solidFill>
                            <a:srgbClr val="1E293B"/>
                          </a:solidFill>
                          <a:latin typeface="Meiryo" pitchFamily="34" charset="0"/>
                          <a:ea typeface="Meiryo" pitchFamily="34" charset="-122"/>
                          <a:cs typeface="Meiryo" pitchFamily="34" charset="-120"/>
                        </a:rPr>
                        <a:t>旅行予約記録、航空券手配データ、損害保険契約情報、両替取引記録、売上・会計データ</a:t>
                      </a:r>
                      <a:endParaRPr lang="en-US" sz="105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取引先・委託先情報</a:t>
                      </a:r>
                      <a:endParaRPr lang="en-US" sz="110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50" dirty="0">
                          <a:solidFill>
                            <a:srgbClr val="1E293B"/>
                          </a:solidFill>
                          <a:latin typeface="Meiryo" pitchFamily="34" charset="0"/>
                          <a:ea typeface="Meiryo" pitchFamily="34" charset="-122"/>
                          <a:cs typeface="Meiryo" pitchFamily="34" charset="-120"/>
                        </a:rPr>
                        <a:t>航空・宿泊・保険会社等との契約情報、SOC 等委託先との連携・認証情報</a:t>
                      </a:r>
                      <a:endParaRPr lang="en-US" sz="105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従業員情報</a:t>
                      </a:r>
                      <a:endParaRPr lang="en-US" sz="110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50" dirty="0">
                          <a:solidFill>
                            <a:srgbClr val="1E293B"/>
                          </a:solidFill>
                          <a:latin typeface="Meiryo" pitchFamily="34" charset="0"/>
                          <a:ea typeface="Meiryo" pitchFamily="34" charset="-122"/>
                          <a:cs typeface="Meiryo" pitchFamily="34" charset="-120"/>
                        </a:rPr>
                        <a:t>人事・給与・評価情報、マイナンバー、健康情報（従業員30名）</a:t>
                      </a:r>
                      <a:endParaRPr lang="en-US" sz="105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事業ノウハウ・データ</a:t>
                      </a:r>
                      <a:endParaRPr lang="en-US" sz="110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50" dirty="0">
                          <a:solidFill>
                            <a:srgbClr val="1E293B"/>
                          </a:solidFill>
                          <a:latin typeface="Meiryo" pitchFamily="34" charset="0"/>
                          <a:ea typeface="Meiryo" pitchFamily="34" charset="-122"/>
                          <a:cs typeface="Meiryo" pitchFamily="34" charset="-120"/>
                        </a:rPr>
                        <a:t>観光調査・企画資料、顧客データベース、EC サイト運営・販促データ、営業秘密</a:t>
                      </a:r>
                      <a:endParaRPr lang="en-US" sz="105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6"/>
                  </a:ext>
                </a:extLst>
              </a:tr>
              <a:tr h="566928">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情報システム・設備</a:t>
                      </a:r>
                      <a:endParaRPr lang="en-US" sz="110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50" dirty="0">
                          <a:solidFill>
                            <a:srgbClr val="1E293B"/>
                          </a:solidFill>
                          <a:latin typeface="Meiryo" pitchFamily="34" charset="0"/>
                          <a:ea typeface="Meiryo" pitchFamily="34" charset="-122"/>
                          <a:cs typeface="Meiryo" pitchFamily="34" charset="-120"/>
                        </a:rPr>
                        <a:t>予約システム、EC サイト、両替業システム、社内 NW、サーバ、業務PC・モバイル端末</a:t>
                      </a:r>
                      <a:endParaRPr lang="en-US" sz="1050" dirty="0">
                        <a:latin typeface="Meiryo" charset="0"/>
                        <a:ea typeface="Meiryo" charset="0"/>
                        <a:cs typeface="Meiryo" charset="0"/>
                      </a:endParaRPr>
                    </a:p>
                  </a:txBody>
                  <a:tcPr marL="76200" marR="762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Text 2"/>
          <p:cNvSpPr/>
          <p:nvPr/>
        </p:nvSpPr>
        <p:spPr>
          <a:xfrm>
            <a:off x="548640" y="6144768"/>
            <a:ext cx="11064240" cy="274320"/>
          </a:xfrm>
          <a:prstGeom prst="rect">
            <a:avLst/>
          </a:prstGeom>
          <a:noFill/>
          <a:ln/>
        </p:spPr>
        <p:txBody>
          <a:bodyPr wrap="square" lIns="0" tIns="0" rIns="0" bIns="0" rtlCol="0" anchor="ctr"/>
          <a:lstStyle/>
          <a:p>
            <a:pPr marL="0" indent="0">
              <a:buNone/>
            </a:pPr>
            <a:r>
              <a:rPr lang="en-US" sz="950" i="1" dirty="0">
                <a:solidFill>
                  <a:srgbClr val="5B6B7B"/>
                </a:solidFill>
                <a:latin typeface="Meiryo" pitchFamily="34" charset="0"/>
                <a:ea typeface="Meiryo" pitchFamily="34" charset="-122"/>
                <a:cs typeface="Meiryo" pitchFamily="34" charset="-120"/>
              </a:rPr>
              <a:t>※ 別紙2-2の「情報・データ・ノウハウ」「情報システム・ネットワーク・設備」を業務内容（旅行業・両替業・EC）に即して具体化。</a:t>
            </a:r>
            <a:endParaRPr lang="en-US" sz="950" dirty="0"/>
          </a:p>
        </p:txBody>
      </p:sp>
      <p:sp>
        <p:nvSpPr>
          <p:cNvPr id="6" name="Text 3"/>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7" name="Text 4"/>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Meiryo" pitchFamily="34" charset="0"/>
                <a:ea typeface="Meiryo" pitchFamily="34" charset="-122"/>
                <a:cs typeface="Meiryo" pitchFamily="34" charset="-120"/>
              </a:rPr>
              <a:t>2. リスク分析 ②</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600" b="1" dirty="0">
                <a:solidFill>
                  <a:srgbClr val="0F2A47"/>
                </a:solidFill>
                <a:latin typeface="Meiryo" pitchFamily="34" charset="0"/>
                <a:ea typeface="Meiryo" pitchFamily="34" charset="-122"/>
                <a:cs typeface="Meiryo" pitchFamily="34" charset="-120"/>
              </a:rPr>
              <a:t>脅威の特定・発生可能性・影響度の把握</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4572000"/>
        </p:xfrm>
        <a:graphic>
          <a:graphicData uri="http://schemas.openxmlformats.org/drawingml/2006/table">
            <a:tbl>
              <a:tblPr/>
              <a:tblGrid>
                <a:gridCol w="64008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4389120">
                  <a:extLst>
                    <a:ext uri="{9D8B030D-6E8A-4147-A177-3AD203B41FA5}">
                      <a16:colId xmlns:a16="http://schemas.microsoft.com/office/drawing/2014/main" val="20004"/>
                    </a:ext>
                  </a:extLst>
                </a:gridCol>
              </a:tblGrid>
              <a:tr h="45720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No</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脅威</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発生</a:t>
                      </a:r>
                      <a:endParaRPr lang="en-US" sz="1100" dirty="0">
                        <a:latin typeface="Meiryo" charset="0"/>
                        <a:ea typeface="Meiryo" charset="0"/>
                        <a:cs typeface="Meiryo" charset="0"/>
                      </a:endParaRPr>
                    </a:p>
                    <a:p>
                      <a:pPr marL="0" indent="0" algn="ctr">
                        <a:buNone/>
                      </a:pPr>
                      <a:r>
                        <a:rPr lang="en-US" sz="1100" b="1" dirty="0">
                          <a:solidFill>
                            <a:srgbClr val="FFFFFF"/>
                          </a:solidFill>
                          <a:latin typeface="Meiryo" pitchFamily="34" charset="0"/>
                          <a:ea typeface="Meiryo" pitchFamily="34" charset="-122"/>
                          <a:cs typeface="Meiryo" pitchFamily="34" charset="-120"/>
                        </a:rPr>
                        <a:t>可能性</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影響度</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想定される被害</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extLst>
                  <a:ext uri="{0D108BD9-81ED-4DB2-BD59-A6C34878D82A}">
                    <a16:rowId xmlns:a16="http://schemas.microsoft.com/office/drawing/2014/main" val="10000"/>
                  </a:ext>
                </a:extLst>
              </a:tr>
              <a:tr h="45720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T1</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B4F71"/>
                    </a:solidFill>
                  </a:tcPr>
                </a:tc>
                <a:tc>
                  <a:txBody>
                    <a:bodyPr/>
                    <a:lstStyle/>
                    <a:p>
                      <a:pPr marL="0" indent="0" algn="l">
                        <a:buNone/>
                      </a:pPr>
                      <a:r>
                        <a:rPr lang="en-US" sz="1050" b="1" dirty="0">
                          <a:solidFill>
                            <a:srgbClr val="1E293B"/>
                          </a:solidFill>
                          <a:latin typeface="Meiryo" pitchFamily="34" charset="0"/>
                          <a:ea typeface="Meiryo" pitchFamily="34" charset="-122"/>
                          <a:cs typeface="Meiryo" pitchFamily="34" charset="-120"/>
                        </a:rPr>
                        <a:t>ランサムウェア・マルウェア感染</a:t>
                      </a:r>
                      <a:endParaRPr lang="en-US" sz="105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l">
                        <a:buNone/>
                      </a:pPr>
                      <a:r>
                        <a:rPr lang="en-US" sz="1030" dirty="0">
                          <a:solidFill>
                            <a:srgbClr val="1E293B"/>
                          </a:solidFill>
                          <a:latin typeface="Meiryo" pitchFamily="34" charset="0"/>
                          <a:ea typeface="Meiryo" pitchFamily="34" charset="-122"/>
                          <a:cs typeface="Meiryo" pitchFamily="34" charset="-120"/>
                        </a:rPr>
                        <a:t>業務システム停止・データ暗号化・身代金要求</a:t>
                      </a:r>
                      <a:endParaRPr lang="en-US" sz="103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T2</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B4F71"/>
                    </a:solidFill>
                  </a:tcPr>
                </a:tc>
                <a:tc>
                  <a:txBody>
                    <a:bodyPr/>
                    <a:lstStyle/>
                    <a:p>
                      <a:pPr marL="0" indent="0" algn="l">
                        <a:buNone/>
                      </a:pPr>
                      <a:r>
                        <a:rPr lang="en-US" sz="1050" b="1" dirty="0">
                          <a:solidFill>
                            <a:srgbClr val="1E293B"/>
                          </a:solidFill>
                          <a:latin typeface="Meiryo" pitchFamily="34" charset="0"/>
                          <a:ea typeface="Meiryo" pitchFamily="34" charset="-122"/>
                          <a:cs typeface="Meiryo" pitchFamily="34" charset="-120"/>
                        </a:rPr>
                        <a:t>標的型攻撃・不正アクセスによる個人情報漏えい</a:t>
                      </a:r>
                      <a:endParaRPr lang="en-US" sz="105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l">
                        <a:buNone/>
                      </a:pPr>
                      <a:r>
                        <a:rPr lang="en-US" sz="1030" dirty="0">
                          <a:solidFill>
                            <a:srgbClr val="1E293B"/>
                          </a:solidFill>
                          <a:latin typeface="Meiryo" pitchFamily="34" charset="0"/>
                          <a:ea typeface="Meiryo" pitchFamily="34" charset="-122"/>
                          <a:cs typeface="Meiryo" pitchFamily="34" charset="-120"/>
                        </a:rPr>
                        <a:t>大量の顧客個人情報流出、GDPR 制裁金・信用失墜</a:t>
                      </a:r>
                      <a:endParaRPr lang="en-US" sz="103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T3</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B4F71"/>
                    </a:solidFill>
                  </a:tcPr>
                </a:tc>
                <a:tc>
                  <a:txBody>
                    <a:bodyPr/>
                    <a:lstStyle/>
                    <a:p>
                      <a:pPr marL="0" indent="0" algn="l">
                        <a:buNone/>
                      </a:pPr>
                      <a:r>
                        <a:rPr lang="en-US" sz="1050" b="1" dirty="0">
                          <a:solidFill>
                            <a:srgbClr val="1E293B"/>
                          </a:solidFill>
                          <a:latin typeface="Meiryo" pitchFamily="34" charset="0"/>
                          <a:ea typeface="Meiryo" pitchFamily="34" charset="-122"/>
                          <a:cs typeface="Meiryo" pitchFamily="34" charset="-120"/>
                        </a:rPr>
                        <a:t>委託先（SOC 含む）経由の情報漏えい</a:t>
                      </a:r>
                      <a:endParaRPr lang="en-US" sz="105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08A2B"/>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l">
                        <a:buNone/>
                      </a:pPr>
                      <a:r>
                        <a:rPr lang="en-US" sz="1030" dirty="0">
                          <a:solidFill>
                            <a:srgbClr val="1E293B"/>
                          </a:solidFill>
                          <a:latin typeface="Meiryo" pitchFamily="34" charset="0"/>
                          <a:ea typeface="Meiryo" pitchFamily="34" charset="-122"/>
                          <a:cs typeface="Meiryo" pitchFamily="34" charset="-120"/>
                        </a:rPr>
                        <a:t>監視データ・認証情報の漏えい、責任分界の不明確化</a:t>
                      </a:r>
                      <a:endParaRPr lang="en-US" sz="103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T4</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B4F71"/>
                    </a:solidFill>
                  </a:tcPr>
                </a:tc>
                <a:tc>
                  <a:txBody>
                    <a:bodyPr/>
                    <a:lstStyle/>
                    <a:p>
                      <a:pPr marL="0" indent="0" algn="l">
                        <a:buNone/>
                      </a:pPr>
                      <a:r>
                        <a:rPr lang="en-US" sz="1050" b="1" dirty="0">
                          <a:solidFill>
                            <a:srgbClr val="1E293B"/>
                          </a:solidFill>
                          <a:latin typeface="Meiryo" pitchFamily="34" charset="0"/>
                          <a:ea typeface="Meiryo" pitchFamily="34" charset="-122"/>
                          <a:cs typeface="Meiryo" pitchFamily="34" charset="-120"/>
                        </a:rPr>
                        <a:t>内部不正・権限の濫用</a:t>
                      </a:r>
                      <a:endParaRPr lang="en-US" sz="105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08A2B"/>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l">
                        <a:buNone/>
                      </a:pPr>
                      <a:r>
                        <a:rPr lang="en-US" sz="1030" dirty="0">
                          <a:solidFill>
                            <a:srgbClr val="1E293B"/>
                          </a:solidFill>
                          <a:latin typeface="Meiryo" pitchFamily="34" charset="0"/>
                          <a:ea typeface="Meiryo" pitchFamily="34" charset="-122"/>
                          <a:cs typeface="Meiryo" pitchFamily="34" charset="-120"/>
                        </a:rPr>
                        <a:t>顧客DBの持ち出し・不正利用</a:t>
                      </a:r>
                      <a:endParaRPr lang="en-US" sz="103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T5</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B4F71"/>
                    </a:solidFill>
                  </a:tcPr>
                </a:tc>
                <a:tc>
                  <a:txBody>
                    <a:bodyPr/>
                    <a:lstStyle/>
                    <a:p>
                      <a:pPr marL="0" indent="0" algn="l">
                        <a:buNone/>
                      </a:pPr>
                      <a:r>
                        <a:rPr lang="en-US" sz="1050" b="1" dirty="0">
                          <a:solidFill>
                            <a:srgbClr val="1E293B"/>
                          </a:solidFill>
                          <a:latin typeface="Meiryo" pitchFamily="34" charset="0"/>
                          <a:ea typeface="Meiryo" pitchFamily="34" charset="-122"/>
                          <a:cs typeface="Meiryo" pitchFamily="34" charset="-120"/>
                        </a:rPr>
                        <a:t>メール誤送信・クラウド設定ミス</a:t>
                      </a:r>
                      <a:endParaRPr lang="en-US" sz="105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08A2B"/>
                    </a:solidFill>
                  </a:tcPr>
                </a:tc>
                <a:tc>
                  <a:txBody>
                    <a:bodyPr/>
                    <a:lstStyle/>
                    <a:p>
                      <a:pPr marL="0" indent="0" algn="l">
                        <a:buNone/>
                      </a:pPr>
                      <a:r>
                        <a:rPr lang="en-US" sz="1030" dirty="0">
                          <a:solidFill>
                            <a:srgbClr val="1E293B"/>
                          </a:solidFill>
                          <a:latin typeface="Meiryo" pitchFamily="34" charset="0"/>
                          <a:ea typeface="Meiryo" pitchFamily="34" charset="-122"/>
                          <a:cs typeface="Meiryo" pitchFamily="34" charset="-120"/>
                        </a:rPr>
                        <a:t>個人データの少量漏えい</a:t>
                      </a:r>
                      <a:endParaRPr lang="en-US" sz="103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T6</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B4F71"/>
                    </a:solidFill>
                  </a:tcPr>
                </a:tc>
                <a:tc>
                  <a:txBody>
                    <a:bodyPr/>
                    <a:lstStyle/>
                    <a:p>
                      <a:pPr marL="0" indent="0" algn="l">
                        <a:buNone/>
                      </a:pPr>
                      <a:r>
                        <a:rPr lang="en-US" sz="1050" b="1" dirty="0">
                          <a:solidFill>
                            <a:srgbClr val="1E293B"/>
                          </a:solidFill>
                          <a:latin typeface="Meiryo" pitchFamily="34" charset="0"/>
                          <a:ea typeface="Meiryo" pitchFamily="34" charset="-122"/>
                          <a:cs typeface="Meiryo" pitchFamily="34" charset="-120"/>
                        </a:rPr>
                        <a:t>PC・記録媒体・モバイル端末の紛失・盗難</a:t>
                      </a:r>
                      <a:endParaRPr lang="en-US" sz="105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08A2B"/>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08A2B"/>
                    </a:solidFill>
                  </a:tcPr>
                </a:tc>
                <a:tc>
                  <a:txBody>
                    <a:bodyPr/>
                    <a:lstStyle/>
                    <a:p>
                      <a:pPr marL="0" indent="0" algn="l">
                        <a:buNone/>
                      </a:pPr>
                      <a:r>
                        <a:rPr lang="en-US" sz="1030" dirty="0">
                          <a:solidFill>
                            <a:srgbClr val="1E293B"/>
                          </a:solidFill>
                          <a:latin typeface="Meiryo" pitchFamily="34" charset="0"/>
                          <a:ea typeface="Meiryo" pitchFamily="34" charset="-122"/>
                          <a:cs typeface="Meiryo" pitchFamily="34" charset="-120"/>
                        </a:rPr>
                        <a:t>端末内の顧客情報の漏えい</a:t>
                      </a:r>
                      <a:endParaRPr lang="en-US" sz="103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T7</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B4F71"/>
                    </a:solidFill>
                  </a:tcPr>
                </a:tc>
                <a:tc>
                  <a:txBody>
                    <a:bodyPr/>
                    <a:lstStyle/>
                    <a:p>
                      <a:pPr marL="0" indent="0" algn="l">
                        <a:buNone/>
                      </a:pPr>
                      <a:r>
                        <a:rPr lang="en-US" sz="1050" b="1" dirty="0">
                          <a:solidFill>
                            <a:srgbClr val="1E293B"/>
                          </a:solidFill>
                          <a:latin typeface="Meiryo" pitchFamily="34" charset="0"/>
                          <a:ea typeface="Meiryo" pitchFamily="34" charset="-122"/>
                          <a:cs typeface="Meiryo" pitchFamily="34" charset="-120"/>
                        </a:rPr>
                        <a:t>EC サイトの脆弱性（SQLi 等）・決済情報窃取</a:t>
                      </a:r>
                      <a:endParaRPr lang="en-US" sz="105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08A2B"/>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l">
                        <a:buNone/>
                      </a:pPr>
                      <a:r>
                        <a:rPr lang="en-US" sz="1030" dirty="0">
                          <a:solidFill>
                            <a:srgbClr val="1E293B"/>
                          </a:solidFill>
                          <a:latin typeface="Meiryo" pitchFamily="34" charset="0"/>
                          <a:ea typeface="Meiryo" pitchFamily="34" charset="-122"/>
                          <a:cs typeface="Meiryo" pitchFamily="34" charset="-120"/>
                        </a:rPr>
                        <a:t>クレジットカード・決済情報の漏えい</a:t>
                      </a:r>
                      <a:endParaRPr lang="en-US" sz="103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7"/>
                  </a:ext>
                </a:extLst>
              </a:tr>
              <a:tr h="45720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T8</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B4F71"/>
                    </a:solidFill>
                  </a:tcPr>
                </a:tc>
                <a:tc>
                  <a:txBody>
                    <a:bodyPr/>
                    <a:lstStyle/>
                    <a:p>
                      <a:pPr marL="0" indent="0" algn="l">
                        <a:buNone/>
                      </a:pPr>
                      <a:r>
                        <a:rPr lang="en-US" sz="1050" b="1" dirty="0">
                          <a:solidFill>
                            <a:srgbClr val="1E293B"/>
                          </a:solidFill>
                          <a:latin typeface="Meiryo" pitchFamily="34" charset="0"/>
                          <a:ea typeface="Meiryo" pitchFamily="34" charset="-122"/>
                          <a:cs typeface="Meiryo" pitchFamily="34" charset="-120"/>
                        </a:rPr>
                        <a:t>DDoS 攻撃・システム障害</a:t>
                      </a:r>
                      <a:endParaRPr lang="en-US" sz="105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08A2B"/>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08A2B"/>
                    </a:solidFill>
                  </a:tcPr>
                </a:tc>
                <a:tc>
                  <a:txBody>
                    <a:bodyPr/>
                    <a:lstStyle/>
                    <a:p>
                      <a:pPr marL="0" indent="0" algn="l">
                        <a:buNone/>
                      </a:pPr>
                      <a:r>
                        <a:rPr lang="en-US" sz="1030" dirty="0">
                          <a:solidFill>
                            <a:srgbClr val="1E293B"/>
                          </a:solidFill>
                          <a:latin typeface="Meiryo" pitchFamily="34" charset="0"/>
                          <a:ea typeface="Meiryo" pitchFamily="34" charset="-122"/>
                          <a:cs typeface="Meiryo" pitchFamily="34" charset="-120"/>
                        </a:rPr>
                        <a:t>予約サイト・EC の停止、機会損失</a:t>
                      </a:r>
                      <a:endParaRPr lang="en-US" sz="103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8"/>
                  </a:ext>
                </a:extLst>
              </a:tr>
              <a:tr h="45720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T9</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B4F71"/>
                    </a:solidFill>
                  </a:tcPr>
                </a:tc>
                <a:tc>
                  <a:txBody>
                    <a:bodyPr/>
                    <a:lstStyle/>
                    <a:p>
                      <a:pPr marL="0" indent="0" algn="l">
                        <a:buNone/>
                      </a:pPr>
                      <a:r>
                        <a:rPr lang="en-US" sz="1050" b="1" dirty="0">
                          <a:solidFill>
                            <a:srgbClr val="1E293B"/>
                          </a:solidFill>
                          <a:latin typeface="Meiryo" pitchFamily="34" charset="0"/>
                          <a:ea typeface="Meiryo" pitchFamily="34" charset="-122"/>
                          <a:cs typeface="Meiryo" pitchFamily="34" charset="-120"/>
                        </a:rPr>
                        <a:t>地震・火災・停電等の災害</a:t>
                      </a:r>
                      <a:endParaRPr lang="en-US" sz="105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低</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2E9B57"/>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l">
                        <a:buNone/>
                      </a:pPr>
                      <a:r>
                        <a:rPr lang="en-US" sz="1030" dirty="0">
                          <a:solidFill>
                            <a:srgbClr val="1E293B"/>
                          </a:solidFill>
                          <a:latin typeface="Meiryo" pitchFamily="34" charset="0"/>
                          <a:ea typeface="Meiryo" pitchFamily="34" charset="-122"/>
                          <a:cs typeface="Meiryo" pitchFamily="34" charset="-120"/>
                        </a:rPr>
                        <a:t>システム全停止・データ喪失</a:t>
                      </a:r>
                      <a:endParaRPr lang="en-US" sz="1030" dirty="0">
                        <a:latin typeface="Meiryo" charset="0"/>
                        <a:ea typeface="Meiryo" charset="0"/>
                        <a:cs typeface="Meiryo" charset="0"/>
                      </a:endParaRPr>
                    </a:p>
                  </a:txBody>
                  <a:tcPr marL="63500" marR="63500" marT="25400" marB="254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Shape 2"/>
          <p:cNvSpPr/>
          <p:nvPr/>
        </p:nvSpPr>
        <p:spPr>
          <a:xfrm>
            <a:off x="8138160" y="6199632"/>
            <a:ext cx="1097280" cy="310896"/>
          </a:xfrm>
          <a:prstGeom prst="roundRect">
            <a:avLst>
              <a:gd name="adj" fmla="val 50000"/>
            </a:avLst>
          </a:prstGeom>
          <a:solidFill>
            <a:srgbClr val="C0392B"/>
          </a:solidFill>
          <a:ln/>
        </p:spPr>
        <p:txBody>
          <a:bodyPr/>
          <a:lstStyle/>
          <a:p>
            <a:endParaRPr lang="ja-JP" altLang="en-US"/>
          </a:p>
        </p:txBody>
      </p:sp>
      <p:sp>
        <p:nvSpPr>
          <p:cNvPr id="4" name="Text 3"/>
          <p:cNvSpPr/>
          <p:nvPr/>
        </p:nvSpPr>
        <p:spPr>
          <a:xfrm>
            <a:off x="8138160" y="6199632"/>
            <a:ext cx="10972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高</a:t>
            </a:r>
            <a:endParaRPr lang="en-US" sz="1100" dirty="0"/>
          </a:p>
        </p:txBody>
      </p:sp>
      <p:sp>
        <p:nvSpPr>
          <p:cNvPr id="7" name="Shape 4"/>
          <p:cNvSpPr/>
          <p:nvPr/>
        </p:nvSpPr>
        <p:spPr>
          <a:xfrm>
            <a:off x="9326880" y="6199632"/>
            <a:ext cx="1097280" cy="310896"/>
          </a:xfrm>
          <a:prstGeom prst="roundRect">
            <a:avLst>
              <a:gd name="adj" fmla="val 50000"/>
            </a:avLst>
          </a:prstGeom>
          <a:solidFill>
            <a:srgbClr val="E08A2B"/>
          </a:solidFill>
          <a:ln/>
        </p:spPr>
        <p:txBody>
          <a:bodyPr/>
          <a:lstStyle/>
          <a:p>
            <a:endParaRPr lang="ja-JP" altLang="en-US"/>
          </a:p>
        </p:txBody>
      </p:sp>
      <p:sp>
        <p:nvSpPr>
          <p:cNvPr id="8" name="Text 5"/>
          <p:cNvSpPr/>
          <p:nvPr/>
        </p:nvSpPr>
        <p:spPr>
          <a:xfrm>
            <a:off x="9326880" y="6199632"/>
            <a:ext cx="10972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中</a:t>
            </a:r>
            <a:endParaRPr lang="en-US" sz="1100" dirty="0"/>
          </a:p>
        </p:txBody>
      </p:sp>
      <p:sp>
        <p:nvSpPr>
          <p:cNvPr id="9" name="Shape 6"/>
          <p:cNvSpPr/>
          <p:nvPr/>
        </p:nvSpPr>
        <p:spPr>
          <a:xfrm>
            <a:off x="10515600" y="6199632"/>
            <a:ext cx="1097280" cy="310896"/>
          </a:xfrm>
          <a:prstGeom prst="roundRect">
            <a:avLst>
              <a:gd name="adj" fmla="val 50000"/>
            </a:avLst>
          </a:prstGeom>
          <a:solidFill>
            <a:srgbClr val="2E9B57"/>
          </a:solidFill>
          <a:ln/>
        </p:spPr>
        <p:txBody>
          <a:bodyPr/>
          <a:lstStyle/>
          <a:p>
            <a:endParaRPr lang="ja-JP" altLang="en-US"/>
          </a:p>
        </p:txBody>
      </p:sp>
      <p:sp>
        <p:nvSpPr>
          <p:cNvPr id="10" name="Text 7"/>
          <p:cNvSpPr/>
          <p:nvPr/>
        </p:nvSpPr>
        <p:spPr>
          <a:xfrm>
            <a:off x="10515600" y="6199632"/>
            <a:ext cx="10972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pitchFamily="34" charset="0"/>
                <a:ea typeface="Meiryo" pitchFamily="34" charset="-122"/>
                <a:cs typeface="Meiryo" pitchFamily="34" charset="-120"/>
              </a:rPr>
              <a:t>低</a:t>
            </a:r>
            <a:endParaRPr lang="en-US" sz="1100" dirty="0"/>
          </a:p>
        </p:txBody>
      </p:sp>
      <p:sp>
        <p:nvSpPr>
          <p:cNvPr id="11" name="Text 8"/>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12" name="Text 9"/>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Meiryo" pitchFamily="34" charset="0"/>
                <a:ea typeface="Meiryo" pitchFamily="34" charset="-122"/>
                <a:cs typeface="Meiryo" pitchFamily="34" charset="-120"/>
              </a:rPr>
              <a:t>2. リスク分析 ③</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600" b="1" dirty="0">
                <a:solidFill>
                  <a:srgbClr val="0F2A47"/>
                </a:solidFill>
                <a:latin typeface="Meiryo" pitchFamily="34" charset="0"/>
                <a:ea typeface="Meiryo" pitchFamily="34" charset="-122"/>
                <a:cs typeface="Meiryo" pitchFamily="34" charset="-120"/>
              </a:rPr>
              <a:t>リスクの優先順位付け（リスクマトリクス）</a:t>
            </a:r>
            <a:endParaRPr lang="en-US" sz="2600" dirty="0"/>
          </a:p>
        </p:txBody>
      </p:sp>
      <p:sp>
        <p:nvSpPr>
          <p:cNvPr id="4" name="Text 2"/>
          <p:cNvSpPr/>
          <p:nvPr/>
        </p:nvSpPr>
        <p:spPr>
          <a:xfrm rot="16200000">
            <a:off x="502920" y="1691640"/>
            <a:ext cx="1554480" cy="3703320"/>
          </a:xfrm>
          <a:prstGeom prst="rect">
            <a:avLst/>
          </a:prstGeom>
          <a:noFill/>
          <a:ln/>
        </p:spPr>
        <p:txBody>
          <a:bodyPr wrap="square" lIns="0" tIns="0" rIns="0" bIns="0" rtlCol="0" anchor="ctr"/>
          <a:lstStyle/>
          <a:p>
            <a:pPr marL="0" indent="0" algn="ctr">
              <a:buNone/>
            </a:pPr>
            <a:r>
              <a:rPr lang="en-US" sz="1300" b="1" dirty="0">
                <a:solidFill>
                  <a:srgbClr val="0F2A47"/>
                </a:solidFill>
                <a:latin typeface="Meiryo" pitchFamily="34" charset="0"/>
                <a:ea typeface="Meiryo" pitchFamily="34" charset="-122"/>
                <a:cs typeface="Meiryo" pitchFamily="34" charset="-120"/>
              </a:rPr>
              <a:t>影響度</a:t>
            </a:r>
            <a:endParaRPr lang="en-US" sz="1300" dirty="0"/>
          </a:p>
        </p:txBody>
      </p:sp>
      <p:sp>
        <p:nvSpPr>
          <p:cNvPr id="5" name="Text 3"/>
          <p:cNvSpPr/>
          <p:nvPr/>
        </p:nvSpPr>
        <p:spPr>
          <a:xfrm>
            <a:off x="1600200" y="1691640"/>
            <a:ext cx="640080" cy="1234440"/>
          </a:xfrm>
          <a:prstGeom prst="rect">
            <a:avLst/>
          </a:prstGeom>
          <a:noFill/>
          <a:ln/>
        </p:spPr>
        <p:txBody>
          <a:bodyPr wrap="square" lIns="0" tIns="0" rIns="0" bIns="0" rtlCol="0" anchor="ctr"/>
          <a:lstStyle/>
          <a:p>
            <a:pPr marL="0" indent="0" algn="ctr">
              <a:buNone/>
            </a:pPr>
            <a:r>
              <a:rPr lang="en-US" sz="1300" b="1" dirty="0">
                <a:solidFill>
                  <a:srgbClr val="0F2A47"/>
                </a:solidFill>
                <a:latin typeface="Meiryo" pitchFamily="34" charset="0"/>
                <a:ea typeface="Meiryo" pitchFamily="34" charset="-122"/>
                <a:cs typeface="Meiryo" pitchFamily="34" charset="-120"/>
              </a:rPr>
              <a:t>高</a:t>
            </a:r>
            <a:endParaRPr lang="en-US" sz="1300" dirty="0"/>
          </a:p>
        </p:txBody>
      </p:sp>
      <p:sp>
        <p:nvSpPr>
          <p:cNvPr id="6" name="Shape 4"/>
          <p:cNvSpPr/>
          <p:nvPr/>
        </p:nvSpPr>
        <p:spPr>
          <a:xfrm>
            <a:off x="2286000" y="1691640"/>
            <a:ext cx="2322576" cy="1179576"/>
          </a:xfrm>
          <a:prstGeom prst="rect">
            <a:avLst/>
          </a:prstGeom>
          <a:solidFill>
            <a:srgbClr val="E08A2B">
              <a:alpha val="82000"/>
            </a:srgbClr>
          </a:solidFill>
          <a:ln w="25400">
            <a:solidFill>
              <a:srgbClr val="FFFFFF"/>
            </a:solidFill>
            <a:prstDash val="solid"/>
          </a:ln>
        </p:spPr>
        <p:txBody>
          <a:bodyPr/>
          <a:lstStyle/>
          <a:p>
            <a:endParaRPr lang="ja-JP" altLang="en-US"/>
          </a:p>
        </p:txBody>
      </p:sp>
      <p:sp>
        <p:nvSpPr>
          <p:cNvPr id="7" name="Text 5"/>
          <p:cNvSpPr/>
          <p:nvPr/>
        </p:nvSpPr>
        <p:spPr>
          <a:xfrm>
            <a:off x="2286000" y="1691640"/>
            <a:ext cx="2322576" cy="1179576"/>
          </a:xfrm>
          <a:prstGeom prst="rect">
            <a:avLst/>
          </a:prstGeom>
          <a:noFill/>
          <a:ln/>
        </p:spPr>
        <p:txBody>
          <a:bodyPr wrap="square" lIns="0" tIns="0" rIns="0" bIns="0" rtlCol="0" anchor="ctr"/>
          <a:lstStyle/>
          <a:p>
            <a:pPr marL="0" indent="0" algn="ctr">
              <a:buNone/>
            </a:pPr>
            <a:r>
              <a:rPr lang="en-US" sz="1500" b="1" dirty="0">
                <a:solidFill>
                  <a:srgbClr val="FFFFFF"/>
                </a:solidFill>
                <a:latin typeface="Meiryo" pitchFamily="34" charset="0"/>
                <a:ea typeface="Meiryo" pitchFamily="34" charset="-122"/>
                <a:cs typeface="Meiryo" pitchFamily="34" charset="-120"/>
              </a:rPr>
              <a:t>T9</a:t>
            </a:r>
            <a:endParaRPr lang="en-US" sz="1500" dirty="0"/>
          </a:p>
        </p:txBody>
      </p:sp>
      <p:sp>
        <p:nvSpPr>
          <p:cNvPr id="8" name="Shape 6"/>
          <p:cNvSpPr/>
          <p:nvPr/>
        </p:nvSpPr>
        <p:spPr>
          <a:xfrm>
            <a:off x="4663440" y="1691640"/>
            <a:ext cx="2322576" cy="1179576"/>
          </a:xfrm>
          <a:prstGeom prst="rect">
            <a:avLst/>
          </a:prstGeom>
          <a:solidFill>
            <a:srgbClr val="C0392B">
              <a:alpha val="82000"/>
            </a:srgbClr>
          </a:solidFill>
          <a:ln w="25400">
            <a:solidFill>
              <a:srgbClr val="FFFFFF"/>
            </a:solidFill>
            <a:prstDash val="solid"/>
          </a:ln>
        </p:spPr>
        <p:txBody>
          <a:bodyPr/>
          <a:lstStyle/>
          <a:p>
            <a:endParaRPr lang="ja-JP" altLang="en-US"/>
          </a:p>
        </p:txBody>
      </p:sp>
      <p:sp>
        <p:nvSpPr>
          <p:cNvPr id="9" name="Text 7"/>
          <p:cNvSpPr/>
          <p:nvPr/>
        </p:nvSpPr>
        <p:spPr>
          <a:xfrm>
            <a:off x="4663440" y="1691640"/>
            <a:ext cx="2322576" cy="1179576"/>
          </a:xfrm>
          <a:prstGeom prst="rect">
            <a:avLst/>
          </a:prstGeom>
          <a:noFill/>
          <a:ln/>
        </p:spPr>
        <p:txBody>
          <a:bodyPr wrap="square" lIns="0" tIns="0" rIns="0" bIns="0" rtlCol="0" anchor="ctr"/>
          <a:lstStyle/>
          <a:p>
            <a:pPr marL="0" indent="0" algn="ctr">
              <a:buNone/>
            </a:pPr>
            <a:r>
              <a:rPr lang="en-US" sz="1500" b="1" dirty="0">
                <a:solidFill>
                  <a:srgbClr val="FFFFFF"/>
                </a:solidFill>
                <a:latin typeface="Meiryo" pitchFamily="34" charset="0"/>
                <a:ea typeface="Meiryo" pitchFamily="34" charset="-122"/>
                <a:cs typeface="Meiryo" pitchFamily="34" charset="-120"/>
              </a:rPr>
              <a:t>T3  T4  T7</a:t>
            </a:r>
            <a:endParaRPr lang="en-US" sz="1500" dirty="0"/>
          </a:p>
        </p:txBody>
      </p:sp>
      <p:sp>
        <p:nvSpPr>
          <p:cNvPr id="10" name="Shape 8"/>
          <p:cNvSpPr/>
          <p:nvPr/>
        </p:nvSpPr>
        <p:spPr>
          <a:xfrm>
            <a:off x="7040880" y="1691640"/>
            <a:ext cx="2322576" cy="1179576"/>
          </a:xfrm>
          <a:prstGeom prst="rect">
            <a:avLst/>
          </a:prstGeom>
          <a:solidFill>
            <a:srgbClr val="C0392B">
              <a:alpha val="82000"/>
            </a:srgbClr>
          </a:solidFill>
          <a:ln w="25400">
            <a:solidFill>
              <a:srgbClr val="FFFFFF"/>
            </a:solidFill>
            <a:prstDash val="solid"/>
          </a:ln>
        </p:spPr>
        <p:txBody>
          <a:bodyPr/>
          <a:lstStyle/>
          <a:p>
            <a:endParaRPr lang="ja-JP" altLang="en-US"/>
          </a:p>
        </p:txBody>
      </p:sp>
      <p:sp>
        <p:nvSpPr>
          <p:cNvPr id="11" name="Text 9"/>
          <p:cNvSpPr/>
          <p:nvPr/>
        </p:nvSpPr>
        <p:spPr>
          <a:xfrm>
            <a:off x="7040880" y="1691640"/>
            <a:ext cx="2322576" cy="1179576"/>
          </a:xfrm>
          <a:prstGeom prst="rect">
            <a:avLst/>
          </a:prstGeom>
          <a:noFill/>
          <a:ln/>
        </p:spPr>
        <p:txBody>
          <a:bodyPr wrap="square" lIns="0" tIns="0" rIns="0" bIns="0" rtlCol="0" anchor="ctr"/>
          <a:lstStyle/>
          <a:p>
            <a:pPr marL="0" indent="0" algn="ctr">
              <a:buNone/>
            </a:pPr>
            <a:r>
              <a:rPr lang="en-US" sz="1500" b="1" dirty="0">
                <a:solidFill>
                  <a:srgbClr val="FFFFFF"/>
                </a:solidFill>
                <a:latin typeface="Meiryo" pitchFamily="34" charset="0"/>
                <a:ea typeface="Meiryo" pitchFamily="34" charset="-122"/>
                <a:cs typeface="Meiryo" pitchFamily="34" charset="-120"/>
              </a:rPr>
              <a:t>T1  T2</a:t>
            </a:r>
            <a:endParaRPr lang="en-US" sz="1500" dirty="0"/>
          </a:p>
        </p:txBody>
      </p:sp>
      <p:sp>
        <p:nvSpPr>
          <p:cNvPr id="12" name="Text 10"/>
          <p:cNvSpPr/>
          <p:nvPr/>
        </p:nvSpPr>
        <p:spPr>
          <a:xfrm>
            <a:off x="1600200" y="2926080"/>
            <a:ext cx="640080" cy="1234440"/>
          </a:xfrm>
          <a:prstGeom prst="rect">
            <a:avLst/>
          </a:prstGeom>
          <a:noFill/>
          <a:ln/>
        </p:spPr>
        <p:txBody>
          <a:bodyPr wrap="square" lIns="0" tIns="0" rIns="0" bIns="0" rtlCol="0" anchor="ctr"/>
          <a:lstStyle/>
          <a:p>
            <a:pPr marL="0" indent="0" algn="ctr">
              <a:buNone/>
            </a:pPr>
            <a:r>
              <a:rPr lang="en-US" sz="1300" b="1" dirty="0">
                <a:solidFill>
                  <a:srgbClr val="0F2A47"/>
                </a:solidFill>
                <a:latin typeface="Meiryo" pitchFamily="34" charset="0"/>
                <a:ea typeface="Meiryo" pitchFamily="34" charset="-122"/>
                <a:cs typeface="Meiryo" pitchFamily="34" charset="-120"/>
              </a:rPr>
              <a:t>中</a:t>
            </a:r>
            <a:endParaRPr lang="en-US" sz="1300" dirty="0"/>
          </a:p>
        </p:txBody>
      </p:sp>
      <p:sp>
        <p:nvSpPr>
          <p:cNvPr id="13" name="Shape 11"/>
          <p:cNvSpPr/>
          <p:nvPr/>
        </p:nvSpPr>
        <p:spPr>
          <a:xfrm>
            <a:off x="2286000" y="2926080"/>
            <a:ext cx="2322576" cy="1179576"/>
          </a:xfrm>
          <a:prstGeom prst="rect">
            <a:avLst/>
          </a:prstGeom>
          <a:solidFill>
            <a:srgbClr val="2E9B57">
              <a:alpha val="82000"/>
            </a:srgbClr>
          </a:solidFill>
          <a:ln w="25400">
            <a:solidFill>
              <a:srgbClr val="FFFFFF"/>
            </a:solidFill>
            <a:prstDash val="solid"/>
          </a:ln>
        </p:spPr>
        <p:txBody>
          <a:bodyPr/>
          <a:lstStyle/>
          <a:p>
            <a:endParaRPr lang="ja-JP" altLang="en-US"/>
          </a:p>
        </p:txBody>
      </p:sp>
      <p:sp>
        <p:nvSpPr>
          <p:cNvPr id="14" name="Shape 12"/>
          <p:cNvSpPr/>
          <p:nvPr/>
        </p:nvSpPr>
        <p:spPr>
          <a:xfrm>
            <a:off x="4663440" y="2926080"/>
            <a:ext cx="2322576" cy="1179576"/>
          </a:xfrm>
          <a:prstGeom prst="rect">
            <a:avLst/>
          </a:prstGeom>
          <a:solidFill>
            <a:srgbClr val="E08A2B">
              <a:alpha val="82000"/>
            </a:srgbClr>
          </a:solidFill>
          <a:ln w="25400">
            <a:solidFill>
              <a:srgbClr val="FFFFFF"/>
            </a:solidFill>
            <a:prstDash val="solid"/>
          </a:ln>
        </p:spPr>
        <p:txBody>
          <a:bodyPr/>
          <a:lstStyle/>
          <a:p>
            <a:endParaRPr lang="ja-JP" altLang="en-US"/>
          </a:p>
        </p:txBody>
      </p:sp>
      <p:sp>
        <p:nvSpPr>
          <p:cNvPr id="15" name="Text 13"/>
          <p:cNvSpPr/>
          <p:nvPr/>
        </p:nvSpPr>
        <p:spPr>
          <a:xfrm>
            <a:off x="4663440" y="2926080"/>
            <a:ext cx="2322576" cy="1179576"/>
          </a:xfrm>
          <a:prstGeom prst="rect">
            <a:avLst/>
          </a:prstGeom>
          <a:noFill/>
          <a:ln/>
        </p:spPr>
        <p:txBody>
          <a:bodyPr wrap="square" lIns="0" tIns="0" rIns="0" bIns="0" rtlCol="0" anchor="ctr"/>
          <a:lstStyle/>
          <a:p>
            <a:pPr marL="0" indent="0" algn="ctr">
              <a:buNone/>
            </a:pPr>
            <a:r>
              <a:rPr lang="en-US" sz="1500" b="1" dirty="0">
                <a:solidFill>
                  <a:srgbClr val="FFFFFF"/>
                </a:solidFill>
                <a:latin typeface="Meiryo" pitchFamily="34" charset="0"/>
                <a:ea typeface="Meiryo" pitchFamily="34" charset="-122"/>
                <a:cs typeface="Meiryo" pitchFamily="34" charset="-120"/>
              </a:rPr>
              <a:t>T6  T8</a:t>
            </a:r>
            <a:endParaRPr lang="en-US" sz="1500" dirty="0"/>
          </a:p>
        </p:txBody>
      </p:sp>
      <p:sp>
        <p:nvSpPr>
          <p:cNvPr id="16" name="Shape 14"/>
          <p:cNvSpPr/>
          <p:nvPr/>
        </p:nvSpPr>
        <p:spPr>
          <a:xfrm>
            <a:off x="7040880" y="2926080"/>
            <a:ext cx="2322576" cy="1179576"/>
          </a:xfrm>
          <a:prstGeom prst="rect">
            <a:avLst/>
          </a:prstGeom>
          <a:solidFill>
            <a:srgbClr val="C0392B">
              <a:alpha val="82000"/>
            </a:srgbClr>
          </a:solidFill>
          <a:ln w="25400">
            <a:solidFill>
              <a:srgbClr val="FFFFFF"/>
            </a:solidFill>
            <a:prstDash val="solid"/>
          </a:ln>
        </p:spPr>
        <p:txBody>
          <a:bodyPr/>
          <a:lstStyle/>
          <a:p>
            <a:endParaRPr lang="ja-JP" altLang="en-US"/>
          </a:p>
        </p:txBody>
      </p:sp>
      <p:sp>
        <p:nvSpPr>
          <p:cNvPr id="17" name="Text 15"/>
          <p:cNvSpPr/>
          <p:nvPr/>
        </p:nvSpPr>
        <p:spPr>
          <a:xfrm>
            <a:off x="7040880" y="2926080"/>
            <a:ext cx="2322576" cy="1179576"/>
          </a:xfrm>
          <a:prstGeom prst="rect">
            <a:avLst/>
          </a:prstGeom>
          <a:noFill/>
          <a:ln/>
        </p:spPr>
        <p:txBody>
          <a:bodyPr wrap="square" lIns="0" tIns="0" rIns="0" bIns="0" rtlCol="0" anchor="ctr"/>
          <a:lstStyle/>
          <a:p>
            <a:pPr marL="0" indent="0" algn="ctr">
              <a:buNone/>
            </a:pPr>
            <a:r>
              <a:rPr lang="en-US" sz="1500" b="1" dirty="0">
                <a:solidFill>
                  <a:srgbClr val="FFFFFF"/>
                </a:solidFill>
                <a:latin typeface="Meiryo" pitchFamily="34" charset="0"/>
                <a:ea typeface="Meiryo" pitchFamily="34" charset="-122"/>
                <a:cs typeface="Meiryo" pitchFamily="34" charset="-120"/>
              </a:rPr>
              <a:t>T5</a:t>
            </a:r>
            <a:endParaRPr lang="en-US" sz="1500" dirty="0"/>
          </a:p>
        </p:txBody>
      </p:sp>
      <p:sp>
        <p:nvSpPr>
          <p:cNvPr id="18" name="Text 16"/>
          <p:cNvSpPr/>
          <p:nvPr/>
        </p:nvSpPr>
        <p:spPr>
          <a:xfrm>
            <a:off x="1600200" y="4160520"/>
            <a:ext cx="640080" cy="1234440"/>
          </a:xfrm>
          <a:prstGeom prst="rect">
            <a:avLst/>
          </a:prstGeom>
          <a:noFill/>
          <a:ln/>
        </p:spPr>
        <p:txBody>
          <a:bodyPr wrap="square" lIns="0" tIns="0" rIns="0" bIns="0" rtlCol="0" anchor="ctr"/>
          <a:lstStyle/>
          <a:p>
            <a:pPr marL="0" indent="0" algn="ctr">
              <a:buNone/>
            </a:pPr>
            <a:r>
              <a:rPr lang="en-US" sz="1300" b="1" dirty="0">
                <a:solidFill>
                  <a:srgbClr val="0F2A47"/>
                </a:solidFill>
                <a:latin typeface="Meiryo" pitchFamily="34" charset="0"/>
                <a:ea typeface="Meiryo" pitchFamily="34" charset="-122"/>
                <a:cs typeface="Meiryo" pitchFamily="34" charset="-120"/>
              </a:rPr>
              <a:t>低</a:t>
            </a:r>
            <a:endParaRPr lang="en-US" sz="1300" dirty="0"/>
          </a:p>
        </p:txBody>
      </p:sp>
      <p:sp>
        <p:nvSpPr>
          <p:cNvPr id="19" name="Shape 17"/>
          <p:cNvSpPr/>
          <p:nvPr/>
        </p:nvSpPr>
        <p:spPr>
          <a:xfrm>
            <a:off x="2286000" y="4160520"/>
            <a:ext cx="2322576" cy="1179576"/>
          </a:xfrm>
          <a:prstGeom prst="rect">
            <a:avLst/>
          </a:prstGeom>
          <a:solidFill>
            <a:srgbClr val="2E9B57">
              <a:alpha val="82000"/>
            </a:srgbClr>
          </a:solidFill>
          <a:ln w="25400">
            <a:solidFill>
              <a:srgbClr val="FFFFFF"/>
            </a:solidFill>
            <a:prstDash val="solid"/>
          </a:ln>
        </p:spPr>
        <p:txBody>
          <a:bodyPr/>
          <a:lstStyle/>
          <a:p>
            <a:endParaRPr lang="ja-JP" altLang="en-US"/>
          </a:p>
        </p:txBody>
      </p:sp>
      <p:sp>
        <p:nvSpPr>
          <p:cNvPr id="20" name="Shape 18"/>
          <p:cNvSpPr/>
          <p:nvPr/>
        </p:nvSpPr>
        <p:spPr>
          <a:xfrm>
            <a:off x="4663440" y="4160520"/>
            <a:ext cx="2322576" cy="1179576"/>
          </a:xfrm>
          <a:prstGeom prst="rect">
            <a:avLst/>
          </a:prstGeom>
          <a:solidFill>
            <a:srgbClr val="2E9B57">
              <a:alpha val="82000"/>
            </a:srgbClr>
          </a:solidFill>
          <a:ln w="25400">
            <a:solidFill>
              <a:srgbClr val="FFFFFF"/>
            </a:solidFill>
            <a:prstDash val="solid"/>
          </a:ln>
        </p:spPr>
        <p:txBody>
          <a:bodyPr/>
          <a:lstStyle/>
          <a:p>
            <a:endParaRPr lang="ja-JP" altLang="en-US"/>
          </a:p>
        </p:txBody>
      </p:sp>
      <p:sp>
        <p:nvSpPr>
          <p:cNvPr id="21" name="Shape 19"/>
          <p:cNvSpPr/>
          <p:nvPr/>
        </p:nvSpPr>
        <p:spPr>
          <a:xfrm>
            <a:off x="7040880" y="4160520"/>
            <a:ext cx="2322576" cy="1179576"/>
          </a:xfrm>
          <a:prstGeom prst="rect">
            <a:avLst/>
          </a:prstGeom>
          <a:solidFill>
            <a:srgbClr val="E08A2B">
              <a:alpha val="82000"/>
            </a:srgbClr>
          </a:solidFill>
          <a:ln w="25400">
            <a:solidFill>
              <a:srgbClr val="FFFFFF"/>
            </a:solidFill>
            <a:prstDash val="solid"/>
          </a:ln>
        </p:spPr>
        <p:txBody>
          <a:bodyPr/>
          <a:lstStyle/>
          <a:p>
            <a:endParaRPr lang="ja-JP" altLang="en-US"/>
          </a:p>
        </p:txBody>
      </p:sp>
      <p:sp>
        <p:nvSpPr>
          <p:cNvPr id="22" name="Text 20"/>
          <p:cNvSpPr/>
          <p:nvPr/>
        </p:nvSpPr>
        <p:spPr>
          <a:xfrm>
            <a:off x="2286000" y="5394960"/>
            <a:ext cx="2322576" cy="365760"/>
          </a:xfrm>
          <a:prstGeom prst="rect">
            <a:avLst/>
          </a:prstGeom>
          <a:noFill/>
          <a:ln/>
        </p:spPr>
        <p:txBody>
          <a:bodyPr wrap="square" lIns="0" tIns="0" rIns="0" bIns="0" rtlCol="0" anchor="ctr"/>
          <a:lstStyle/>
          <a:p>
            <a:pPr marL="0" indent="0" algn="ctr">
              <a:buNone/>
            </a:pPr>
            <a:r>
              <a:rPr lang="en-US" sz="1300" b="1" dirty="0">
                <a:solidFill>
                  <a:srgbClr val="0F2A47"/>
                </a:solidFill>
                <a:latin typeface="Meiryo" pitchFamily="34" charset="0"/>
                <a:ea typeface="Meiryo" pitchFamily="34" charset="-122"/>
                <a:cs typeface="Meiryo" pitchFamily="34" charset="-120"/>
              </a:rPr>
              <a:t>低</a:t>
            </a:r>
            <a:endParaRPr lang="en-US" sz="1300" dirty="0"/>
          </a:p>
        </p:txBody>
      </p:sp>
      <p:sp>
        <p:nvSpPr>
          <p:cNvPr id="23" name="Text 21"/>
          <p:cNvSpPr/>
          <p:nvPr/>
        </p:nvSpPr>
        <p:spPr>
          <a:xfrm>
            <a:off x="4663440" y="5394960"/>
            <a:ext cx="2322576" cy="365760"/>
          </a:xfrm>
          <a:prstGeom prst="rect">
            <a:avLst/>
          </a:prstGeom>
          <a:noFill/>
          <a:ln/>
        </p:spPr>
        <p:txBody>
          <a:bodyPr wrap="square" lIns="0" tIns="0" rIns="0" bIns="0" rtlCol="0" anchor="ctr"/>
          <a:lstStyle/>
          <a:p>
            <a:pPr marL="0" indent="0" algn="ctr">
              <a:buNone/>
            </a:pPr>
            <a:r>
              <a:rPr lang="en-US" sz="1300" b="1" dirty="0">
                <a:solidFill>
                  <a:srgbClr val="0F2A47"/>
                </a:solidFill>
                <a:latin typeface="Meiryo" pitchFamily="34" charset="0"/>
                <a:ea typeface="Meiryo" pitchFamily="34" charset="-122"/>
                <a:cs typeface="Meiryo" pitchFamily="34" charset="-120"/>
              </a:rPr>
              <a:t>中</a:t>
            </a:r>
            <a:endParaRPr lang="en-US" sz="1300" dirty="0"/>
          </a:p>
        </p:txBody>
      </p:sp>
      <p:sp>
        <p:nvSpPr>
          <p:cNvPr id="24" name="Text 22"/>
          <p:cNvSpPr/>
          <p:nvPr/>
        </p:nvSpPr>
        <p:spPr>
          <a:xfrm>
            <a:off x="7040880" y="5394960"/>
            <a:ext cx="2322576" cy="365760"/>
          </a:xfrm>
          <a:prstGeom prst="rect">
            <a:avLst/>
          </a:prstGeom>
          <a:noFill/>
          <a:ln/>
        </p:spPr>
        <p:txBody>
          <a:bodyPr wrap="square" lIns="0" tIns="0" rIns="0" bIns="0" rtlCol="0" anchor="ctr"/>
          <a:lstStyle/>
          <a:p>
            <a:pPr marL="0" indent="0" algn="ctr">
              <a:buNone/>
            </a:pPr>
            <a:r>
              <a:rPr lang="en-US" sz="1300" b="1" dirty="0">
                <a:solidFill>
                  <a:srgbClr val="0F2A47"/>
                </a:solidFill>
                <a:latin typeface="Meiryo" pitchFamily="34" charset="0"/>
                <a:ea typeface="Meiryo" pitchFamily="34" charset="-122"/>
                <a:cs typeface="Meiryo" pitchFamily="34" charset="-120"/>
              </a:rPr>
              <a:t>高</a:t>
            </a:r>
            <a:endParaRPr lang="en-US" sz="1300" dirty="0"/>
          </a:p>
        </p:txBody>
      </p:sp>
      <p:sp>
        <p:nvSpPr>
          <p:cNvPr id="25" name="Text 23"/>
          <p:cNvSpPr/>
          <p:nvPr/>
        </p:nvSpPr>
        <p:spPr>
          <a:xfrm>
            <a:off x="2286000" y="5760720"/>
            <a:ext cx="7132320" cy="320040"/>
          </a:xfrm>
          <a:prstGeom prst="rect">
            <a:avLst/>
          </a:prstGeom>
          <a:noFill/>
          <a:ln/>
        </p:spPr>
        <p:txBody>
          <a:bodyPr wrap="square" lIns="0" tIns="0" rIns="0" bIns="0" rtlCol="0" anchor="ctr"/>
          <a:lstStyle/>
          <a:p>
            <a:pPr marL="0" indent="0" algn="ctr">
              <a:buNone/>
            </a:pPr>
            <a:r>
              <a:rPr lang="en-US" sz="1200" b="1" dirty="0">
                <a:solidFill>
                  <a:srgbClr val="0F2A47"/>
                </a:solidFill>
                <a:latin typeface="Meiryo" pitchFamily="34" charset="0"/>
                <a:ea typeface="Meiryo" pitchFamily="34" charset="-122"/>
                <a:cs typeface="Meiryo" pitchFamily="34" charset="-120"/>
              </a:rPr>
              <a:t>発生可能性</a:t>
            </a:r>
            <a:endParaRPr lang="en-US" sz="1200" dirty="0"/>
          </a:p>
        </p:txBody>
      </p:sp>
      <p:sp>
        <p:nvSpPr>
          <p:cNvPr id="26" name="Shape 24"/>
          <p:cNvSpPr/>
          <p:nvPr/>
        </p:nvSpPr>
        <p:spPr>
          <a:xfrm>
            <a:off x="9601200" y="1691640"/>
            <a:ext cx="2148840" cy="4160520"/>
          </a:xfrm>
          <a:prstGeom prst="roundRect">
            <a:avLst>
              <a:gd name="adj" fmla="val 2979"/>
            </a:avLst>
          </a:prstGeom>
          <a:solidFill>
            <a:srgbClr val="EEF4F8"/>
          </a:solidFill>
          <a:ln/>
          <a:effectLst>
            <a:outerShdw blurRad="88900" dist="38100" dir="5400000" algn="bl" rotWithShape="0">
              <a:srgbClr val="0F2A47">
                <a:alpha val="16000"/>
              </a:srgbClr>
            </a:outerShdw>
          </a:effectLst>
        </p:spPr>
        <p:txBody>
          <a:bodyPr/>
          <a:lstStyle/>
          <a:p>
            <a:endParaRPr lang="ja-JP" altLang="en-US"/>
          </a:p>
        </p:txBody>
      </p:sp>
      <p:sp>
        <p:nvSpPr>
          <p:cNvPr id="27" name="Text 25"/>
          <p:cNvSpPr/>
          <p:nvPr/>
        </p:nvSpPr>
        <p:spPr>
          <a:xfrm>
            <a:off x="9601200" y="1828800"/>
            <a:ext cx="2148840" cy="329184"/>
          </a:xfrm>
          <a:prstGeom prst="rect">
            <a:avLst/>
          </a:prstGeom>
          <a:noFill/>
          <a:ln/>
        </p:spPr>
        <p:txBody>
          <a:bodyPr wrap="square" lIns="0" tIns="0" rIns="0" bIns="0" rtlCol="0" anchor="ctr"/>
          <a:lstStyle/>
          <a:p>
            <a:pPr marL="0" indent="0" algn="ctr">
              <a:buNone/>
            </a:pPr>
            <a:r>
              <a:rPr lang="en-US" sz="1400" b="1" dirty="0">
                <a:solidFill>
                  <a:srgbClr val="0F2A47"/>
                </a:solidFill>
                <a:latin typeface="Meiryo" pitchFamily="34" charset="0"/>
                <a:ea typeface="Meiryo" pitchFamily="34" charset="-122"/>
                <a:cs typeface="Meiryo" pitchFamily="34" charset="-120"/>
              </a:rPr>
              <a:t>優先順位</a:t>
            </a:r>
            <a:endParaRPr lang="en-US" sz="1400" dirty="0"/>
          </a:p>
        </p:txBody>
      </p:sp>
      <p:sp>
        <p:nvSpPr>
          <p:cNvPr id="28" name="Shape 26"/>
          <p:cNvSpPr/>
          <p:nvPr/>
        </p:nvSpPr>
        <p:spPr>
          <a:xfrm>
            <a:off x="9784080" y="2286000"/>
            <a:ext cx="146304" cy="658368"/>
          </a:xfrm>
          <a:prstGeom prst="rect">
            <a:avLst/>
          </a:prstGeom>
          <a:solidFill>
            <a:srgbClr val="C0392B"/>
          </a:solidFill>
          <a:ln/>
        </p:spPr>
        <p:txBody>
          <a:bodyPr/>
          <a:lstStyle/>
          <a:p>
            <a:endParaRPr lang="ja-JP" altLang="en-US"/>
          </a:p>
        </p:txBody>
      </p:sp>
      <p:sp>
        <p:nvSpPr>
          <p:cNvPr id="29" name="Text 27"/>
          <p:cNvSpPr/>
          <p:nvPr/>
        </p:nvSpPr>
        <p:spPr>
          <a:xfrm>
            <a:off x="10012680" y="2304288"/>
            <a:ext cx="1645920" cy="292608"/>
          </a:xfrm>
          <a:prstGeom prst="rect">
            <a:avLst/>
          </a:prstGeom>
          <a:noFill/>
          <a:ln/>
        </p:spPr>
        <p:txBody>
          <a:bodyPr wrap="square" lIns="0" tIns="0" rIns="0" bIns="0" rtlCol="0" anchor="ctr"/>
          <a:lstStyle/>
          <a:p>
            <a:pPr marL="0" indent="0">
              <a:buNone/>
            </a:pPr>
            <a:r>
              <a:rPr lang="en-US" sz="1250" b="1" dirty="0">
                <a:solidFill>
                  <a:srgbClr val="C0392B"/>
                </a:solidFill>
                <a:latin typeface="Meiryo" pitchFamily="34" charset="0"/>
                <a:ea typeface="Meiryo" pitchFamily="34" charset="-122"/>
                <a:cs typeface="Meiryo" pitchFamily="34" charset="-120"/>
              </a:rPr>
              <a:t>最優先</a:t>
            </a:r>
            <a:endParaRPr lang="en-US" sz="1250" dirty="0"/>
          </a:p>
        </p:txBody>
      </p:sp>
      <p:sp>
        <p:nvSpPr>
          <p:cNvPr id="30" name="Text 28"/>
          <p:cNvSpPr/>
          <p:nvPr/>
        </p:nvSpPr>
        <p:spPr>
          <a:xfrm>
            <a:off x="10012680" y="2615184"/>
            <a:ext cx="1645920" cy="292608"/>
          </a:xfrm>
          <a:prstGeom prst="rect">
            <a:avLst/>
          </a:prstGeom>
          <a:noFill/>
          <a:ln/>
        </p:spPr>
        <p:txBody>
          <a:bodyPr wrap="square" lIns="0" tIns="0" rIns="0" bIns="0" rtlCol="0" anchor="ctr"/>
          <a:lstStyle/>
          <a:p>
            <a:pPr marL="0" indent="0">
              <a:buNone/>
            </a:pPr>
            <a:r>
              <a:rPr lang="en-US" sz="1200" dirty="0">
                <a:solidFill>
                  <a:srgbClr val="1E293B"/>
                </a:solidFill>
                <a:latin typeface="Meiryo" pitchFamily="34" charset="0"/>
                <a:ea typeface="Meiryo" pitchFamily="34" charset="-122"/>
                <a:cs typeface="Meiryo" pitchFamily="34" charset="-120"/>
              </a:rPr>
              <a:t>T1・T2</a:t>
            </a:r>
            <a:endParaRPr lang="en-US" sz="1200" dirty="0"/>
          </a:p>
        </p:txBody>
      </p:sp>
      <p:sp>
        <p:nvSpPr>
          <p:cNvPr id="31" name="Shape 29"/>
          <p:cNvSpPr/>
          <p:nvPr/>
        </p:nvSpPr>
        <p:spPr>
          <a:xfrm>
            <a:off x="9784080" y="3127248"/>
            <a:ext cx="146304" cy="658368"/>
          </a:xfrm>
          <a:prstGeom prst="rect">
            <a:avLst/>
          </a:prstGeom>
          <a:solidFill>
            <a:srgbClr val="C0392B"/>
          </a:solidFill>
          <a:ln/>
        </p:spPr>
        <p:txBody>
          <a:bodyPr/>
          <a:lstStyle/>
          <a:p>
            <a:endParaRPr lang="ja-JP" altLang="en-US"/>
          </a:p>
        </p:txBody>
      </p:sp>
      <p:sp>
        <p:nvSpPr>
          <p:cNvPr id="32" name="Text 30"/>
          <p:cNvSpPr/>
          <p:nvPr/>
        </p:nvSpPr>
        <p:spPr>
          <a:xfrm>
            <a:off x="10012680" y="3145536"/>
            <a:ext cx="1645920" cy="292608"/>
          </a:xfrm>
          <a:prstGeom prst="rect">
            <a:avLst/>
          </a:prstGeom>
          <a:noFill/>
          <a:ln/>
        </p:spPr>
        <p:txBody>
          <a:bodyPr wrap="square" lIns="0" tIns="0" rIns="0" bIns="0" rtlCol="0" anchor="ctr"/>
          <a:lstStyle/>
          <a:p>
            <a:pPr marL="0" indent="0">
              <a:buNone/>
            </a:pPr>
            <a:r>
              <a:rPr lang="en-US" sz="1250" b="1" dirty="0">
                <a:solidFill>
                  <a:srgbClr val="C0392B"/>
                </a:solidFill>
                <a:latin typeface="Meiryo" pitchFamily="34" charset="0"/>
                <a:ea typeface="Meiryo" pitchFamily="34" charset="-122"/>
                <a:cs typeface="Meiryo" pitchFamily="34" charset="-120"/>
              </a:rPr>
              <a:t>高</a:t>
            </a:r>
            <a:endParaRPr lang="en-US" sz="1250" dirty="0"/>
          </a:p>
        </p:txBody>
      </p:sp>
      <p:sp>
        <p:nvSpPr>
          <p:cNvPr id="33" name="Text 31"/>
          <p:cNvSpPr/>
          <p:nvPr/>
        </p:nvSpPr>
        <p:spPr>
          <a:xfrm>
            <a:off x="10012680" y="3456432"/>
            <a:ext cx="1645920" cy="292608"/>
          </a:xfrm>
          <a:prstGeom prst="rect">
            <a:avLst/>
          </a:prstGeom>
          <a:noFill/>
          <a:ln/>
        </p:spPr>
        <p:txBody>
          <a:bodyPr wrap="square" lIns="0" tIns="0" rIns="0" bIns="0" rtlCol="0" anchor="ctr"/>
          <a:lstStyle/>
          <a:p>
            <a:pPr marL="0" indent="0">
              <a:buNone/>
            </a:pPr>
            <a:r>
              <a:rPr lang="en-US" sz="1200" dirty="0">
                <a:solidFill>
                  <a:srgbClr val="1E293B"/>
                </a:solidFill>
                <a:latin typeface="Meiryo" pitchFamily="34" charset="0"/>
                <a:ea typeface="Meiryo" pitchFamily="34" charset="-122"/>
                <a:cs typeface="Meiryo" pitchFamily="34" charset="-120"/>
              </a:rPr>
              <a:t>T3・T4・T5・T7</a:t>
            </a:r>
            <a:endParaRPr lang="en-US" sz="1200" dirty="0"/>
          </a:p>
        </p:txBody>
      </p:sp>
      <p:sp>
        <p:nvSpPr>
          <p:cNvPr id="34" name="Shape 32"/>
          <p:cNvSpPr/>
          <p:nvPr/>
        </p:nvSpPr>
        <p:spPr>
          <a:xfrm>
            <a:off x="9784080" y="3968496"/>
            <a:ext cx="146304" cy="658368"/>
          </a:xfrm>
          <a:prstGeom prst="rect">
            <a:avLst/>
          </a:prstGeom>
          <a:solidFill>
            <a:srgbClr val="E08A2B"/>
          </a:solidFill>
          <a:ln/>
        </p:spPr>
        <p:txBody>
          <a:bodyPr/>
          <a:lstStyle/>
          <a:p>
            <a:endParaRPr lang="ja-JP" altLang="en-US"/>
          </a:p>
        </p:txBody>
      </p:sp>
      <p:sp>
        <p:nvSpPr>
          <p:cNvPr id="35" name="Text 33"/>
          <p:cNvSpPr/>
          <p:nvPr/>
        </p:nvSpPr>
        <p:spPr>
          <a:xfrm>
            <a:off x="10012680" y="3986784"/>
            <a:ext cx="1645920" cy="292608"/>
          </a:xfrm>
          <a:prstGeom prst="rect">
            <a:avLst/>
          </a:prstGeom>
          <a:noFill/>
          <a:ln/>
        </p:spPr>
        <p:txBody>
          <a:bodyPr wrap="square" lIns="0" tIns="0" rIns="0" bIns="0" rtlCol="0" anchor="ctr"/>
          <a:lstStyle/>
          <a:p>
            <a:pPr marL="0" indent="0">
              <a:buNone/>
            </a:pPr>
            <a:r>
              <a:rPr lang="en-US" sz="1250" b="1" dirty="0">
                <a:solidFill>
                  <a:srgbClr val="E08A2B"/>
                </a:solidFill>
                <a:latin typeface="Meiryo" pitchFamily="34" charset="0"/>
                <a:ea typeface="Meiryo" pitchFamily="34" charset="-122"/>
                <a:cs typeface="Meiryo" pitchFamily="34" charset="-120"/>
              </a:rPr>
              <a:t>中</a:t>
            </a:r>
            <a:endParaRPr lang="en-US" sz="1250" dirty="0"/>
          </a:p>
        </p:txBody>
      </p:sp>
      <p:sp>
        <p:nvSpPr>
          <p:cNvPr id="36" name="Text 34"/>
          <p:cNvSpPr/>
          <p:nvPr/>
        </p:nvSpPr>
        <p:spPr>
          <a:xfrm>
            <a:off x="10012680" y="4297680"/>
            <a:ext cx="1645920" cy="292608"/>
          </a:xfrm>
          <a:prstGeom prst="rect">
            <a:avLst/>
          </a:prstGeom>
          <a:noFill/>
          <a:ln/>
        </p:spPr>
        <p:txBody>
          <a:bodyPr wrap="square" lIns="0" tIns="0" rIns="0" bIns="0" rtlCol="0" anchor="ctr"/>
          <a:lstStyle/>
          <a:p>
            <a:pPr marL="0" indent="0">
              <a:buNone/>
            </a:pPr>
            <a:r>
              <a:rPr lang="en-US" sz="1200" dirty="0">
                <a:solidFill>
                  <a:srgbClr val="1E293B"/>
                </a:solidFill>
                <a:latin typeface="Meiryo" pitchFamily="34" charset="0"/>
                <a:ea typeface="Meiryo" pitchFamily="34" charset="-122"/>
                <a:cs typeface="Meiryo" pitchFamily="34" charset="-120"/>
              </a:rPr>
              <a:t>T6・T8・T9</a:t>
            </a:r>
            <a:endParaRPr lang="en-US" sz="1200" dirty="0"/>
          </a:p>
        </p:txBody>
      </p:sp>
      <p:sp>
        <p:nvSpPr>
          <p:cNvPr id="37" name="Shape 35"/>
          <p:cNvSpPr/>
          <p:nvPr/>
        </p:nvSpPr>
        <p:spPr>
          <a:xfrm>
            <a:off x="9784080" y="4809744"/>
            <a:ext cx="146304" cy="658368"/>
          </a:xfrm>
          <a:prstGeom prst="rect">
            <a:avLst/>
          </a:prstGeom>
          <a:solidFill>
            <a:srgbClr val="2E9B57"/>
          </a:solidFill>
          <a:ln/>
        </p:spPr>
        <p:txBody>
          <a:bodyPr/>
          <a:lstStyle/>
          <a:p>
            <a:endParaRPr lang="ja-JP" altLang="en-US"/>
          </a:p>
        </p:txBody>
      </p:sp>
      <p:sp>
        <p:nvSpPr>
          <p:cNvPr id="38" name="Text 36"/>
          <p:cNvSpPr/>
          <p:nvPr/>
        </p:nvSpPr>
        <p:spPr>
          <a:xfrm>
            <a:off x="10012680" y="4828032"/>
            <a:ext cx="1645920" cy="292608"/>
          </a:xfrm>
          <a:prstGeom prst="rect">
            <a:avLst/>
          </a:prstGeom>
          <a:noFill/>
          <a:ln/>
        </p:spPr>
        <p:txBody>
          <a:bodyPr wrap="square" lIns="0" tIns="0" rIns="0" bIns="0" rtlCol="0" anchor="ctr"/>
          <a:lstStyle/>
          <a:p>
            <a:pPr marL="0" indent="0">
              <a:buNone/>
            </a:pPr>
            <a:r>
              <a:rPr lang="en-US" sz="1250" b="1" dirty="0">
                <a:solidFill>
                  <a:srgbClr val="2E9B57"/>
                </a:solidFill>
                <a:latin typeface="Meiryo" pitchFamily="34" charset="0"/>
                <a:ea typeface="Meiryo" pitchFamily="34" charset="-122"/>
                <a:cs typeface="Meiryo" pitchFamily="34" charset="-120"/>
              </a:rPr>
              <a:t>低</a:t>
            </a:r>
            <a:endParaRPr lang="en-US" sz="1250" dirty="0"/>
          </a:p>
        </p:txBody>
      </p:sp>
      <p:sp>
        <p:nvSpPr>
          <p:cNvPr id="39" name="Text 37"/>
          <p:cNvSpPr/>
          <p:nvPr/>
        </p:nvSpPr>
        <p:spPr>
          <a:xfrm>
            <a:off x="10012680" y="5138928"/>
            <a:ext cx="1645920" cy="292608"/>
          </a:xfrm>
          <a:prstGeom prst="rect">
            <a:avLst/>
          </a:prstGeom>
          <a:noFill/>
          <a:ln/>
        </p:spPr>
        <p:txBody>
          <a:bodyPr wrap="square" lIns="0" tIns="0" rIns="0" bIns="0" rtlCol="0" anchor="ctr"/>
          <a:lstStyle/>
          <a:p>
            <a:pPr marL="0" indent="0">
              <a:buNone/>
            </a:pPr>
            <a:r>
              <a:rPr lang="en-US" sz="1200" dirty="0">
                <a:solidFill>
                  <a:srgbClr val="1E293B"/>
                </a:solidFill>
                <a:latin typeface="Meiryo" pitchFamily="34" charset="0"/>
                <a:ea typeface="Meiryo" pitchFamily="34" charset="-122"/>
                <a:cs typeface="Meiryo" pitchFamily="34" charset="-120"/>
              </a:rPr>
              <a:t>該当なし</a:t>
            </a:r>
            <a:endParaRPr lang="en-US" sz="1200" dirty="0"/>
          </a:p>
        </p:txBody>
      </p:sp>
      <p:sp>
        <p:nvSpPr>
          <p:cNvPr id="40" name="Text 38"/>
          <p:cNvSpPr/>
          <p:nvPr/>
        </p:nvSpPr>
        <p:spPr>
          <a:xfrm>
            <a:off x="548640" y="6053328"/>
            <a:ext cx="11064240" cy="320040"/>
          </a:xfrm>
          <a:prstGeom prst="rect">
            <a:avLst/>
          </a:prstGeom>
          <a:noFill/>
          <a:ln/>
        </p:spPr>
        <p:txBody>
          <a:bodyPr wrap="square" lIns="0" tIns="0" rIns="0" bIns="0" rtlCol="0" anchor="ctr"/>
          <a:lstStyle/>
          <a:p>
            <a:pPr marL="0" indent="0" algn="ctr">
              <a:buNone/>
            </a:pPr>
            <a:r>
              <a:rPr lang="en-US" sz="1050" i="1" dirty="0">
                <a:solidFill>
                  <a:srgbClr val="5B6B7B"/>
                </a:solidFill>
                <a:latin typeface="Meiryo" pitchFamily="34" charset="0"/>
                <a:ea typeface="Meiryo" pitchFamily="34" charset="-122"/>
                <a:cs typeface="Meiryo" pitchFamily="34" charset="-120"/>
              </a:rPr>
              <a:t>優先度 ＝ 発生可能性 × 影響度。最優先リスク（T1・T2）は事業継続と法令対応の両面で影響が最大。</a:t>
            </a:r>
            <a:endParaRPr lang="en-US" sz="1050" dirty="0"/>
          </a:p>
        </p:txBody>
      </p:sp>
      <p:sp>
        <p:nvSpPr>
          <p:cNvPr id="41" name="Text 39"/>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42" name="Text 40"/>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Meiryo" pitchFamily="34" charset="0"/>
                <a:ea typeface="Meiryo" pitchFamily="34" charset="-122"/>
                <a:cs typeface="Meiryo" pitchFamily="34" charset="-120"/>
              </a:rPr>
              <a:t>2. リスク分析 ③（続）</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600" b="1" dirty="0">
                <a:solidFill>
                  <a:srgbClr val="0F2A47"/>
                </a:solidFill>
                <a:latin typeface="Meiryo" pitchFamily="34" charset="0"/>
                <a:ea typeface="Meiryo" pitchFamily="34" charset="-122"/>
                <a:cs typeface="Meiryo" pitchFamily="34" charset="-120"/>
              </a:rPr>
              <a:t>優先順位に基づくリスク対策の実施</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4754880"/>
        </p:xfrm>
        <a:graphic>
          <a:graphicData uri="http://schemas.openxmlformats.org/drawingml/2006/table">
            <a:tbl>
              <a:tblPr/>
              <a:tblGrid>
                <a:gridCol w="12801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8366760">
                  <a:extLst>
                    <a:ext uri="{9D8B030D-6E8A-4147-A177-3AD203B41FA5}">
                      <a16:colId xmlns:a16="http://schemas.microsoft.com/office/drawing/2014/main" val="20002"/>
                    </a:ext>
                  </a:extLst>
                </a:gridCol>
              </a:tblGrid>
              <a:tr h="1188720">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優先度</a:t>
                      </a:r>
                      <a:endParaRPr lang="en-US" sz="120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対象リスク</a:t>
                      </a:r>
                      <a:endParaRPr lang="en-US" sz="120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主なリスク対策</a:t>
                      </a:r>
                      <a:endParaRPr lang="en-US" sz="120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extLst>
                  <a:ext uri="{0D108BD9-81ED-4DB2-BD59-A6C34878D82A}">
                    <a16:rowId xmlns:a16="http://schemas.microsoft.com/office/drawing/2014/main" val="10000"/>
                  </a:ext>
                </a:extLst>
              </a:tr>
              <a:tr h="1188720">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最優先</a:t>
                      </a:r>
                      <a:endParaRPr lang="en-US" sz="120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ctr">
                        <a:buNone/>
                      </a:pPr>
                      <a:r>
                        <a:rPr lang="en-US" sz="1050" b="1" dirty="0">
                          <a:solidFill>
                            <a:srgbClr val="0F2A47"/>
                          </a:solidFill>
                          <a:latin typeface="Meiryo" pitchFamily="34" charset="0"/>
                          <a:ea typeface="Meiryo" pitchFamily="34" charset="-122"/>
                          <a:cs typeface="Meiryo" pitchFamily="34" charset="-120"/>
                        </a:rPr>
                        <a:t>T1 T2</a:t>
                      </a:r>
                      <a:endParaRPr lang="en-US" sz="105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l">
                        <a:buNone/>
                      </a:pPr>
                      <a:r>
                        <a:rPr lang="en-US" sz="1050" dirty="0">
                          <a:solidFill>
                            <a:srgbClr val="1E293B"/>
                          </a:solidFill>
                          <a:latin typeface="Meiryo" pitchFamily="34" charset="0"/>
                          <a:ea typeface="Meiryo" pitchFamily="34" charset="-122"/>
                          <a:cs typeface="Meiryo" pitchFamily="34" charset="-120"/>
                        </a:rPr>
                        <a:t>多層防御・EDR 導入、オフライン／イミュータブルバックアップ、SOC による24時間365日監視、脆弱性管理・パッチ適用、多要素認証（MFA）</a:t>
                      </a:r>
                      <a:endParaRPr lang="en-US" sz="105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1"/>
                  </a:ext>
                </a:extLst>
              </a:tr>
              <a:tr h="1188720">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高</a:t>
                      </a:r>
                      <a:endParaRPr lang="en-US" sz="120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C0392B"/>
                    </a:solidFill>
                  </a:tcPr>
                </a:tc>
                <a:tc>
                  <a:txBody>
                    <a:bodyPr/>
                    <a:lstStyle/>
                    <a:p>
                      <a:pPr marL="0" indent="0" algn="ctr">
                        <a:buNone/>
                      </a:pPr>
                      <a:r>
                        <a:rPr lang="en-US" sz="1050" b="1" dirty="0">
                          <a:solidFill>
                            <a:srgbClr val="0F2A47"/>
                          </a:solidFill>
                          <a:latin typeface="Meiryo" pitchFamily="34" charset="0"/>
                          <a:ea typeface="Meiryo" pitchFamily="34" charset="-122"/>
                          <a:cs typeface="Meiryo" pitchFamily="34" charset="-120"/>
                        </a:rPr>
                        <a:t>T3 T4</a:t>
                      </a:r>
                      <a:endParaRPr lang="en-US" sz="1050" dirty="0">
                        <a:latin typeface="Meiryo" charset="0"/>
                        <a:ea typeface="Meiryo" charset="0"/>
                        <a:cs typeface="Meiryo" charset="0"/>
                      </a:endParaRPr>
                    </a:p>
                    <a:p>
                      <a:pPr marL="0" indent="0" algn="ctr">
                        <a:buNone/>
                      </a:pPr>
                      <a:r>
                        <a:rPr lang="en-US" sz="1050" b="1" dirty="0">
                          <a:solidFill>
                            <a:srgbClr val="0F2A47"/>
                          </a:solidFill>
                          <a:latin typeface="Meiryo" pitchFamily="34" charset="0"/>
                          <a:ea typeface="Meiryo" pitchFamily="34" charset="-122"/>
                          <a:cs typeface="Meiryo" pitchFamily="34" charset="-120"/>
                        </a:rPr>
                        <a:t>T5 T7</a:t>
                      </a:r>
                      <a:endParaRPr lang="en-US" sz="105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l">
                        <a:buNone/>
                      </a:pPr>
                      <a:r>
                        <a:rPr lang="en-US" sz="1050" dirty="0">
                          <a:solidFill>
                            <a:srgbClr val="1E293B"/>
                          </a:solidFill>
                          <a:latin typeface="Meiryo" pitchFamily="34" charset="0"/>
                          <a:ea typeface="Meiryo" pitchFamily="34" charset="-122"/>
                          <a:cs typeface="Meiryo" pitchFamily="34" charset="-120"/>
                        </a:rPr>
                        <a:t>委託先の選定基準・監査・秘密保持、特権ID 管理とアクセスログ監査、WAF・セキュアコーディング・PCI DSS 準拠、メール誤送信対策・DLP による持出し制御</a:t>
                      </a:r>
                      <a:endParaRPr lang="en-US" sz="105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2"/>
                  </a:ext>
                </a:extLst>
              </a:tr>
              <a:tr h="1188720">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中</a:t>
                      </a:r>
                      <a:endParaRPr lang="en-US" sz="120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08A2B"/>
                    </a:solidFill>
                  </a:tcPr>
                </a:tc>
                <a:tc>
                  <a:txBody>
                    <a:bodyPr/>
                    <a:lstStyle/>
                    <a:p>
                      <a:pPr marL="0" indent="0" algn="ctr">
                        <a:buNone/>
                      </a:pPr>
                      <a:r>
                        <a:rPr lang="en-US" sz="1050" b="1" dirty="0">
                          <a:solidFill>
                            <a:srgbClr val="0F2A47"/>
                          </a:solidFill>
                          <a:latin typeface="Meiryo" pitchFamily="34" charset="0"/>
                          <a:ea typeface="Meiryo" pitchFamily="34" charset="-122"/>
                          <a:cs typeface="Meiryo" pitchFamily="34" charset="-120"/>
                        </a:rPr>
                        <a:t>T6 T8 T9</a:t>
                      </a:r>
                      <a:endParaRPr lang="en-US" sz="105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tc>
                  <a:txBody>
                    <a:bodyPr/>
                    <a:lstStyle/>
                    <a:p>
                      <a:pPr marL="0" indent="0" algn="l">
                        <a:buNone/>
                      </a:pPr>
                      <a:r>
                        <a:rPr lang="en-US" sz="1050" dirty="0">
                          <a:solidFill>
                            <a:srgbClr val="1E293B"/>
                          </a:solidFill>
                          <a:latin typeface="Meiryo" pitchFamily="34" charset="0"/>
                          <a:ea typeface="Meiryo" pitchFamily="34" charset="-122"/>
                          <a:cs typeface="Meiryo" pitchFamily="34" charset="-120"/>
                        </a:rPr>
                        <a:t>端末暗号化・MDM・持出し管理、WAF／CDN・回線冗長化、BCP・災害復旧（DR）計画、データセンタ分散、定期バックアップと復旧訓練</a:t>
                      </a:r>
                      <a:endParaRPr lang="en-US" sz="1050" dirty="0">
                        <a:latin typeface="Meiryo" charset="0"/>
                        <a:ea typeface="Meiryo" charset="0"/>
                        <a:cs typeface="Meiryo" charset="0"/>
                      </a:endParaRPr>
                    </a:p>
                  </a:txBody>
                  <a:tcPr marL="88900" marR="88900" marT="50800" marB="508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548640" y="6172200"/>
            <a:ext cx="11064240" cy="292608"/>
          </a:xfrm>
          <a:prstGeom prst="rect">
            <a:avLst/>
          </a:prstGeom>
          <a:noFill/>
          <a:ln/>
        </p:spPr>
        <p:txBody>
          <a:bodyPr wrap="square" lIns="0" tIns="0" rIns="0" bIns="0" rtlCol="0" anchor="ctr"/>
          <a:lstStyle/>
          <a:p>
            <a:pPr marL="0" indent="0">
              <a:buNone/>
            </a:pPr>
            <a:r>
              <a:rPr lang="en-US" sz="1050" b="1" i="1" dirty="0">
                <a:solidFill>
                  <a:srgbClr val="1C7293"/>
                </a:solidFill>
                <a:latin typeface="Meiryo" pitchFamily="34" charset="0"/>
                <a:ea typeface="Meiryo" pitchFamily="34" charset="-122"/>
                <a:cs typeface="Meiryo" pitchFamily="34" charset="-120"/>
              </a:rPr>
              <a:t>最優先・高リスクの多くは「発生を完全には防げない」前提での早期検知と対応が鍵 → 次章で「事件・事故の対応」を具体化する。</a:t>
            </a:r>
            <a:endParaRPr lang="en-US" sz="1050" dirty="0"/>
          </a:p>
        </p:txBody>
      </p:sp>
      <p:sp>
        <p:nvSpPr>
          <p:cNvPr id="6" name="Text 3"/>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7" name="Text 4"/>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Meiryo" pitchFamily="34" charset="0"/>
                <a:ea typeface="Meiryo" pitchFamily="34" charset="-122"/>
                <a:cs typeface="Meiryo" pitchFamily="34" charset="-120"/>
              </a:rPr>
              <a:t>3. 改訂 ①</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600" b="1" dirty="0">
                <a:solidFill>
                  <a:srgbClr val="0F2A47"/>
                </a:solidFill>
                <a:latin typeface="Meiryo" pitchFamily="34" charset="0"/>
                <a:ea typeface="Meiryo" pitchFamily="34" charset="-122"/>
                <a:cs typeface="Meiryo" pitchFamily="34" charset="-120"/>
              </a:rPr>
              <a:t>基本規定「7. 事件・事故の対応」の改訂（現行 → 改訂後）</a:t>
            </a:r>
            <a:endParaRPr lang="en-US" sz="2600" dirty="0"/>
          </a:p>
        </p:txBody>
      </p:sp>
      <p:sp>
        <p:nvSpPr>
          <p:cNvPr id="4" name="Shape 2"/>
          <p:cNvSpPr/>
          <p:nvPr/>
        </p:nvSpPr>
        <p:spPr>
          <a:xfrm>
            <a:off x="548640" y="1481328"/>
            <a:ext cx="5074920" cy="4617720"/>
          </a:xfrm>
          <a:prstGeom prst="roundRect">
            <a:avLst>
              <a:gd name="adj" fmla="val 1386"/>
            </a:avLst>
          </a:prstGeom>
          <a:solidFill>
            <a:srgbClr val="EEF4F8"/>
          </a:solidFill>
          <a:ln w="12700">
            <a:solidFill>
              <a:srgbClr val="D8E1E8"/>
            </a:solidFill>
            <a:prstDash val="solid"/>
          </a:ln>
        </p:spPr>
        <p:txBody>
          <a:bodyPr/>
          <a:lstStyle/>
          <a:p>
            <a:endParaRPr lang="ja-JP" altLang="en-US"/>
          </a:p>
        </p:txBody>
      </p:sp>
      <p:sp>
        <p:nvSpPr>
          <p:cNvPr id="5" name="Text 3"/>
          <p:cNvSpPr/>
          <p:nvPr/>
        </p:nvSpPr>
        <p:spPr>
          <a:xfrm>
            <a:off x="777240" y="1645920"/>
            <a:ext cx="4572000" cy="329184"/>
          </a:xfrm>
          <a:prstGeom prst="rect">
            <a:avLst/>
          </a:prstGeom>
          <a:noFill/>
          <a:ln/>
        </p:spPr>
        <p:txBody>
          <a:bodyPr wrap="square" lIns="0" tIns="0" rIns="0" bIns="0" rtlCol="0" anchor="ctr"/>
          <a:lstStyle/>
          <a:p>
            <a:pPr marL="0" indent="0">
              <a:buNone/>
            </a:pPr>
            <a:r>
              <a:rPr lang="en-US" sz="1400" b="1" dirty="0">
                <a:solidFill>
                  <a:srgbClr val="5B6B7B"/>
                </a:solidFill>
                <a:latin typeface="Meiryo" pitchFamily="34" charset="0"/>
                <a:ea typeface="Meiryo" pitchFamily="34" charset="-122"/>
                <a:cs typeface="Meiryo" pitchFamily="34" charset="-120"/>
              </a:rPr>
              <a:t>現行（別紙2-4）</a:t>
            </a:r>
            <a:endParaRPr lang="en-US" sz="1400" dirty="0"/>
          </a:p>
        </p:txBody>
      </p:sp>
      <p:sp>
        <p:nvSpPr>
          <p:cNvPr id="6" name="Text 4"/>
          <p:cNvSpPr/>
          <p:nvPr/>
        </p:nvSpPr>
        <p:spPr>
          <a:xfrm>
            <a:off x="777240" y="2057400"/>
            <a:ext cx="4617720" cy="3840480"/>
          </a:xfrm>
          <a:prstGeom prst="rect">
            <a:avLst/>
          </a:prstGeom>
          <a:noFill/>
          <a:ln/>
        </p:spPr>
        <p:txBody>
          <a:bodyPr wrap="square" lIns="0" tIns="0" rIns="0" bIns="0" rtlCol="0" anchor="t"/>
          <a:lstStyle/>
          <a:p>
            <a:pPr marL="0" indent="0">
              <a:lnSpc>
                <a:spcPct val="120000"/>
              </a:lnSpc>
              <a:buNone/>
            </a:pPr>
            <a:r>
              <a:rPr lang="en-US" sz="1200" dirty="0">
                <a:solidFill>
                  <a:srgbClr val="1E293B"/>
                </a:solidFill>
                <a:latin typeface="Meiryo" pitchFamily="34" charset="0"/>
                <a:ea typeface="Meiryo" pitchFamily="34" charset="-122"/>
                <a:cs typeface="Meiryo" pitchFamily="34" charset="-120"/>
              </a:rPr>
              <a:t>情報資産の盗難、改竄、破壊、漏洩、不正アクセスなど、万が一、情報セキュリティ事故または事件が発生した場合、もしくはその予兆が確認された場合、被害を最小限にとどめ、復旧等のために迅速かつ適切に措置を講じることができるよう、危機を適切に管理するとともに、関係機関への連絡や手続きを迅速に行います。</a:t>
            </a:r>
            <a:endParaRPr lang="en-US" sz="1200" dirty="0"/>
          </a:p>
        </p:txBody>
      </p:sp>
      <p:sp>
        <p:nvSpPr>
          <p:cNvPr id="7" name="Text 5"/>
          <p:cNvSpPr/>
          <p:nvPr/>
        </p:nvSpPr>
        <p:spPr>
          <a:xfrm>
            <a:off x="777240" y="5623560"/>
            <a:ext cx="4617720" cy="365760"/>
          </a:xfrm>
          <a:prstGeom prst="rect">
            <a:avLst/>
          </a:prstGeom>
          <a:noFill/>
          <a:ln/>
        </p:spPr>
        <p:txBody>
          <a:bodyPr wrap="square" lIns="0" tIns="0" rIns="0" bIns="0" rtlCol="0" anchor="ctr"/>
          <a:lstStyle/>
          <a:p>
            <a:pPr marL="0" indent="0">
              <a:buNone/>
            </a:pPr>
            <a:r>
              <a:rPr lang="en-US" sz="1050" i="1" dirty="0">
                <a:solidFill>
                  <a:srgbClr val="C0392B"/>
                </a:solidFill>
                <a:latin typeface="Meiryo" pitchFamily="34" charset="0"/>
                <a:ea typeface="Meiryo" pitchFamily="34" charset="-122"/>
                <a:cs typeface="Meiryo" pitchFamily="34" charset="-120"/>
              </a:rPr>
              <a:t>→ 抽象的で、体制・手順・報告先・期限が不明確</a:t>
            </a:r>
            <a:endParaRPr lang="en-US" sz="1050" dirty="0"/>
          </a:p>
        </p:txBody>
      </p:sp>
      <p:sp>
        <p:nvSpPr>
          <p:cNvPr id="8" name="Shape 6"/>
          <p:cNvSpPr/>
          <p:nvPr/>
        </p:nvSpPr>
        <p:spPr>
          <a:xfrm>
            <a:off x="5852160" y="1481328"/>
            <a:ext cx="5806440" cy="4617720"/>
          </a:xfrm>
          <a:prstGeom prst="roundRect">
            <a:avLst>
              <a:gd name="adj" fmla="val 1386"/>
            </a:avLst>
          </a:prstGeom>
          <a:solidFill>
            <a:srgbClr val="FFFFFF"/>
          </a:solidFill>
          <a:ln w="19050">
            <a:solidFill>
              <a:srgbClr val="1C7293"/>
            </a:solidFill>
            <a:prstDash val="solid"/>
          </a:ln>
          <a:effectLst>
            <a:outerShdw blurRad="88900" dist="38100" dir="5400000" algn="bl" rotWithShape="0">
              <a:srgbClr val="0F2A47">
                <a:alpha val="16000"/>
              </a:srgbClr>
            </a:outerShdw>
          </a:effectLst>
        </p:spPr>
        <p:txBody>
          <a:bodyPr/>
          <a:lstStyle/>
          <a:p>
            <a:endParaRPr lang="ja-JP" altLang="en-US"/>
          </a:p>
        </p:txBody>
      </p:sp>
      <p:sp>
        <p:nvSpPr>
          <p:cNvPr id="9" name="Text 7"/>
          <p:cNvSpPr/>
          <p:nvPr/>
        </p:nvSpPr>
        <p:spPr>
          <a:xfrm>
            <a:off x="6080760" y="1645920"/>
            <a:ext cx="4572000" cy="329184"/>
          </a:xfrm>
          <a:prstGeom prst="rect">
            <a:avLst/>
          </a:prstGeom>
          <a:noFill/>
          <a:ln/>
        </p:spPr>
        <p:txBody>
          <a:bodyPr wrap="square" lIns="0" tIns="0" rIns="0" bIns="0" rtlCol="0" anchor="ctr"/>
          <a:lstStyle/>
          <a:p>
            <a:pPr marL="0" indent="0">
              <a:buNone/>
            </a:pPr>
            <a:r>
              <a:rPr lang="en-US" sz="1400" b="1" dirty="0">
                <a:solidFill>
                  <a:srgbClr val="1C7293"/>
                </a:solidFill>
                <a:latin typeface="Meiryo" pitchFamily="34" charset="0"/>
                <a:ea typeface="Meiryo" pitchFamily="34" charset="-122"/>
                <a:cs typeface="Meiryo" pitchFamily="34" charset="-120"/>
              </a:rPr>
              <a:t>改訂後</a:t>
            </a:r>
            <a:endParaRPr lang="en-US" sz="1400" dirty="0"/>
          </a:p>
        </p:txBody>
      </p:sp>
      <p:sp>
        <p:nvSpPr>
          <p:cNvPr id="10" name="Text 8"/>
          <p:cNvSpPr/>
          <p:nvPr/>
        </p:nvSpPr>
        <p:spPr>
          <a:xfrm>
            <a:off x="6080760" y="2057400"/>
            <a:ext cx="5349240" cy="3977640"/>
          </a:xfrm>
          <a:prstGeom prst="rect">
            <a:avLst/>
          </a:prstGeom>
          <a:noFill/>
          <a:ln/>
        </p:spPr>
        <p:txBody>
          <a:bodyPr wrap="square" lIns="0" tIns="0" rIns="0" bIns="0" rtlCol="0" anchor="t"/>
          <a:lstStyle/>
          <a:p>
            <a:pPr marL="0" indent="0">
              <a:lnSpc>
                <a:spcPct val="118000"/>
              </a:lnSpc>
              <a:buNone/>
            </a:pPr>
            <a:r>
              <a:rPr lang="en-US" sz="1200" dirty="0">
                <a:solidFill>
                  <a:srgbClr val="1E293B"/>
                </a:solidFill>
                <a:latin typeface="Meiryo" pitchFamily="34" charset="0"/>
                <a:ea typeface="Meiryo" pitchFamily="34" charset="-122"/>
                <a:cs typeface="Meiryo" pitchFamily="34" charset="-120"/>
              </a:rPr>
              <a:t>当社は、情報セキュリティ事件・事故（その予兆・疑いを含む）に迅速かつ適切に対応するため、CISO を頂点とする </a:t>
            </a:r>
            <a:r>
              <a:rPr lang="en-US" sz="1200" b="1" dirty="0">
                <a:solidFill>
                  <a:srgbClr val="0F2A47"/>
                </a:solidFill>
                <a:latin typeface="Meiryo" pitchFamily="34" charset="0"/>
                <a:ea typeface="Meiryo" pitchFamily="34" charset="-122"/>
                <a:cs typeface="Meiryo" pitchFamily="34" charset="-120"/>
              </a:rPr>
              <a:t>CSIRT を中心とした対応体制</a:t>
            </a:r>
            <a:r>
              <a:rPr lang="en-US" sz="1200" dirty="0">
                <a:solidFill>
                  <a:srgbClr val="1E293B"/>
                </a:solidFill>
                <a:latin typeface="Meiryo" pitchFamily="34" charset="0"/>
                <a:ea typeface="Meiryo" pitchFamily="34" charset="-122"/>
                <a:cs typeface="Meiryo" pitchFamily="34" charset="-120"/>
              </a:rPr>
              <a:t>を常設し、外部委託先である </a:t>
            </a:r>
            <a:r>
              <a:rPr lang="en-US" sz="1200" b="1" dirty="0">
                <a:solidFill>
                  <a:srgbClr val="0F2A47"/>
                </a:solidFill>
                <a:latin typeface="Meiryo" pitchFamily="34" charset="0"/>
                <a:ea typeface="Meiryo" pitchFamily="34" charset="-122"/>
                <a:cs typeface="Meiryo" pitchFamily="34" charset="-120"/>
              </a:rPr>
              <a:t>SOC と連携</a:t>
            </a:r>
            <a:r>
              <a:rPr lang="en-US" sz="1200" dirty="0">
                <a:solidFill>
                  <a:srgbClr val="1E293B"/>
                </a:solidFill>
                <a:latin typeface="Meiryo" pitchFamily="34" charset="0"/>
                <a:ea typeface="Meiryo" pitchFamily="34" charset="-122"/>
                <a:cs typeface="Meiryo" pitchFamily="34" charset="-120"/>
              </a:rPr>
              <a:t>して24時間365日の検知・初動を行う。事件・事故は </a:t>
            </a:r>
            <a:r>
              <a:rPr lang="en-US" sz="1200" b="1" dirty="0">
                <a:solidFill>
                  <a:srgbClr val="0F2A47"/>
                </a:solidFill>
                <a:latin typeface="Meiryo" pitchFamily="34" charset="0"/>
                <a:ea typeface="Meiryo" pitchFamily="34" charset="-122"/>
                <a:cs typeface="Meiryo" pitchFamily="34" charset="-120"/>
              </a:rPr>
              <a:t>検知・報告 → トリアージ・分析 → 封じ込め・根絶 → 復旧 → 事後対応</a:t>
            </a:r>
            <a:r>
              <a:rPr lang="en-US" sz="1200" dirty="0">
                <a:solidFill>
                  <a:srgbClr val="1E293B"/>
                </a:solidFill>
                <a:latin typeface="Meiryo" pitchFamily="34" charset="0"/>
                <a:ea typeface="Meiryo" pitchFamily="34" charset="-122"/>
                <a:cs typeface="Meiryo" pitchFamily="34" charset="-120"/>
              </a:rPr>
              <a:t> の各段階に従って対応し、証拠保全を徹底する。</a:t>
            </a:r>
            <a:endParaRPr lang="en-US" sz="1200" dirty="0"/>
          </a:p>
          <a:p>
            <a:pPr marL="0" indent="0">
              <a:lnSpc>
                <a:spcPct val="118000"/>
              </a:lnSpc>
              <a:buNone/>
            </a:pPr>
            <a:r>
              <a:rPr lang="en-US" sz="1200" dirty="0">
                <a:solidFill>
                  <a:srgbClr val="1E293B"/>
                </a:solidFill>
                <a:latin typeface="Meiryo" pitchFamily="34" charset="0"/>
                <a:ea typeface="Meiryo" pitchFamily="34" charset="-122"/>
                <a:cs typeface="Meiryo" pitchFamily="34" charset="-120"/>
              </a:rPr>
              <a:t>個人情報の漏えい等が発生・そのおそれがある場合は </a:t>
            </a:r>
            <a:endParaRPr lang="en-US" sz="1200" dirty="0"/>
          </a:p>
          <a:p>
            <a:pPr marL="0" indent="0">
              <a:lnSpc>
                <a:spcPct val="118000"/>
              </a:lnSpc>
              <a:buNone/>
            </a:pPr>
            <a:r>
              <a:rPr lang="en-US" sz="1200" b="1" dirty="0">
                <a:solidFill>
                  <a:srgbClr val="0F2A47"/>
                </a:solidFill>
                <a:latin typeface="Meiryo" pitchFamily="34" charset="0"/>
                <a:ea typeface="Meiryo" pitchFamily="34" charset="-122"/>
                <a:cs typeface="Meiryo" pitchFamily="34" charset="-120"/>
              </a:rPr>
              <a:t>個人情報保護委員会への報告および本人への通知</a:t>
            </a:r>
            <a:r>
              <a:rPr lang="en-US" sz="1200" dirty="0">
                <a:solidFill>
                  <a:srgbClr val="1E293B"/>
                </a:solidFill>
                <a:latin typeface="Meiryo" pitchFamily="34" charset="0"/>
                <a:ea typeface="Meiryo" pitchFamily="34" charset="-122"/>
                <a:cs typeface="Meiryo" pitchFamily="34" charset="-120"/>
              </a:rPr>
              <a:t> を法定期限内に行う。EU 居住者の個人データが対象の場合は、GDPR に基づき </a:t>
            </a:r>
            <a:r>
              <a:rPr lang="en-US" sz="1200" b="1" dirty="0">
                <a:solidFill>
                  <a:srgbClr val="C0392B"/>
                </a:solidFill>
                <a:latin typeface="Meiryo" pitchFamily="34" charset="0"/>
                <a:ea typeface="Meiryo" pitchFamily="34" charset="-122"/>
                <a:cs typeface="Meiryo" pitchFamily="34" charset="-120"/>
              </a:rPr>
              <a:t>監督機関へ原則72時間以内に通知</a:t>
            </a:r>
            <a:r>
              <a:rPr lang="en-US" sz="1200" dirty="0">
                <a:solidFill>
                  <a:srgbClr val="1E293B"/>
                </a:solidFill>
                <a:latin typeface="Meiryo" pitchFamily="34" charset="0"/>
                <a:ea typeface="Meiryo" pitchFamily="34" charset="-122"/>
                <a:cs typeface="Meiryo" pitchFamily="34" charset="-120"/>
              </a:rPr>
              <a:t> する。対応の詳細は別途「対策基準」および「実施手順」に定め、対応後は原因分析と再発防止策を講じる。</a:t>
            </a:r>
            <a:endParaRPr lang="en-US" sz="1200" dirty="0"/>
          </a:p>
        </p:txBody>
      </p:sp>
      <p:sp>
        <p:nvSpPr>
          <p:cNvPr id="11" name="Text 9"/>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12" name="Text 10"/>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Meiryo" pitchFamily="34" charset="0"/>
                <a:ea typeface="Meiryo" pitchFamily="34" charset="-122"/>
                <a:cs typeface="Meiryo" pitchFamily="34" charset="-120"/>
              </a:rPr>
              <a:t>3. 改訂 ②｜対策基準（事件・事故対応）</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600" b="1" dirty="0">
                <a:solidFill>
                  <a:srgbClr val="0F2A47"/>
                </a:solidFill>
                <a:latin typeface="Meiryo" pitchFamily="34" charset="0"/>
                <a:ea typeface="Meiryo" pitchFamily="34" charset="-122"/>
                <a:cs typeface="Meiryo" pitchFamily="34" charset="-120"/>
              </a:rPr>
              <a:t>インシデント対応プロセスと役割分担</a:t>
            </a:r>
            <a:endParaRPr lang="en-US" sz="2600" dirty="0"/>
          </a:p>
        </p:txBody>
      </p:sp>
      <p:sp>
        <p:nvSpPr>
          <p:cNvPr id="4" name="Shape 2"/>
          <p:cNvSpPr/>
          <p:nvPr/>
        </p:nvSpPr>
        <p:spPr>
          <a:xfrm>
            <a:off x="548640" y="1536192"/>
            <a:ext cx="3566160" cy="1207008"/>
          </a:xfrm>
          <a:prstGeom prst="roundRect">
            <a:avLst>
              <a:gd name="adj" fmla="val 5303"/>
            </a:avLst>
          </a:prstGeom>
          <a:solidFill>
            <a:srgbClr val="FFFFFF"/>
          </a:solidFill>
          <a:ln w="12700">
            <a:solidFill>
              <a:srgbClr val="D8E1E8"/>
            </a:solidFill>
            <a:prstDash val="solid"/>
          </a:ln>
          <a:effectLst>
            <a:outerShdw blurRad="88900" dist="38100" dir="5400000" algn="bl" rotWithShape="0">
              <a:srgbClr val="0F2A47">
                <a:alpha val="16000"/>
              </a:srgbClr>
            </a:outerShdw>
          </a:effectLst>
        </p:spPr>
        <p:txBody>
          <a:bodyPr/>
          <a:lstStyle/>
          <a:p>
            <a:endParaRPr lang="ja-JP" altLang="en-US"/>
          </a:p>
        </p:txBody>
      </p:sp>
      <p:sp>
        <p:nvSpPr>
          <p:cNvPr id="5" name="Shape 3"/>
          <p:cNvSpPr/>
          <p:nvPr/>
        </p:nvSpPr>
        <p:spPr>
          <a:xfrm>
            <a:off x="749808" y="1755648"/>
            <a:ext cx="658368" cy="658368"/>
          </a:xfrm>
          <a:prstGeom prst="ellipse">
            <a:avLst/>
          </a:prstGeom>
          <a:solidFill>
            <a:srgbClr val="1C7293"/>
          </a:solidFill>
          <a:ln/>
        </p:spPr>
        <p:txBody>
          <a:bodyPr/>
          <a:lstStyle/>
          <a:p>
            <a:endParaRPr lang="ja-JP" altLang="en-US"/>
          </a:p>
        </p:txBody>
      </p:sp>
      <p:sp>
        <p:nvSpPr>
          <p:cNvPr id="6" name="Text 4"/>
          <p:cNvSpPr/>
          <p:nvPr/>
        </p:nvSpPr>
        <p:spPr>
          <a:xfrm>
            <a:off x="749808" y="1755648"/>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Meiryo" pitchFamily="34" charset="0"/>
                <a:ea typeface="Meiryo" pitchFamily="34" charset="-122"/>
                <a:cs typeface="Meiryo" pitchFamily="34" charset="-120"/>
              </a:rPr>
              <a:t>1</a:t>
            </a:r>
            <a:endParaRPr lang="en-US" sz="2600" dirty="0"/>
          </a:p>
        </p:txBody>
      </p:sp>
      <p:sp>
        <p:nvSpPr>
          <p:cNvPr id="7" name="Text 5"/>
          <p:cNvSpPr/>
          <p:nvPr/>
        </p:nvSpPr>
        <p:spPr>
          <a:xfrm>
            <a:off x="1536192" y="1700784"/>
            <a:ext cx="2468880" cy="365760"/>
          </a:xfrm>
          <a:prstGeom prst="rect">
            <a:avLst/>
          </a:prstGeom>
          <a:noFill/>
          <a:ln/>
        </p:spPr>
        <p:txBody>
          <a:bodyPr wrap="square" lIns="0" tIns="0" rIns="0" bIns="0" rtlCol="0" anchor="ctr"/>
          <a:lstStyle/>
          <a:p>
            <a:pPr marL="0" indent="0">
              <a:buNone/>
            </a:pPr>
            <a:r>
              <a:rPr lang="en-US" sz="1500" b="1" dirty="0">
                <a:solidFill>
                  <a:srgbClr val="0F2A47"/>
                </a:solidFill>
                <a:latin typeface="Meiryo" pitchFamily="34" charset="0"/>
                <a:ea typeface="Meiryo" pitchFamily="34" charset="-122"/>
                <a:cs typeface="Meiryo" pitchFamily="34" charset="-120"/>
              </a:rPr>
              <a:t>検知・受付</a:t>
            </a:r>
            <a:endParaRPr lang="en-US" sz="1500" dirty="0"/>
          </a:p>
        </p:txBody>
      </p:sp>
      <p:sp>
        <p:nvSpPr>
          <p:cNvPr id="8" name="Text 6"/>
          <p:cNvSpPr/>
          <p:nvPr/>
        </p:nvSpPr>
        <p:spPr>
          <a:xfrm>
            <a:off x="1536192" y="2048256"/>
            <a:ext cx="2468880" cy="621792"/>
          </a:xfrm>
          <a:prstGeom prst="rect">
            <a:avLst/>
          </a:prstGeom>
          <a:noFill/>
          <a:ln/>
        </p:spPr>
        <p:txBody>
          <a:bodyPr wrap="square" lIns="0" tIns="0" rIns="0" bIns="0" rtlCol="0" anchor="ctr"/>
          <a:lstStyle/>
          <a:p>
            <a:pPr marL="0" indent="0">
              <a:lnSpc>
                <a:spcPct val="105000"/>
              </a:lnSpc>
              <a:buNone/>
            </a:pPr>
            <a:r>
              <a:rPr lang="en-US" sz="1030" dirty="0">
                <a:solidFill>
                  <a:srgbClr val="1E293B"/>
                </a:solidFill>
                <a:latin typeface="Meiryo" pitchFamily="34" charset="0"/>
                <a:ea typeface="Meiryo" pitchFamily="34" charset="-122"/>
                <a:cs typeface="Meiryo" pitchFamily="34" charset="-120"/>
              </a:rPr>
              <a:t>SOC の監視・アラート、従業員からの通報を24時間受付</a:t>
            </a:r>
            <a:endParaRPr lang="en-US" sz="1030" dirty="0"/>
          </a:p>
        </p:txBody>
      </p:sp>
      <p:sp>
        <p:nvSpPr>
          <p:cNvPr id="9" name="Shape 7"/>
          <p:cNvSpPr/>
          <p:nvPr/>
        </p:nvSpPr>
        <p:spPr>
          <a:xfrm>
            <a:off x="4279392" y="1536192"/>
            <a:ext cx="3566160" cy="1207008"/>
          </a:xfrm>
          <a:prstGeom prst="roundRect">
            <a:avLst>
              <a:gd name="adj" fmla="val 5303"/>
            </a:avLst>
          </a:prstGeom>
          <a:solidFill>
            <a:srgbClr val="FFFFFF"/>
          </a:solidFill>
          <a:ln w="12700">
            <a:solidFill>
              <a:srgbClr val="D8E1E8"/>
            </a:solidFill>
            <a:prstDash val="solid"/>
          </a:ln>
          <a:effectLst>
            <a:outerShdw blurRad="88900" dist="38100" dir="5400000" algn="bl" rotWithShape="0">
              <a:srgbClr val="0F2A47">
                <a:alpha val="16000"/>
              </a:srgbClr>
            </a:outerShdw>
          </a:effectLst>
        </p:spPr>
        <p:txBody>
          <a:bodyPr/>
          <a:lstStyle/>
          <a:p>
            <a:endParaRPr lang="ja-JP" altLang="en-US"/>
          </a:p>
        </p:txBody>
      </p:sp>
      <p:sp>
        <p:nvSpPr>
          <p:cNvPr id="10" name="Shape 8"/>
          <p:cNvSpPr/>
          <p:nvPr/>
        </p:nvSpPr>
        <p:spPr>
          <a:xfrm>
            <a:off x="4480560" y="1755648"/>
            <a:ext cx="658368" cy="658368"/>
          </a:xfrm>
          <a:prstGeom prst="ellipse">
            <a:avLst/>
          </a:prstGeom>
          <a:solidFill>
            <a:srgbClr val="0B4F71"/>
          </a:solidFill>
          <a:ln/>
        </p:spPr>
        <p:txBody>
          <a:bodyPr/>
          <a:lstStyle/>
          <a:p>
            <a:endParaRPr lang="ja-JP" altLang="en-US"/>
          </a:p>
        </p:txBody>
      </p:sp>
      <p:sp>
        <p:nvSpPr>
          <p:cNvPr id="11" name="Text 9"/>
          <p:cNvSpPr/>
          <p:nvPr/>
        </p:nvSpPr>
        <p:spPr>
          <a:xfrm>
            <a:off x="4480560" y="1755648"/>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Meiryo" pitchFamily="34" charset="0"/>
                <a:ea typeface="Meiryo" pitchFamily="34" charset="-122"/>
                <a:cs typeface="Meiryo" pitchFamily="34" charset="-120"/>
              </a:rPr>
              <a:t>2</a:t>
            </a:r>
            <a:endParaRPr lang="en-US" sz="2600" dirty="0"/>
          </a:p>
        </p:txBody>
      </p:sp>
      <p:sp>
        <p:nvSpPr>
          <p:cNvPr id="12" name="Text 10"/>
          <p:cNvSpPr/>
          <p:nvPr/>
        </p:nvSpPr>
        <p:spPr>
          <a:xfrm>
            <a:off x="5266944" y="1700784"/>
            <a:ext cx="2468880" cy="365760"/>
          </a:xfrm>
          <a:prstGeom prst="rect">
            <a:avLst/>
          </a:prstGeom>
          <a:noFill/>
          <a:ln/>
        </p:spPr>
        <p:txBody>
          <a:bodyPr wrap="square" lIns="0" tIns="0" rIns="0" bIns="0" rtlCol="0" anchor="ctr"/>
          <a:lstStyle/>
          <a:p>
            <a:pPr marL="0" indent="0">
              <a:buNone/>
            </a:pPr>
            <a:r>
              <a:rPr lang="en-US" sz="1500" b="1" dirty="0">
                <a:solidFill>
                  <a:srgbClr val="0F2A47"/>
                </a:solidFill>
                <a:latin typeface="Meiryo" pitchFamily="34" charset="0"/>
                <a:ea typeface="Meiryo" pitchFamily="34" charset="-122"/>
                <a:cs typeface="Meiryo" pitchFamily="34" charset="-120"/>
              </a:rPr>
              <a:t>初動・報告</a:t>
            </a:r>
            <a:endParaRPr lang="en-US" sz="1500" dirty="0"/>
          </a:p>
        </p:txBody>
      </p:sp>
      <p:sp>
        <p:nvSpPr>
          <p:cNvPr id="13" name="Text 11"/>
          <p:cNvSpPr/>
          <p:nvPr/>
        </p:nvSpPr>
        <p:spPr>
          <a:xfrm>
            <a:off x="5266944" y="2048256"/>
            <a:ext cx="2468880" cy="621792"/>
          </a:xfrm>
          <a:prstGeom prst="rect">
            <a:avLst/>
          </a:prstGeom>
          <a:noFill/>
          <a:ln/>
        </p:spPr>
        <p:txBody>
          <a:bodyPr wrap="square" lIns="0" tIns="0" rIns="0" bIns="0" rtlCol="0" anchor="ctr"/>
          <a:lstStyle/>
          <a:p>
            <a:pPr marL="0" indent="0">
              <a:lnSpc>
                <a:spcPct val="105000"/>
              </a:lnSpc>
              <a:buNone/>
            </a:pPr>
            <a:r>
              <a:rPr lang="en-US" sz="1030" dirty="0">
                <a:solidFill>
                  <a:srgbClr val="1E293B"/>
                </a:solidFill>
                <a:latin typeface="Meiryo" pitchFamily="34" charset="0"/>
                <a:ea typeface="Meiryo" pitchFamily="34" charset="-122"/>
                <a:cs typeface="Meiryo" pitchFamily="34" charset="-120"/>
              </a:rPr>
              <a:t>CSIRT へエスカレーション、CISO へ第一報、初動記録</a:t>
            </a:r>
            <a:endParaRPr lang="en-US" sz="1030" dirty="0"/>
          </a:p>
        </p:txBody>
      </p:sp>
      <p:sp>
        <p:nvSpPr>
          <p:cNvPr id="14" name="Shape 12"/>
          <p:cNvSpPr/>
          <p:nvPr/>
        </p:nvSpPr>
        <p:spPr>
          <a:xfrm>
            <a:off x="8010144" y="1536192"/>
            <a:ext cx="3566160" cy="1207008"/>
          </a:xfrm>
          <a:prstGeom prst="roundRect">
            <a:avLst>
              <a:gd name="adj" fmla="val 5303"/>
            </a:avLst>
          </a:prstGeom>
          <a:solidFill>
            <a:srgbClr val="FFFFFF"/>
          </a:solidFill>
          <a:ln w="12700">
            <a:solidFill>
              <a:srgbClr val="D8E1E8"/>
            </a:solidFill>
            <a:prstDash val="solid"/>
          </a:ln>
          <a:effectLst>
            <a:outerShdw blurRad="88900" dist="38100" dir="5400000" algn="bl" rotWithShape="0">
              <a:srgbClr val="0F2A47">
                <a:alpha val="16000"/>
              </a:srgbClr>
            </a:outerShdw>
          </a:effectLst>
        </p:spPr>
        <p:txBody>
          <a:bodyPr/>
          <a:lstStyle/>
          <a:p>
            <a:endParaRPr lang="ja-JP" altLang="en-US"/>
          </a:p>
        </p:txBody>
      </p:sp>
      <p:sp>
        <p:nvSpPr>
          <p:cNvPr id="15" name="Shape 13"/>
          <p:cNvSpPr/>
          <p:nvPr/>
        </p:nvSpPr>
        <p:spPr>
          <a:xfrm>
            <a:off x="8211312" y="1755648"/>
            <a:ext cx="658368" cy="658368"/>
          </a:xfrm>
          <a:prstGeom prst="ellipse">
            <a:avLst/>
          </a:prstGeom>
          <a:solidFill>
            <a:srgbClr val="1C7293"/>
          </a:solidFill>
          <a:ln/>
        </p:spPr>
        <p:txBody>
          <a:bodyPr/>
          <a:lstStyle/>
          <a:p>
            <a:endParaRPr lang="ja-JP" altLang="en-US"/>
          </a:p>
        </p:txBody>
      </p:sp>
      <p:sp>
        <p:nvSpPr>
          <p:cNvPr id="16" name="Text 14"/>
          <p:cNvSpPr/>
          <p:nvPr/>
        </p:nvSpPr>
        <p:spPr>
          <a:xfrm>
            <a:off x="8211312" y="1755648"/>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Meiryo" pitchFamily="34" charset="0"/>
                <a:ea typeface="Meiryo" pitchFamily="34" charset="-122"/>
                <a:cs typeface="Meiryo" pitchFamily="34" charset="-120"/>
              </a:rPr>
              <a:t>3</a:t>
            </a:r>
            <a:endParaRPr lang="en-US" sz="2600" dirty="0"/>
          </a:p>
        </p:txBody>
      </p:sp>
      <p:sp>
        <p:nvSpPr>
          <p:cNvPr id="17" name="Text 15"/>
          <p:cNvSpPr/>
          <p:nvPr/>
        </p:nvSpPr>
        <p:spPr>
          <a:xfrm>
            <a:off x="8997696" y="1700784"/>
            <a:ext cx="2468880" cy="365760"/>
          </a:xfrm>
          <a:prstGeom prst="rect">
            <a:avLst/>
          </a:prstGeom>
          <a:noFill/>
          <a:ln/>
        </p:spPr>
        <p:txBody>
          <a:bodyPr wrap="square" lIns="0" tIns="0" rIns="0" bIns="0" rtlCol="0" anchor="ctr"/>
          <a:lstStyle/>
          <a:p>
            <a:pPr marL="0" indent="0">
              <a:buNone/>
            </a:pPr>
            <a:r>
              <a:rPr lang="en-US" sz="1500" b="1" dirty="0">
                <a:solidFill>
                  <a:srgbClr val="0F2A47"/>
                </a:solidFill>
                <a:latin typeface="Meiryo" pitchFamily="34" charset="0"/>
                <a:ea typeface="Meiryo" pitchFamily="34" charset="-122"/>
                <a:cs typeface="Meiryo" pitchFamily="34" charset="-120"/>
              </a:rPr>
              <a:t>トリアージ・分析</a:t>
            </a:r>
            <a:endParaRPr lang="en-US" sz="1500" dirty="0"/>
          </a:p>
        </p:txBody>
      </p:sp>
      <p:sp>
        <p:nvSpPr>
          <p:cNvPr id="18" name="Text 16"/>
          <p:cNvSpPr/>
          <p:nvPr/>
        </p:nvSpPr>
        <p:spPr>
          <a:xfrm>
            <a:off x="8997696" y="2048256"/>
            <a:ext cx="2468880" cy="621792"/>
          </a:xfrm>
          <a:prstGeom prst="rect">
            <a:avLst/>
          </a:prstGeom>
          <a:noFill/>
          <a:ln/>
        </p:spPr>
        <p:txBody>
          <a:bodyPr wrap="square" lIns="0" tIns="0" rIns="0" bIns="0" rtlCol="0" anchor="ctr"/>
          <a:lstStyle/>
          <a:p>
            <a:pPr marL="0" indent="0">
              <a:lnSpc>
                <a:spcPct val="105000"/>
              </a:lnSpc>
              <a:buNone/>
            </a:pPr>
            <a:r>
              <a:rPr lang="en-US" sz="1030" dirty="0">
                <a:solidFill>
                  <a:srgbClr val="1E293B"/>
                </a:solidFill>
                <a:latin typeface="Meiryo" pitchFamily="34" charset="0"/>
                <a:ea typeface="Meiryo" pitchFamily="34" charset="-122"/>
                <a:cs typeface="Meiryo" pitchFamily="34" charset="-120"/>
              </a:rPr>
              <a:t>影響範囲・重大度を判定、個人情報／GDPR 該当を確認</a:t>
            </a:r>
            <a:endParaRPr lang="en-US" sz="1030" dirty="0"/>
          </a:p>
        </p:txBody>
      </p:sp>
      <p:sp>
        <p:nvSpPr>
          <p:cNvPr id="19" name="Shape 17"/>
          <p:cNvSpPr/>
          <p:nvPr/>
        </p:nvSpPr>
        <p:spPr>
          <a:xfrm>
            <a:off x="548640" y="3063240"/>
            <a:ext cx="3566160" cy="1207008"/>
          </a:xfrm>
          <a:prstGeom prst="roundRect">
            <a:avLst>
              <a:gd name="adj" fmla="val 5303"/>
            </a:avLst>
          </a:prstGeom>
          <a:solidFill>
            <a:srgbClr val="FFFFFF"/>
          </a:solidFill>
          <a:ln w="12700">
            <a:solidFill>
              <a:srgbClr val="D8E1E8"/>
            </a:solidFill>
            <a:prstDash val="solid"/>
          </a:ln>
          <a:effectLst>
            <a:outerShdw blurRad="88900" dist="38100" dir="5400000" algn="bl" rotWithShape="0">
              <a:srgbClr val="0F2A47">
                <a:alpha val="16000"/>
              </a:srgbClr>
            </a:outerShdw>
          </a:effectLst>
        </p:spPr>
        <p:txBody>
          <a:bodyPr/>
          <a:lstStyle/>
          <a:p>
            <a:endParaRPr lang="ja-JP" altLang="en-US"/>
          </a:p>
        </p:txBody>
      </p:sp>
      <p:sp>
        <p:nvSpPr>
          <p:cNvPr id="20" name="Shape 18"/>
          <p:cNvSpPr/>
          <p:nvPr/>
        </p:nvSpPr>
        <p:spPr>
          <a:xfrm>
            <a:off x="749808" y="3282696"/>
            <a:ext cx="658368" cy="658368"/>
          </a:xfrm>
          <a:prstGeom prst="ellipse">
            <a:avLst/>
          </a:prstGeom>
          <a:solidFill>
            <a:srgbClr val="0B4F71"/>
          </a:solidFill>
          <a:ln/>
        </p:spPr>
        <p:txBody>
          <a:bodyPr/>
          <a:lstStyle/>
          <a:p>
            <a:endParaRPr lang="ja-JP" altLang="en-US"/>
          </a:p>
        </p:txBody>
      </p:sp>
      <p:sp>
        <p:nvSpPr>
          <p:cNvPr id="21" name="Text 19"/>
          <p:cNvSpPr/>
          <p:nvPr/>
        </p:nvSpPr>
        <p:spPr>
          <a:xfrm>
            <a:off x="749808" y="3282696"/>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Meiryo" pitchFamily="34" charset="0"/>
                <a:ea typeface="Meiryo" pitchFamily="34" charset="-122"/>
                <a:cs typeface="Meiryo" pitchFamily="34" charset="-120"/>
              </a:rPr>
              <a:t>4</a:t>
            </a:r>
            <a:endParaRPr lang="en-US" sz="2600" dirty="0"/>
          </a:p>
        </p:txBody>
      </p:sp>
      <p:sp>
        <p:nvSpPr>
          <p:cNvPr id="22" name="Text 20"/>
          <p:cNvSpPr/>
          <p:nvPr/>
        </p:nvSpPr>
        <p:spPr>
          <a:xfrm>
            <a:off x="1536192" y="3227832"/>
            <a:ext cx="2468880" cy="365760"/>
          </a:xfrm>
          <a:prstGeom prst="rect">
            <a:avLst/>
          </a:prstGeom>
          <a:noFill/>
          <a:ln/>
        </p:spPr>
        <p:txBody>
          <a:bodyPr wrap="square" lIns="0" tIns="0" rIns="0" bIns="0" rtlCol="0" anchor="ctr"/>
          <a:lstStyle/>
          <a:p>
            <a:pPr marL="0" indent="0">
              <a:buNone/>
            </a:pPr>
            <a:r>
              <a:rPr lang="en-US" sz="1500" b="1" dirty="0">
                <a:solidFill>
                  <a:srgbClr val="0F2A47"/>
                </a:solidFill>
                <a:latin typeface="Meiryo" pitchFamily="34" charset="0"/>
                <a:ea typeface="Meiryo" pitchFamily="34" charset="-122"/>
                <a:cs typeface="Meiryo" pitchFamily="34" charset="-120"/>
              </a:rPr>
              <a:t>封じ込め・根絶</a:t>
            </a:r>
            <a:endParaRPr lang="en-US" sz="1500" dirty="0"/>
          </a:p>
        </p:txBody>
      </p:sp>
      <p:sp>
        <p:nvSpPr>
          <p:cNvPr id="23" name="Text 21"/>
          <p:cNvSpPr/>
          <p:nvPr/>
        </p:nvSpPr>
        <p:spPr>
          <a:xfrm>
            <a:off x="1536192" y="3575304"/>
            <a:ext cx="2468880" cy="621792"/>
          </a:xfrm>
          <a:prstGeom prst="rect">
            <a:avLst/>
          </a:prstGeom>
          <a:noFill/>
          <a:ln/>
        </p:spPr>
        <p:txBody>
          <a:bodyPr wrap="square" lIns="0" tIns="0" rIns="0" bIns="0" rtlCol="0" anchor="ctr"/>
          <a:lstStyle/>
          <a:p>
            <a:pPr marL="0" indent="0">
              <a:lnSpc>
                <a:spcPct val="105000"/>
              </a:lnSpc>
              <a:buNone/>
            </a:pPr>
            <a:r>
              <a:rPr lang="en-US" sz="1030" dirty="0">
                <a:solidFill>
                  <a:srgbClr val="1E293B"/>
                </a:solidFill>
                <a:latin typeface="Meiryo" pitchFamily="34" charset="0"/>
                <a:ea typeface="Meiryo" pitchFamily="34" charset="-122"/>
                <a:cs typeface="Meiryo" pitchFamily="34" charset="-120"/>
              </a:rPr>
              <a:t>隔離・通信遮断、原因除去、証拠保全（フォレンジック）</a:t>
            </a:r>
            <a:endParaRPr lang="en-US" sz="1030" dirty="0"/>
          </a:p>
        </p:txBody>
      </p:sp>
      <p:sp>
        <p:nvSpPr>
          <p:cNvPr id="24" name="Shape 22"/>
          <p:cNvSpPr/>
          <p:nvPr/>
        </p:nvSpPr>
        <p:spPr>
          <a:xfrm>
            <a:off x="4279392" y="3063240"/>
            <a:ext cx="3566160" cy="1207008"/>
          </a:xfrm>
          <a:prstGeom prst="roundRect">
            <a:avLst>
              <a:gd name="adj" fmla="val 5303"/>
            </a:avLst>
          </a:prstGeom>
          <a:solidFill>
            <a:srgbClr val="FFFFFF"/>
          </a:solidFill>
          <a:ln w="12700">
            <a:solidFill>
              <a:srgbClr val="D8E1E8"/>
            </a:solidFill>
            <a:prstDash val="solid"/>
          </a:ln>
          <a:effectLst>
            <a:outerShdw blurRad="88900" dist="38100" dir="5400000" algn="bl" rotWithShape="0">
              <a:srgbClr val="0F2A47">
                <a:alpha val="16000"/>
              </a:srgbClr>
            </a:outerShdw>
          </a:effectLst>
        </p:spPr>
        <p:txBody>
          <a:bodyPr/>
          <a:lstStyle/>
          <a:p>
            <a:endParaRPr lang="ja-JP" altLang="en-US"/>
          </a:p>
        </p:txBody>
      </p:sp>
      <p:sp>
        <p:nvSpPr>
          <p:cNvPr id="25" name="Shape 23"/>
          <p:cNvSpPr/>
          <p:nvPr/>
        </p:nvSpPr>
        <p:spPr>
          <a:xfrm>
            <a:off x="4480560" y="3282696"/>
            <a:ext cx="658368" cy="658368"/>
          </a:xfrm>
          <a:prstGeom prst="ellipse">
            <a:avLst/>
          </a:prstGeom>
          <a:solidFill>
            <a:srgbClr val="1C7293"/>
          </a:solidFill>
          <a:ln/>
        </p:spPr>
        <p:txBody>
          <a:bodyPr/>
          <a:lstStyle/>
          <a:p>
            <a:endParaRPr lang="ja-JP" altLang="en-US"/>
          </a:p>
        </p:txBody>
      </p:sp>
      <p:sp>
        <p:nvSpPr>
          <p:cNvPr id="26" name="Text 24"/>
          <p:cNvSpPr/>
          <p:nvPr/>
        </p:nvSpPr>
        <p:spPr>
          <a:xfrm>
            <a:off x="4480560" y="3282696"/>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Meiryo" pitchFamily="34" charset="0"/>
                <a:ea typeface="Meiryo" pitchFamily="34" charset="-122"/>
                <a:cs typeface="Meiryo" pitchFamily="34" charset="-120"/>
              </a:rPr>
              <a:t>5</a:t>
            </a:r>
            <a:endParaRPr lang="en-US" sz="2600" dirty="0"/>
          </a:p>
        </p:txBody>
      </p:sp>
      <p:sp>
        <p:nvSpPr>
          <p:cNvPr id="27" name="Text 25"/>
          <p:cNvSpPr/>
          <p:nvPr/>
        </p:nvSpPr>
        <p:spPr>
          <a:xfrm>
            <a:off x="5266944" y="3227832"/>
            <a:ext cx="2468880" cy="365760"/>
          </a:xfrm>
          <a:prstGeom prst="rect">
            <a:avLst/>
          </a:prstGeom>
          <a:noFill/>
          <a:ln/>
        </p:spPr>
        <p:txBody>
          <a:bodyPr wrap="square" lIns="0" tIns="0" rIns="0" bIns="0" rtlCol="0" anchor="ctr"/>
          <a:lstStyle/>
          <a:p>
            <a:pPr marL="0" indent="0">
              <a:buNone/>
            </a:pPr>
            <a:r>
              <a:rPr lang="en-US" sz="1500" b="1" dirty="0">
                <a:solidFill>
                  <a:srgbClr val="0F2A47"/>
                </a:solidFill>
                <a:latin typeface="Meiryo" pitchFamily="34" charset="0"/>
                <a:ea typeface="Meiryo" pitchFamily="34" charset="-122"/>
                <a:cs typeface="Meiryo" pitchFamily="34" charset="-120"/>
              </a:rPr>
              <a:t>復旧</a:t>
            </a:r>
            <a:endParaRPr lang="en-US" sz="1500" dirty="0"/>
          </a:p>
        </p:txBody>
      </p:sp>
      <p:sp>
        <p:nvSpPr>
          <p:cNvPr id="28" name="Text 26"/>
          <p:cNvSpPr/>
          <p:nvPr/>
        </p:nvSpPr>
        <p:spPr>
          <a:xfrm>
            <a:off x="5266944" y="3575304"/>
            <a:ext cx="2468880" cy="621792"/>
          </a:xfrm>
          <a:prstGeom prst="rect">
            <a:avLst/>
          </a:prstGeom>
          <a:noFill/>
          <a:ln/>
        </p:spPr>
        <p:txBody>
          <a:bodyPr wrap="square" lIns="0" tIns="0" rIns="0" bIns="0" rtlCol="0" anchor="ctr"/>
          <a:lstStyle/>
          <a:p>
            <a:pPr marL="0" indent="0">
              <a:lnSpc>
                <a:spcPct val="105000"/>
              </a:lnSpc>
              <a:buNone/>
            </a:pPr>
            <a:r>
              <a:rPr lang="en-US" sz="1030" dirty="0">
                <a:solidFill>
                  <a:srgbClr val="1E293B"/>
                </a:solidFill>
                <a:latin typeface="Meiryo" pitchFamily="34" charset="0"/>
                <a:ea typeface="Meiryo" pitchFamily="34" charset="-122"/>
                <a:cs typeface="Meiryo" pitchFamily="34" charset="-120"/>
              </a:rPr>
              <a:t>システム復旧・業務再開、監視強化、再発の有無を確認</a:t>
            </a:r>
            <a:endParaRPr lang="en-US" sz="1030" dirty="0"/>
          </a:p>
        </p:txBody>
      </p:sp>
      <p:sp>
        <p:nvSpPr>
          <p:cNvPr id="29" name="Shape 27"/>
          <p:cNvSpPr/>
          <p:nvPr/>
        </p:nvSpPr>
        <p:spPr>
          <a:xfrm>
            <a:off x="8010144" y="3063240"/>
            <a:ext cx="3566160" cy="1207008"/>
          </a:xfrm>
          <a:prstGeom prst="roundRect">
            <a:avLst>
              <a:gd name="adj" fmla="val 5303"/>
            </a:avLst>
          </a:prstGeom>
          <a:solidFill>
            <a:srgbClr val="FFFFFF"/>
          </a:solidFill>
          <a:ln w="12700">
            <a:solidFill>
              <a:srgbClr val="D8E1E8"/>
            </a:solidFill>
            <a:prstDash val="solid"/>
          </a:ln>
          <a:effectLst>
            <a:outerShdw blurRad="88900" dist="38100" dir="5400000" algn="bl" rotWithShape="0">
              <a:srgbClr val="0F2A47">
                <a:alpha val="16000"/>
              </a:srgbClr>
            </a:outerShdw>
          </a:effectLst>
        </p:spPr>
        <p:txBody>
          <a:bodyPr/>
          <a:lstStyle/>
          <a:p>
            <a:endParaRPr lang="ja-JP" altLang="en-US"/>
          </a:p>
        </p:txBody>
      </p:sp>
      <p:sp>
        <p:nvSpPr>
          <p:cNvPr id="30" name="Shape 28"/>
          <p:cNvSpPr/>
          <p:nvPr/>
        </p:nvSpPr>
        <p:spPr>
          <a:xfrm>
            <a:off x="8211312" y="3282696"/>
            <a:ext cx="658368" cy="658368"/>
          </a:xfrm>
          <a:prstGeom prst="ellipse">
            <a:avLst/>
          </a:prstGeom>
          <a:solidFill>
            <a:srgbClr val="0B4F71"/>
          </a:solidFill>
          <a:ln/>
        </p:spPr>
        <p:txBody>
          <a:bodyPr/>
          <a:lstStyle/>
          <a:p>
            <a:endParaRPr lang="ja-JP" altLang="en-US"/>
          </a:p>
        </p:txBody>
      </p:sp>
      <p:sp>
        <p:nvSpPr>
          <p:cNvPr id="31" name="Text 29"/>
          <p:cNvSpPr/>
          <p:nvPr/>
        </p:nvSpPr>
        <p:spPr>
          <a:xfrm>
            <a:off x="8211312" y="3282696"/>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Meiryo" pitchFamily="34" charset="0"/>
                <a:ea typeface="Meiryo" pitchFamily="34" charset="-122"/>
                <a:cs typeface="Meiryo" pitchFamily="34" charset="-120"/>
              </a:rPr>
              <a:t>6</a:t>
            </a:r>
            <a:endParaRPr lang="en-US" sz="2600" dirty="0"/>
          </a:p>
        </p:txBody>
      </p:sp>
      <p:sp>
        <p:nvSpPr>
          <p:cNvPr id="32" name="Text 30"/>
          <p:cNvSpPr/>
          <p:nvPr/>
        </p:nvSpPr>
        <p:spPr>
          <a:xfrm>
            <a:off x="8997696" y="3227832"/>
            <a:ext cx="2468880" cy="365760"/>
          </a:xfrm>
          <a:prstGeom prst="rect">
            <a:avLst/>
          </a:prstGeom>
          <a:noFill/>
          <a:ln/>
        </p:spPr>
        <p:txBody>
          <a:bodyPr wrap="square" lIns="0" tIns="0" rIns="0" bIns="0" rtlCol="0" anchor="ctr"/>
          <a:lstStyle/>
          <a:p>
            <a:pPr marL="0" indent="0">
              <a:buNone/>
            </a:pPr>
            <a:r>
              <a:rPr lang="en-US" sz="1500" b="1" dirty="0">
                <a:solidFill>
                  <a:srgbClr val="0F2A47"/>
                </a:solidFill>
                <a:latin typeface="Meiryo" pitchFamily="34" charset="0"/>
                <a:ea typeface="Meiryo" pitchFamily="34" charset="-122"/>
                <a:cs typeface="Meiryo" pitchFamily="34" charset="-120"/>
              </a:rPr>
              <a:t>事後対応</a:t>
            </a:r>
            <a:endParaRPr lang="en-US" sz="1500" dirty="0"/>
          </a:p>
        </p:txBody>
      </p:sp>
      <p:sp>
        <p:nvSpPr>
          <p:cNvPr id="33" name="Text 31"/>
          <p:cNvSpPr/>
          <p:nvPr/>
        </p:nvSpPr>
        <p:spPr>
          <a:xfrm>
            <a:off x="8997696" y="3575304"/>
            <a:ext cx="2468880" cy="621792"/>
          </a:xfrm>
          <a:prstGeom prst="rect">
            <a:avLst/>
          </a:prstGeom>
          <a:noFill/>
          <a:ln/>
        </p:spPr>
        <p:txBody>
          <a:bodyPr wrap="square" lIns="0" tIns="0" rIns="0" bIns="0" rtlCol="0" anchor="ctr"/>
          <a:lstStyle/>
          <a:p>
            <a:pPr marL="0" indent="0">
              <a:lnSpc>
                <a:spcPct val="105000"/>
              </a:lnSpc>
              <a:buNone/>
            </a:pPr>
            <a:r>
              <a:rPr lang="en-US" sz="1030" dirty="0">
                <a:solidFill>
                  <a:srgbClr val="1E293B"/>
                </a:solidFill>
                <a:latin typeface="Meiryo" pitchFamily="34" charset="0"/>
                <a:ea typeface="Meiryo" pitchFamily="34" charset="-122"/>
                <a:cs typeface="Meiryo" pitchFamily="34" charset="-120"/>
              </a:rPr>
              <a:t>原因分析、再発防止策、関係者への報告、教育・記録</a:t>
            </a:r>
            <a:endParaRPr lang="en-US" sz="1030" dirty="0"/>
          </a:p>
        </p:txBody>
      </p:sp>
      <p:sp>
        <p:nvSpPr>
          <p:cNvPr id="34" name="Shape 32"/>
          <p:cNvSpPr/>
          <p:nvPr/>
        </p:nvSpPr>
        <p:spPr>
          <a:xfrm>
            <a:off x="548640" y="4608576"/>
            <a:ext cx="11109960" cy="1234440"/>
          </a:xfrm>
          <a:prstGeom prst="roundRect">
            <a:avLst>
              <a:gd name="adj" fmla="val 4444"/>
            </a:avLst>
          </a:prstGeom>
          <a:solidFill>
            <a:srgbClr val="0F2A47"/>
          </a:solidFill>
          <a:ln/>
        </p:spPr>
        <p:txBody>
          <a:bodyPr/>
          <a:lstStyle/>
          <a:p>
            <a:endParaRPr lang="ja-JP" altLang="en-US"/>
          </a:p>
        </p:txBody>
      </p:sp>
      <p:sp>
        <p:nvSpPr>
          <p:cNvPr id="35" name="Text 33"/>
          <p:cNvSpPr/>
          <p:nvPr/>
        </p:nvSpPr>
        <p:spPr>
          <a:xfrm>
            <a:off x="777240" y="4718304"/>
            <a:ext cx="2743200" cy="274320"/>
          </a:xfrm>
          <a:prstGeom prst="rect">
            <a:avLst/>
          </a:prstGeom>
          <a:noFill/>
          <a:ln/>
        </p:spPr>
        <p:txBody>
          <a:bodyPr wrap="square" lIns="0" tIns="0" rIns="0" bIns="0" rtlCol="0" anchor="ctr"/>
          <a:lstStyle/>
          <a:p>
            <a:pPr marL="0" indent="0">
              <a:buNone/>
            </a:pPr>
            <a:r>
              <a:rPr lang="en-US" sz="1250" b="1" dirty="0">
                <a:solidFill>
                  <a:srgbClr val="E0A63C"/>
                </a:solidFill>
                <a:latin typeface="Meiryo" pitchFamily="34" charset="0"/>
                <a:ea typeface="Meiryo" pitchFamily="34" charset="-122"/>
                <a:cs typeface="Meiryo" pitchFamily="34" charset="-120"/>
              </a:rPr>
              <a:t>役割分担</a:t>
            </a:r>
            <a:endParaRPr lang="en-US" sz="1250" dirty="0"/>
          </a:p>
        </p:txBody>
      </p:sp>
      <p:sp>
        <p:nvSpPr>
          <p:cNvPr id="36" name="Text 34"/>
          <p:cNvSpPr/>
          <p:nvPr/>
        </p:nvSpPr>
        <p:spPr>
          <a:xfrm>
            <a:off x="685800" y="5065776"/>
            <a:ext cx="2066544" cy="731520"/>
          </a:xfrm>
          <a:prstGeom prst="rect">
            <a:avLst/>
          </a:prstGeom>
          <a:noFill/>
          <a:ln/>
        </p:spPr>
        <p:txBody>
          <a:bodyPr wrap="square" lIns="0" tIns="0" rIns="0" bIns="0" rtlCol="0" anchor="t"/>
          <a:lstStyle/>
          <a:p>
            <a:pPr marL="0" indent="0">
              <a:lnSpc>
                <a:spcPct val="105000"/>
              </a:lnSpc>
              <a:buNone/>
            </a:pPr>
            <a:r>
              <a:rPr lang="en-US" sz="1080" b="1" dirty="0">
                <a:solidFill>
                  <a:srgbClr val="FFFFFF"/>
                </a:solidFill>
                <a:latin typeface="Meiryo" pitchFamily="34" charset="0"/>
                <a:ea typeface="Meiryo" pitchFamily="34" charset="-122"/>
                <a:cs typeface="Meiryo" pitchFamily="34" charset="-120"/>
              </a:rPr>
              <a:t>CISO（CIO 兼務）
</a:t>
            </a:r>
            <a:r>
              <a:rPr lang="en-US" sz="930" dirty="0">
                <a:solidFill>
                  <a:srgbClr val="C7D6E2"/>
                </a:solidFill>
                <a:latin typeface="Meiryo" pitchFamily="34" charset="0"/>
                <a:ea typeface="Meiryo" pitchFamily="34" charset="-122"/>
                <a:cs typeface="Meiryo" pitchFamily="34" charset="-120"/>
              </a:rPr>
              <a:t>最終責任者・対外公表・重大判断</a:t>
            </a:r>
            <a:endParaRPr lang="en-US" sz="1080" dirty="0"/>
          </a:p>
        </p:txBody>
      </p:sp>
      <p:sp>
        <p:nvSpPr>
          <p:cNvPr id="37" name="Text 35"/>
          <p:cNvSpPr/>
          <p:nvPr/>
        </p:nvSpPr>
        <p:spPr>
          <a:xfrm>
            <a:off x="2843784" y="5065776"/>
            <a:ext cx="2066544" cy="731520"/>
          </a:xfrm>
          <a:prstGeom prst="rect">
            <a:avLst/>
          </a:prstGeom>
          <a:noFill/>
          <a:ln/>
        </p:spPr>
        <p:txBody>
          <a:bodyPr wrap="square" lIns="0" tIns="0" rIns="0" bIns="0" rtlCol="0" anchor="t"/>
          <a:lstStyle/>
          <a:p>
            <a:pPr marL="0" indent="0">
              <a:lnSpc>
                <a:spcPct val="105000"/>
              </a:lnSpc>
              <a:buNone/>
            </a:pPr>
            <a:r>
              <a:rPr lang="en-US" sz="1080" b="1" dirty="0">
                <a:solidFill>
                  <a:srgbClr val="FFFFFF"/>
                </a:solidFill>
                <a:latin typeface="Meiryo" pitchFamily="34" charset="0"/>
                <a:ea typeface="Meiryo" pitchFamily="34" charset="-122"/>
                <a:cs typeface="Meiryo" pitchFamily="34" charset="-120"/>
              </a:rPr>
              <a:t>CSIRT 長（統括）
</a:t>
            </a:r>
            <a:r>
              <a:rPr lang="en-US" sz="930" dirty="0">
                <a:solidFill>
                  <a:srgbClr val="C7D6E2"/>
                </a:solidFill>
                <a:latin typeface="Meiryo" pitchFamily="34" charset="0"/>
                <a:ea typeface="Meiryo" pitchFamily="34" charset="-122"/>
                <a:cs typeface="Meiryo" pitchFamily="34" charset="-120"/>
              </a:rPr>
              <a:t>現場指揮・エスカレーション統制</a:t>
            </a:r>
            <a:endParaRPr lang="en-US" sz="1080" dirty="0"/>
          </a:p>
        </p:txBody>
      </p:sp>
      <p:sp>
        <p:nvSpPr>
          <p:cNvPr id="38" name="Text 36"/>
          <p:cNvSpPr/>
          <p:nvPr/>
        </p:nvSpPr>
        <p:spPr>
          <a:xfrm>
            <a:off x="5001768" y="5065776"/>
            <a:ext cx="2066544" cy="731520"/>
          </a:xfrm>
          <a:prstGeom prst="rect">
            <a:avLst/>
          </a:prstGeom>
          <a:noFill/>
          <a:ln/>
        </p:spPr>
        <p:txBody>
          <a:bodyPr wrap="square" lIns="0" tIns="0" rIns="0" bIns="0" rtlCol="0" anchor="t"/>
          <a:lstStyle/>
          <a:p>
            <a:pPr marL="0" indent="0">
              <a:lnSpc>
                <a:spcPct val="105000"/>
              </a:lnSpc>
              <a:buNone/>
            </a:pPr>
            <a:r>
              <a:rPr lang="en-US" sz="1080" b="1" dirty="0">
                <a:solidFill>
                  <a:srgbClr val="FFFFFF"/>
                </a:solidFill>
                <a:latin typeface="Meiryo" pitchFamily="34" charset="0"/>
                <a:ea typeface="Meiryo" pitchFamily="34" charset="-122"/>
                <a:cs typeface="Meiryo" pitchFamily="34" charset="-120"/>
              </a:rPr>
              <a:t>CSIRT
</a:t>
            </a:r>
            <a:r>
              <a:rPr lang="en-US" sz="930" dirty="0">
                <a:solidFill>
                  <a:srgbClr val="C7D6E2"/>
                </a:solidFill>
                <a:latin typeface="Meiryo" pitchFamily="34" charset="0"/>
                <a:ea typeface="Meiryo" pitchFamily="34" charset="-122"/>
                <a:cs typeface="Meiryo" pitchFamily="34" charset="-120"/>
              </a:rPr>
              <a:t>分析・封じ込め・復旧の実行</a:t>
            </a:r>
            <a:endParaRPr lang="en-US" sz="1080" dirty="0"/>
          </a:p>
        </p:txBody>
      </p:sp>
      <p:sp>
        <p:nvSpPr>
          <p:cNvPr id="39" name="Text 37"/>
          <p:cNvSpPr/>
          <p:nvPr/>
        </p:nvSpPr>
        <p:spPr>
          <a:xfrm>
            <a:off x="7159752" y="5065776"/>
            <a:ext cx="2066544" cy="731520"/>
          </a:xfrm>
          <a:prstGeom prst="rect">
            <a:avLst/>
          </a:prstGeom>
          <a:noFill/>
          <a:ln/>
        </p:spPr>
        <p:txBody>
          <a:bodyPr wrap="square" lIns="0" tIns="0" rIns="0" bIns="0" rtlCol="0" anchor="t"/>
          <a:lstStyle/>
          <a:p>
            <a:pPr marL="0" indent="0">
              <a:lnSpc>
                <a:spcPct val="105000"/>
              </a:lnSpc>
              <a:buNone/>
            </a:pPr>
            <a:r>
              <a:rPr lang="en-US" sz="1080" b="1" dirty="0">
                <a:solidFill>
                  <a:srgbClr val="FFFFFF"/>
                </a:solidFill>
                <a:latin typeface="Meiryo" pitchFamily="34" charset="0"/>
                <a:ea typeface="Meiryo" pitchFamily="34" charset="-122"/>
                <a:cs typeface="Meiryo" pitchFamily="34" charset="-120"/>
              </a:rPr>
              <a:t>SOC（外注）
</a:t>
            </a:r>
            <a:r>
              <a:rPr lang="en-US" sz="930" dirty="0">
                <a:solidFill>
                  <a:srgbClr val="C7D6E2"/>
                </a:solidFill>
                <a:latin typeface="Meiryo" pitchFamily="34" charset="0"/>
                <a:ea typeface="Meiryo" pitchFamily="34" charset="-122"/>
                <a:cs typeface="Meiryo" pitchFamily="34" charset="-120"/>
              </a:rPr>
              <a:t>監視・検知・一次連絡</a:t>
            </a:r>
            <a:endParaRPr lang="en-US" sz="1080" dirty="0"/>
          </a:p>
        </p:txBody>
      </p:sp>
      <p:sp>
        <p:nvSpPr>
          <p:cNvPr id="40" name="Text 38"/>
          <p:cNvSpPr/>
          <p:nvPr/>
        </p:nvSpPr>
        <p:spPr>
          <a:xfrm>
            <a:off x="9317736" y="5065776"/>
            <a:ext cx="2066544" cy="731520"/>
          </a:xfrm>
          <a:prstGeom prst="rect">
            <a:avLst/>
          </a:prstGeom>
          <a:noFill/>
          <a:ln/>
        </p:spPr>
        <p:txBody>
          <a:bodyPr wrap="square" lIns="0" tIns="0" rIns="0" bIns="0" rtlCol="0" anchor="t"/>
          <a:lstStyle/>
          <a:p>
            <a:pPr marL="0" indent="0">
              <a:lnSpc>
                <a:spcPct val="105000"/>
              </a:lnSpc>
              <a:buNone/>
            </a:pPr>
            <a:r>
              <a:rPr lang="en-US" sz="1080" b="1" dirty="0">
                <a:solidFill>
                  <a:srgbClr val="FFFFFF"/>
                </a:solidFill>
                <a:latin typeface="Meiryo" pitchFamily="34" charset="0"/>
                <a:ea typeface="Meiryo" pitchFamily="34" charset="-122"/>
                <a:cs typeface="Meiryo" pitchFamily="34" charset="-120"/>
              </a:rPr>
              <a:t>各部門
</a:t>
            </a:r>
            <a:r>
              <a:rPr lang="en-US" sz="930" dirty="0">
                <a:solidFill>
                  <a:srgbClr val="C7D6E2"/>
                </a:solidFill>
                <a:latin typeface="Meiryo" pitchFamily="34" charset="0"/>
                <a:ea typeface="Meiryo" pitchFamily="34" charset="-122"/>
                <a:cs typeface="Meiryo" pitchFamily="34" charset="-120"/>
              </a:rPr>
              <a:t>報告・業務面の対応協力</a:t>
            </a:r>
            <a:endParaRPr lang="en-US" sz="1080" dirty="0"/>
          </a:p>
        </p:txBody>
      </p:sp>
      <p:sp>
        <p:nvSpPr>
          <p:cNvPr id="41" name="Text 39"/>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42" name="Text 40"/>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Meiryo" pitchFamily="34" charset="0"/>
                <a:ea typeface="Meiryo" pitchFamily="34" charset="-122"/>
                <a:cs typeface="Meiryo" pitchFamily="34" charset="-120"/>
              </a:rPr>
              <a:t>3. 改訂 ②｜対策基準（事件・事故対応）</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600" b="1" dirty="0">
                <a:solidFill>
                  <a:srgbClr val="0F2A47"/>
                </a:solidFill>
                <a:latin typeface="Meiryo" pitchFamily="34" charset="0"/>
                <a:ea typeface="Meiryo" pitchFamily="34" charset="-122"/>
                <a:cs typeface="Meiryo" pitchFamily="34" charset="-120"/>
              </a:rPr>
              <a:t>個人情報漏えい時の報告・通知フロー</a:t>
            </a:r>
            <a:endParaRPr lang="en-US" sz="2600" dirty="0"/>
          </a:p>
        </p:txBody>
      </p:sp>
      <p:sp>
        <p:nvSpPr>
          <p:cNvPr id="4" name="Shape 2"/>
          <p:cNvSpPr/>
          <p:nvPr/>
        </p:nvSpPr>
        <p:spPr>
          <a:xfrm>
            <a:off x="868680" y="1609344"/>
            <a:ext cx="310896" cy="310896"/>
          </a:xfrm>
          <a:prstGeom prst="ellipse">
            <a:avLst/>
          </a:prstGeom>
          <a:solidFill>
            <a:srgbClr val="0B4F71"/>
          </a:solidFill>
          <a:ln/>
        </p:spPr>
        <p:txBody>
          <a:bodyPr/>
          <a:lstStyle/>
          <a:p>
            <a:endParaRPr lang="ja-JP" altLang="en-US"/>
          </a:p>
        </p:txBody>
      </p:sp>
      <p:sp>
        <p:nvSpPr>
          <p:cNvPr id="5" name="Shape 3"/>
          <p:cNvSpPr/>
          <p:nvPr/>
        </p:nvSpPr>
        <p:spPr>
          <a:xfrm>
            <a:off x="1024128" y="1920240"/>
            <a:ext cx="0" cy="603504"/>
          </a:xfrm>
          <a:prstGeom prst="line">
            <a:avLst/>
          </a:prstGeom>
          <a:noFill/>
          <a:ln w="25400">
            <a:solidFill>
              <a:srgbClr val="D8E1E8"/>
            </a:solidFill>
            <a:prstDash val="solid"/>
          </a:ln>
        </p:spPr>
        <p:txBody>
          <a:bodyPr/>
          <a:lstStyle/>
          <a:p>
            <a:endParaRPr lang="ja-JP" altLang="en-US"/>
          </a:p>
        </p:txBody>
      </p:sp>
      <p:sp>
        <p:nvSpPr>
          <p:cNvPr id="6" name="Text 4"/>
          <p:cNvSpPr/>
          <p:nvPr/>
        </p:nvSpPr>
        <p:spPr>
          <a:xfrm>
            <a:off x="1325880" y="1554480"/>
            <a:ext cx="2148840" cy="420624"/>
          </a:xfrm>
          <a:prstGeom prst="rect">
            <a:avLst/>
          </a:prstGeom>
          <a:noFill/>
          <a:ln/>
        </p:spPr>
        <p:txBody>
          <a:bodyPr wrap="square" lIns="0" tIns="0" rIns="0" bIns="0" rtlCol="0" anchor="ctr"/>
          <a:lstStyle/>
          <a:p>
            <a:pPr marL="0" indent="0">
              <a:buNone/>
            </a:pPr>
            <a:r>
              <a:rPr lang="en-US" sz="1300" b="1" dirty="0">
                <a:solidFill>
                  <a:srgbClr val="0B4F71"/>
                </a:solidFill>
                <a:latin typeface="Meiryo" pitchFamily="34" charset="0"/>
                <a:ea typeface="Meiryo" pitchFamily="34" charset="-122"/>
                <a:cs typeface="Meiryo" pitchFamily="34" charset="-120"/>
              </a:rPr>
              <a:t>発覚直後</a:t>
            </a:r>
            <a:endParaRPr lang="en-US" sz="1300" dirty="0"/>
          </a:p>
        </p:txBody>
      </p:sp>
      <p:sp>
        <p:nvSpPr>
          <p:cNvPr id="7" name="Text 5"/>
          <p:cNvSpPr/>
          <p:nvPr/>
        </p:nvSpPr>
        <p:spPr>
          <a:xfrm>
            <a:off x="3520440" y="1536192"/>
            <a:ext cx="3657600" cy="502920"/>
          </a:xfrm>
          <a:prstGeom prst="rect">
            <a:avLst/>
          </a:prstGeom>
          <a:noFill/>
          <a:ln/>
        </p:spPr>
        <p:txBody>
          <a:bodyPr wrap="square" lIns="0" tIns="0" rIns="0" bIns="0" rtlCol="0" anchor="ctr"/>
          <a:lstStyle/>
          <a:p>
            <a:pPr marL="0" indent="0">
              <a:lnSpc>
                <a:spcPct val="105000"/>
              </a:lnSpc>
              <a:buNone/>
            </a:pPr>
            <a:r>
              <a:rPr lang="en-US" sz="1100" dirty="0">
                <a:solidFill>
                  <a:srgbClr val="1E293B"/>
                </a:solidFill>
                <a:latin typeface="Meiryo" pitchFamily="34" charset="0"/>
                <a:ea typeface="Meiryo" pitchFamily="34" charset="-122"/>
                <a:cs typeface="Meiryo" pitchFamily="34" charset="-120"/>
              </a:rPr>
              <a:t>CSIRT 招集・初動対応、事実確認、証拠保全</a:t>
            </a:r>
            <a:endParaRPr lang="en-US" sz="1100" dirty="0"/>
          </a:p>
        </p:txBody>
      </p:sp>
      <p:sp>
        <p:nvSpPr>
          <p:cNvPr id="8" name="Shape 6"/>
          <p:cNvSpPr/>
          <p:nvPr/>
        </p:nvSpPr>
        <p:spPr>
          <a:xfrm>
            <a:off x="868680" y="2523744"/>
            <a:ext cx="310896" cy="310896"/>
          </a:xfrm>
          <a:prstGeom prst="ellipse">
            <a:avLst/>
          </a:prstGeom>
          <a:solidFill>
            <a:srgbClr val="C0392B"/>
          </a:solidFill>
          <a:ln/>
        </p:spPr>
        <p:txBody>
          <a:bodyPr/>
          <a:lstStyle/>
          <a:p>
            <a:endParaRPr lang="ja-JP" altLang="en-US"/>
          </a:p>
        </p:txBody>
      </p:sp>
      <p:sp>
        <p:nvSpPr>
          <p:cNvPr id="9" name="Shape 7"/>
          <p:cNvSpPr/>
          <p:nvPr/>
        </p:nvSpPr>
        <p:spPr>
          <a:xfrm>
            <a:off x="1024128" y="2834640"/>
            <a:ext cx="0" cy="603504"/>
          </a:xfrm>
          <a:prstGeom prst="line">
            <a:avLst/>
          </a:prstGeom>
          <a:noFill/>
          <a:ln w="25400">
            <a:solidFill>
              <a:srgbClr val="D8E1E8"/>
            </a:solidFill>
            <a:prstDash val="solid"/>
          </a:ln>
        </p:spPr>
        <p:txBody>
          <a:bodyPr/>
          <a:lstStyle/>
          <a:p>
            <a:endParaRPr lang="ja-JP" altLang="en-US"/>
          </a:p>
        </p:txBody>
      </p:sp>
      <p:sp>
        <p:nvSpPr>
          <p:cNvPr id="10" name="Text 8"/>
          <p:cNvSpPr/>
          <p:nvPr/>
        </p:nvSpPr>
        <p:spPr>
          <a:xfrm>
            <a:off x="1325880" y="2468880"/>
            <a:ext cx="2148840" cy="420624"/>
          </a:xfrm>
          <a:prstGeom prst="rect">
            <a:avLst/>
          </a:prstGeom>
          <a:noFill/>
          <a:ln/>
        </p:spPr>
        <p:txBody>
          <a:bodyPr wrap="square" lIns="0" tIns="0" rIns="0" bIns="0" rtlCol="0" anchor="ctr"/>
          <a:lstStyle/>
          <a:p>
            <a:pPr marL="0" indent="0">
              <a:buNone/>
            </a:pPr>
            <a:r>
              <a:rPr lang="en-US" sz="1300" b="1" dirty="0">
                <a:solidFill>
                  <a:srgbClr val="C0392B"/>
                </a:solidFill>
                <a:latin typeface="Meiryo" pitchFamily="34" charset="0"/>
                <a:ea typeface="Meiryo" pitchFamily="34" charset="-122"/>
                <a:cs typeface="Meiryo" pitchFamily="34" charset="-120"/>
              </a:rPr>
              <a:t>速やかに</a:t>
            </a:r>
            <a:endParaRPr lang="en-US" sz="1300" dirty="0"/>
          </a:p>
        </p:txBody>
      </p:sp>
      <p:sp>
        <p:nvSpPr>
          <p:cNvPr id="11" name="Text 9"/>
          <p:cNvSpPr/>
          <p:nvPr/>
        </p:nvSpPr>
        <p:spPr>
          <a:xfrm>
            <a:off x="3520440" y="2450592"/>
            <a:ext cx="3657600" cy="502920"/>
          </a:xfrm>
          <a:prstGeom prst="rect">
            <a:avLst/>
          </a:prstGeom>
          <a:noFill/>
          <a:ln/>
        </p:spPr>
        <p:txBody>
          <a:bodyPr wrap="square" lIns="0" tIns="0" rIns="0" bIns="0" rtlCol="0" anchor="ctr"/>
          <a:lstStyle/>
          <a:p>
            <a:pPr marL="0" indent="0">
              <a:lnSpc>
                <a:spcPct val="105000"/>
              </a:lnSpc>
              <a:buNone/>
            </a:pPr>
            <a:r>
              <a:rPr lang="en-US" sz="1100" dirty="0">
                <a:solidFill>
                  <a:srgbClr val="1E293B"/>
                </a:solidFill>
                <a:latin typeface="Meiryo" pitchFamily="34" charset="0"/>
                <a:ea typeface="Meiryo" pitchFamily="34" charset="-122"/>
                <a:cs typeface="Meiryo" pitchFamily="34" charset="-120"/>
              </a:rPr>
              <a:t>個人情報保護委員会へ「速報」／ EU 対象は監督機関へ 72時間以内 に通知</a:t>
            </a:r>
            <a:endParaRPr lang="en-US" sz="1100" dirty="0"/>
          </a:p>
        </p:txBody>
      </p:sp>
      <p:sp>
        <p:nvSpPr>
          <p:cNvPr id="12" name="Shape 10"/>
          <p:cNvSpPr/>
          <p:nvPr/>
        </p:nvSpPr>
        <p:spPr>
          <a:xfrm>
            <a:off x="868680" y="3438144"/>
            <a:ext cx="310896" cy="310896"/>
          </a:xfrm>
          <a:prstGeom prst="ellipse">
            <a:avLst/>
          </a:prstGeom>
          <a:solidFill>
            <a:srgbClr val="1C7293"/>
          </a:solidFill>
          <a:ln/>
        </p:spPr>
        <p:txBody>
          <a:bodyPr/>
          <a:lstStyle/>
          <a:p>
            <a:endParaRPr lang="ja-JP" altLang="en-US"/>
          </a:p>
        </p:txBody>
      </p:sp>
      <p:sp>
        <p:nvSpPr>
          <p:cNvPr id="13" name="Shape 11"/>
          <p:cNvSpPr/>
          <p:nvPr/>
        </p:nvSpPr>
        <p:spPr>
          <a:xfrm>
            <a:off x="1024128" y="3749040"/>
            <a:ext cx="0" cy="603504"/>
          </a:xfrm>
          <a:prstGeom prst="line">
            <a:avLst/>
          </a:prstGeom>
          <a:noFill/>
          <a:ln w="25400">
            <a:solidFill>
              <a:srgbClr val="D8E1E8"/>
            </a:solidFill>
            <a:prstDash val="solid"/>
          </a:ln>
        </p:spPr>
        <p:txBody>
          <a:bodyPr/>
          <a:lstStyle/>
          <a:p>
            <a:endParaRPr lang="ja-JP" altLang="en-US"/>
          </a:p>
        </p:txBody>
      </p:sp>
      <p:sp>
        <p:nvSpPr>
          <p:cNvPr id="14" name="Text 12"/>
          <p:cNvSpPr/>
          <p:nvPr/>
        </p:nvSpPr>
        <p:spPr>
          <a:xfrm>
            <a:off x="1325880" y="3383280"/>
            <a:ext cx="2148840" cy="420624"/>
          </a:xfrm>
          <a:prstGeom prst="rect">
            <a:avLst/>
          </a:prstGeom>
          <a:noFill/>
          <a:ln/>
        </p:spPr>
        <p:txBody>
          <a:bodyPr wrap="square" lIns="0" tIns="0" rIns="0" bIns="0" rtlCol="0" anchor="ctr"/>
          <a:lstStyle/>
          <a:p>
            <a:pPr marL="0" indent="0">
              <a:buNone/>
            </a:pPr>
            <a:r>
              <a:rPr lang="en-US" sz="1300" b="1" dirty="0">
                <a:solidFill>
                  <a:srgbClr val="1C7293"/>
                </a:solidFill>
                <a:latin typeface="Meiryo" pitchFamily="34" charset="0"/>
                <a:ea typeface="Meiryo" pitchFamily="34" charset="-122"/>
                <a:cs typeface="Meiryo" pitchFamily="34" charset="-120"/>
              </a:rPr>
              <a:t>30日以内※</a:t>
            </a:r>
            <a:endParaRPr lang="en-US" sz="1300" dirty="0"/>
          </a:p>
        </p:txBody>
      </p:sp>
      <p:sp>
        <p:nvSpPr>
          <p:cNvPr id="15" name="Text 13"/>
          <p:cNvSpPr/>
          <p:nvPr/>
        </p:nvSpPr>
        <p:spPr>
          <a:xfrm>
            <a:off x="3520440" y="3364992"/>
            <a:ext cx="3657600" cy="502920"/>
          </a:xfrm>
          <a:prstGeom prst="rect">
            <a:avLst/>
          </a:prstGeom>
          <a:noFill/>
          <a:ln/>
        </p:spPr>
        <p:txBody>
          <a:bodyPr wrap="square" lIns="0" tIns="0" rIns="0" bIns="0" rtlCol="0" anchor="ctr"/>
          <a:lstStyle/>
          <a:p>
            <a:pPr marL="0" indent="0">
              <a:lnSpc>
                <a:spcPct val="105000"/>
              </a:lnSpc>
              <a:buNone/>
            </a:pPr>
            <a:r>
              <a:rPr lang="en-US" sz="1100" dirty="0">
                <a:solidFill>
                  <a:srgbClr val="1E293B"/>
                </a:solidFill>
                <a:latin typeface="Meiryo" pitchFamily="34" charset="0"/>
                <a:ea typeface="Meiryo" pitchFamily="34" charset="-122"/>
                <a:cs typeface="Meiryo" pitchFamily="34" charset="-120"/>
              </a:rPr>
              <a:t>個人情報保護委員会へ「確報」（不正アクセス等は60日以内）</a:t>
            </a:r>
            <a:endParaRPr lang="en-US" sz="1100" dirty="0"/>
          </a:p>
        </p:txBody>
      </p:sp>
      <p:sp>
        <p:nvSpPr>
          <p:cNvPr id="16" name="Shape 14"/>
          <p:cNvSpPr/>
          <p:nvPr/>
        </p:nvSpPr>
        <p:spPr>
          <a:xfrm>
            <a:off x="868680" y="4352544"/>
            <a:ext cx="310896" cy="310896"/>
          </a:xfrm>
          <a:prstGeom prst="ellipse">
            <a:avLst/>
          </a:prstGeom>
          <a:solidFill>
            <a:srgbClr val="0B4F71"/>
          </a:solidFill>
          <a:ln/>
        </p:spPr>
        <p:txBody>
          <a:bodyPr/>
          <a:lstStyle/>
          <a:p>
            <a:endParaRPr lang="ja-JP" altLang="en-US"/>
          </a:p>
        </p:txBody>
      </p:sp>
      <p:sp>
        <p:nvSpPr>
          <p:cNvPr id="17" name="Shape 15"/>
          <p:cNvSpPr/>
          <p:nvPr/>
        </p:nvSpPr>
        <p:spPr>
          <a:xfrm>
            <a:off x="1024128" y="4663440"/>
            <a:ext cx="0" cy="603504"/>
          </a:xfrm>
          <a:prstGeom prst="line">
            <a:avLst/>
          </a:prstGeom>
          <a:noFill/>
          <a:ln w="25400">
            <a:solidFill>
              <a:srgbClr val="D8E1E8"/>
            </a:solidFill>
            <a:prstDash val="solid"/>
          </a:ln>
        </p:spPr>
        <p:txBody>
          <a:bodyPr/>
          <a:lstStyle/>
          <a:p>
            <a:endParaRPr lang="ja-JP" altLang="en-US"/>
          </a:p>
        </p:txBody>
      </p:sp>
      <p:sp>
        <p:nvSpPr>
          <p:cNvPr id="18" name="Text 16"/>
          <p:cNvSpPr/>
          <p:nvPr/>
        </p:nvSpPr>
        <p:spPr>
          <a:xfrm>
            <a:off x="1325880" y="4297680"/>
            <a:ext cx="2148840" cy="420624"/>
          </a:xfrm>
          <a:prstGeom prst="rect">
            <a:avLst/>
          </a:prstGeom>
          <a:noFill/>
          <a:ln/>
        </p:spPr>
        <p:txBody>
          <a:bodyPr wrap="square" lIns="0" tIns="0" rIns="0" bIns="0" rtlCol="0" anchor="ctr"/>
          <a:lstStyle/>
          <a:p>
            <a:pPr marL="0" indent="0">
              <a:buNone/>
            </a:pPr>
            <a:r>
              <a:rPr lang="en-US" sz="1300" b="1" dirty="0">
                <a:solidFill>
                  <a:srgbClr val="0B4F71"/>
                </a:solidFill>
                <a:latin typeface="Meiryo" pitchFamily="34" charset="0"/>
                <a:ea typeface="Meiryo" pitchFamily="34" charset="-122"/>
                <a:cs typeface="Meiryo" pitchFamily="34" charset="-120"/>
              </a:rPr>
              <a:t>確報とあわせて</a:t>
            </a:r>
            <a:endParaRPr lang="en-US" sz="1300" dirty="0"/>
          </a:p>
        </p:txBody>
      </p:sp>
      <p:sp>
        <p:nvSpPr>
          <p:cNvPr id="19" name="Text 17"/>
          <p:cNvSpPr/>
          <p:nvPr/>
        </p:nvSpPr>
        <p:spPr>
          <a:xfrm>
            <a:off x="3520440" y="4279392"/>
            <a:ext cx="3657600" cy="502920"/>
          </a:xfrm>
          <a:prstGeom prst="rect">
            <a:avLst/>
          </a:prstGeom>
          <a:noFill/>
          <a:ln/>
        </p:spPr>
        <p:txBody>
          <a:bodyPr wrap="square" lIns="0" tIns="0" rIns="0" bIns="0" rtlCol="0" anchor="ctr"/>
          <a:lstStyle/>
          <a:p>
            <a:pPr marL="0" indent="0">
              <a:lnSpc>
                <a:spcPct val="105000"/>
              </a:lnSpc>
              <a:buNone/>
            </a:pPr>
            <a:r>
              <a:rPr lang="en-US" sz="1100" dirty="0">
                <a:solidFill>
                  <a:srgbClr val="1E293B"/>
                </a:solidFill>
                <a:latin typeface="Meiryo" pitchFamily="34" charset="0"/>
                <a:ea typeface="Meiryo" pitchFamily="34" charset="-122"/>
                <a:cs typeface="Meiryo" pitchFamily="34" charset="-120"/>
              </a:rPr>
              <a:t>本人への通知（GDPR 高リスク時はデータ主体へ通知）</a:t>
            </a:r>
            <a:endParaRPr lang="en-US" sz="1100" dirty="0"/>
          </a:p>
        </p:txBody>
      </p:sp>
      <p:sp>
        <p:nvSpPr>
          <p:cNvPr id="20" name="Shape 18"/>
          <p:cNvSpPr/>
          <p:nvPr/>
        </p:nvSpPr>
        <p:spPr>
          <a:xfrm>
            <a:off x="868680" y="5266944"/>
            <a:ext cx="310896" cy="310896"/>
          </a:xfrm>
          <a:prstGeom prst="ellipse">
            <a:avLst/>
          </a:prstGeom>
          <a:solidFill>
            <a:srgbClr val="5B6B7B"/>
          </a:solidFill>
          <a:ln/>
        </p:spPr>
        <p:txBody>
          <a:bodyPr/>
          <a:lstStyle/>
          <a:p>
            <a:endParaRPr lang="ja-JP" altLang="en-US"/>
          </a:p>
        </p:txBody>
      </p:sp>
      <p:sp>
        <p:nvSpPr>
          <p:cNvPr id="21" name="Text 19"/>
          <p:cNvSpPr/>
          <p:nvPr/>
        </p:nvSpPr>
        <p:spPr>
          <a:xfrm>
            <a:off x="1325880" y="5212080"/>
            <a:ext cx="2148840" cy="420624"/>
          </a:xfrm>
          <a:prstGeom prst="rect">
            <a:avLst/>
          </a:prstGeom>
          <a:noFill/>
          <a:ln/>
        </p:spPr>
        <p:txBody>
          <a:bodyPr wrap="square" lIns="0" tIns="0" rIns="0" bIns="0" rtlCol="0" anchor="ctr"/>
          <a:lstStyle/>
          <a:p>
            <a:pPr marL="0" indent="0">
              <a:buNone/>
            </a:pPr>
            <a:r>
              <a:rPr lang="en-US" sz="1300" b="1" dirty="0">
                <a:solidFill>
                  <a:srgbClr val="5B6B7B"/>
                </a:solidFill>
                <a:latin typeface="Meiryo" pitchFamily="34" charset="0"/>
                <a:ea typeface="Meiryo" pitchFamily="34" charset="-122"/>
                <a:cs typeface="Meiryo" pitchFamily="34" charset="-120"/>
              </a:rPr>
              <a:t>対応完了後</a:t>
            </a:r>
            <a:endParaRPr lang="en-US" sz="1300" dirty="0"/>
          </a:p>
        </p:txBody>
      </p:sp>
      <p:sp>
        <p:nvSpPr>
          <p:cNvPr id="22" name="Text 20"/>
          <p:cNvSpPr/>
          <p:nvPr/>
        </p:nvSpPr>
        <p:spPr>
          <a:xfrm>
            <a:off x="3520440" y="5193792"/>
            <a:ext cx="3657600" cy="502920"/>
          </a:xfrm>
          <a:prstGeom prst="rect">
            <a:avLst/>
          </a:prstGeom>
          <a:noFill/>
          <a:ln/>
        </p:spPr>
        <p:txBody>
          <a:bodyPr wrap="square" lIns="0" tIns="0" rIns="0" bIns="0" rtlCol="0" anchor="ctr"/>
          <a:lstStyle/>
          <a:p>
            <a:pPr marL="0" indent="0">
              <a:lnSpc>
                <a:spcPct val="105000"/>
              </a:lnSpc>
              <a:buNone/>
            </a:pPr>
            <a:r>
              <a:rPr lang="en-US" sz="1100" dirty="0">
                <a:solidFill>
                  <a:srgbClr val="1E293B"/>
                </a:solidFill>
                <a:latin typeface="Meiryo" pitchFamily="34" charset="0"/>
                <a:ea typeface="Meiryo" pitchFamily="34" charset="-122"/>
                <a:cs typeface="Meiryo" pitchFamily="34" charset="-120"/>
              </a:rPr>
              <a:t>再発防止策の公表・報告、教育・訓練へ反映</a:t>
            </a:r>
            <a:endParaRPr lang="en-US" sz="1100" dirty="0"/>
          </a:p>
        </p:txBody>
      </p:sp>
      <p:sp>
        <p:nvSpPr>
          <p:cNvPr id="23" name="Text 21"/>
          <p:cNvSpPr/>
          <p:nvPr/>
        </p:nvSpPr>
        <p:spPr>
          <a:xfrm>
            <a:off x="868680" y="6172200"/>
            <a:ext cx="6400800" cy="274320"/>
          </a:xfrm>
          <a:prstGeom prst="rect">
            <a:avLst/>
          </a:prstGeom>
          <a:noFill/>
          <a:ln/>
        </p:spPr>
        <p:txBody>
          <a:bodyPr wrap="square" lIns="0" tIns="0" rIns="0" bIns="0" rtlCol="0" anchor="ctr"/>
          <a:lstStyle/>
          <a:p>
            <a:pPr marL="0" indent="0">
              <a:buNone/>
            </a:pPr>
            <a:r>
              <a:rPr lang="en-US" sz="900" i="1" dirty="0">
                <a:solidFill>
                  <a:srgbClr val="5B6B7B"/>
                </a:solidFill>
                <a:latin typeface="Meiryo" pitchFamily="34" charset="0"/>
                <a:ea typeface="Meiryo" pitchFamily="34" charset="-122"/>
                <a:cs typeface="Meiryo" pitchFamily="34" charset="-120"/>
              </a:rPr>
              <a:t>※ 個人情報保護法に基づく報告期限。速報は概ね3〜5日以内。数値は前提として設定。</a:t>
            </a:r>
            <a:endParaRPr lang="en-US" sz="900" dirty="0"/>
          </a:p>
        </p:txBody>
      </p:sp>
      <p:sp>
        <p:nvSpPr>
          <p:cNvPr id="24" name="Shape 22"/>
          <p:cNvSpPr/>
          <p:nvPr/>
        </p:nvSpPr>
        <p:spPr>
          <a:xfrm>
            <a:off x="7543800" y="1536192"/>
            <a:ext cx="4114800" cy="4480560"/>
          </a:xfrm>
          <a:prstGeom prst="roundRect">
            <a:avLst>
              <a:gd name="adj" fmla="val 1556"/>
            </a:avLst>
          </a:prstGeom>
          <a:solidFill>
            <a:srgbClr val="EEF4F8"/>
          </a:solidFill>
          <a:ln/>
          <a:effectLst>
            <a:outerShdw blurRad="88900" dist="38100" dir="5400000" algn="bl" rotWithShape="0">
              <a:srgbClr val="0F2A47">
                <a:alpha val="16000"/>
              </a:srgbClr>
            </a:outerShdw>
          </a:effectLst>
        </p:spPr>
        <p:txBody>
          <a:bodyPr/>
          <a:lstStyle/>
          <a:p>
            <a:endParaRPr lang="ja-JP" altLang="en-US"/>
          </a:p>
        </p:txBody>
      </p:sp>
      <p:sp>
        <p:nvSpPr>
          <p:cNvPr id="25" name="Text 23"/>
          <p:cNvSpPr/>
          <p:nvPr/>
        </p:nvSpPr>
        <p:spPr>
          <a:xfrm>
            <a:off x="7772400" y="1691640"/>
            <a:ext cx="3657600" cy="329184"/>
          </a:xfrm>
          <a:prstGeom prst="rect">
            <a:avLst/>
          </a:prstGeom>
          <a:noFill/>
          <a:ln/>
        </p:spPr>
        <p:txBody>
          <a:bodyPr wrap="square" lIns="0" tIns="0" rIns="0" bIns="0" rtlCol="0" anchor="ctr"/>
          <a:lstStyle/>
          <a:p>
            <a:pPr marL="0" indent="0">
              <a:buNone/>
            </a:pPr>
            <a:r>
              <a:rPr lang="en-US" sz="1400" b="1" dirty="0">
                <a:solidFill>
                  <a:srgbClr val="0F2A47"/>
                </a:solidFill>
                <a:latin typeface="Meiryo" pitchFamily="34" charset="0"/>
                <a:ea typeface="Meiryo" pitchFamily="34" charset="-122"/>
                <a:cs typeface="Meiryo" pitchFamily="34" charset="-120"/>
              </a:rPr>
              <a:t>主な外部連絡先</a:t>
            </a:r>
            <a:endParaRPr lang="en-US" sz="1400" dirty="0"/>
          </a:p>
        </p:txBody>
      </p:sp>
      <p:sp>
        <p:nvSpPr>
          <p:cNvPr id="26" name="Shape 24"/>
          <p:cNvSpPr/>
          <p:nvPr/>
        </p:nvSpPr>
        <p:spPr>
          <a:xfrm>
            <a:off x="7818120" y="2249424"/>
            <a:ext cx="146304" cy="146304"/>
          </a:xfrm>
          <a:prstGeom prst="ellipse">
            <a:avLst/>
          </a:prstGeom>
          <a:solidFill>
            <a:srgbClr val="1C7293"/>
          </a:solidFill>
          <a:ln/>
        </p:spPr>
        <p:txBody>
          <a:bodyPr/>
          <a:lstStyle/>
          <a:p>
            <a:endParaRPr lang="ja-JP" altLang="en-US"/>
          </a:p>
        </p:txBody>
      </p:sp>
      <p:sp>
        <p:nvSpPr>
          <p:cNvPr id="27" name="Text 25"/>
          <p:cNvSpPr/>
          <p:nvPr/>
        </p:nvSpPr>
        <p:spPr>
          <a:xfrm>
            <a:off x="8092440" y="2139696"/>
            <a:ext cx="3429000" cy="402336"/>
          </a:xfrm>
          <a:prstGeom prst="rect">
            <a:avLst/>
          </a:prstGeom>
          <a:noFill/>
          <a:ln/>
        </p:spPr>
        <p:txBody>
          <a:bodyPr wrap="square" lIns="0" tIns="0" rIns="0" bIns="0" rtlCol="0" anchor="ctr"/>
          <a:lstStyle/>
          <a:p>
            <a:pPr marL="0" indent="0">
              <a:buNone/>
            </a:pPr>
            <a:r>
              <a:rPr lang="en-US" sz="1150" dirty="0">
                <a:solidFill>
                  <a:srgbClr val="1E293B"/>
                </a:solidFill>
                <a:latin typeface="Meiryo" pitchFamily="34" charset="0"/>
                <a:ea typeface="Meiryo" pitchFamily="34" charset="-122"/>
                <a:cs typeface="Meiryo" pitchFamily="34" charset="-120"/>
              </a:rPr>
              <a:t>個人情報保護委員会（報告）</a:t>
            </a:r>
            <a:endParaRPr lang="en-US" sz="1150" dirty="0"/>
          </a:p>
        </p:txBody>
      </p:sp>
      <p:sp>
        <p:nvSpPr>
          <p:cNvPr id="28" name="Shape 26"/>
          <p:cNvSpPr/>
          <p:nvPr/>
        </p:nvSpPr>
        <p:spPr>
          <a:xfrm>
            <a:off x="7818120" y="2779776"/>
            <a:ext cx="146304" cy="146304"/>
          </a:xfrm>
          <a:prstGeom prst="ellipse">
            <a:avLst/>
          </a:prstGeom>
          <a:solidFill>
            <a:srgbClr val="1C7293"/>
          </a:solidFill>
          <a:ln/>
        </p:spPr>
        <p:txBody>
          <a:bodyPr/>
          <a:lstStyle/>
          <a:p>
            <a:endParaRPr lang="ja-JP" altLang="en-US"/>
          </a:p>
        </p:txBody>
      </p:sp>
      <p:sp>
        <p:nvSpPr>
          <p:cNvPr id="29" name="Text 27"/>
          <p:cNvSpPr/>
          <p:nvPr/>
        </p:nvSpPr>
        <p:spPr>
          <a:xfrm>
            <a:off x="8092440" y="2670048"/>
            <a:ext cx="3429000" cy="402336"/>
          </a:xfrm>
          <a:prstGeom prst="rect">
            <a:avLst/>
          </a:prstGeom>
          <a:noFill/>
          <a:ln/>
        </p:spPr>
        <p:txBody>
          <a:bodyPr wrap="square" lIns="0" tIns="0" rIns="0" bIns="0" rtlCol="0" anchor="ctr"/>
          <a:lstStyle/>
          <a:p>
            <a:pPr marL="0" indent="0">
              <a:buNone/>
            </a:pPr>
            <a:r>
              <a:rPr lang="en-US" sz="1150" dirty="0">
                <a:solidFill>
                  <a:srgbClr val="1E293B"/>
                </a:solidFill>
                <a:latin typeface="Meiryo" pitchFamily="34" charset="0"/>
                <a:ea typeface="Meiryo" pitchFamily="34" charset="-122"/>
                <a:cs typeface="Meiryo" pitchFamily="34" charset="-120"/>
              </a:rPr>
              <a:t>EU 監督機関（DPA／GDPR 通知）</a:t>
            </a:r>
            <a:endParaRPr lang="en-US" sz="1150" dirty="0"/>
          </a:p>
        </p:txBody>
      </p:sp>
      <p:sp>
        <p:nvSpPr>
          <p:cNvPr id="30" name="Shape 28"/>
          <p:cNvSpPr/>
          <p:nvPr/>
        </p:nvSpPr>
        <p:spPr>
          <a:xfrm>
            <a:off x="7818120" y="3310128"/>
            <a:ext cx="146304" cy="146304"/>
          </a:xfrm>
          <a:prstGeom prst="ellipse">
            <a:avLst/>
          </a:prstGeom>
          <a:solidFill>
            <a:srgbClr val="1C7293"/>
          </a:solidFill>
          <a:ln/>
        </p:spPr>
        <p:txBody>
          <a:bodyPr/>
          <a:lstStyle/>
          <a:p>
            <a:endParaRPr lang="ja-JP" altLang="en-US"/>
          </a:p>
        </p:txBody>
      </p:sp>
      <p:sp>
        <p:nvSpPr>
          <p:cNvPr id="31" name="Text 29"/>
          <p:cNvSpPr/>
          <p:nvPr/>
        </p:nvSpPr>
        <p:spPr>
          <a:xfrm>
            <a:off x="8092440" y="3200400"/>
            <a:ext cx="3429000" cy="402336"/>
          </a:xfrm>
          <a:prstGeom prst="rect">
            <a:avLst/>
          </a:prstGeom>
          <a:noFill/>
          <a:ln/>
        </p:spPr>
        <p:txBody>
          <a:bodyPr wrap="square" lIns="0" tIns="0" rIns="0" bIns="0" rtlCol="0" anchor="ctr"/>
          <a:lstStyle/>
          <a:p>
            <a:pPr marL="0" indent="0">
              <a:buNone/>
            </a:pPr>
            <a:r>
              <a:rPr lang="en-US" sz="1150" dirty="0">
                <a:solidFill>
                  <a:srgbClr val="1E293B"/>
                </a:solidFill>
                <a:latin typeface="Meiryo" pitchFamily="34" charset="0"/>
                <a:ea typeface="Meiryo" pitchFamily="34" charset="-122"/>
                <a:cs typeface="Meiryo" pitchFamily="34" charset="-120"/>
              </a:rPr>
              <a:t>警察（サイバー犯罪相談窓口）</a:t>
            </a:r>
            <a:endParaRPr lang="en-US" sz="1150" dirty="0"/>
          </a:p>
        </p:txBody>
      </p:sp>
      <p:sp>
        <p:nvSpPr>
          <p:cNvPr id="32" name="Shape 30"/>
          <p:cNvSpPr/>
          <p:nvPr/>
        </p:nvSpPr>
        <p:spPr>
          <a:xfrm>
            <a:off x="7818120" y="3840480"/>
            <a:ext cx="146304" cy="146304"/>
          </a:xfrm>
          <a:prstGeom prst="ellipse">
            <a:avLst/>
          </a:prstGeom>
          <a:solidFill>
            <a:srgbClr val="1C7293"/>
          </a:solidFill>
          <a:ln/>
        </p:spPr>
        <p:txBody>
          <a:bodyPr/>
          <a:lstStyle/>
          <a:p>
            <a:endParaRPr lang="ja-JP" altLang="en-US"/>
          </a:p>
        </p:txBody>
      </p:sp>
      <p:sp>
        <p:nvSpPr>
          <p:cNvPr id="33" name="Text 31"/>
          <p:cNvSpPr/>
          <p:nvPr/>
        </p:nvSpPr>
        <p:spPr>
          <a:xfrm>
            <a:off x="8092440" y="3730752"/>
            <a:ext cx="3429000" cy="402336"/>
          </a:xfrm>
          <a:prstGeom prst="rect">
            <a:avLst/>
          </a:prstGeom>
          <a:noFill/>
          <a:ln/>
        </p:spPr>
        <p:txBody>
          <a:bodyPr wrap="square" lIns="0" tIns="0" rIns="0" bIns="0" rtlCol="0" anchor="ctr"/>
          <a:lstStyle/>
          <a:p>
            <a:pPr marL="0" indent="0">
              <a:buNone/>
            </a:pPr>
            <a:r>
              <a:rPr lang="en-US" sz="1150" dirty="0">
                <a:solidFill>
                  <a:srgbClr val="1E293B"/>
                </a:solidFill>
                <a:latin typeface="Meiryo" pitchFamily="34" charset="0"/>
                <a:ea typeface="Meiryo" pitchFamily="34" charset="-122"/>
                <a:cs typeface="Meiryo" pitchFamily="34" charset="-120"/>
              </a:rPr>
              <a:t>JPCERT/CC・IPA（技術支援）</a:t>
            </a:r>
            <a:endParaRPr lang="en-US" sz="1150" dirty="0"/>
          </a:p>
        </p:txBody>
      </p:sp>
      <p:sp>
        <p:nvSpPr>
          <p:cNvPr id="34" name="Shape 32"/>
          <p:cNvSpPr/>
          <p:nvPr/>
        </p:nvSpPr>
        <p:spPr>
          <a:xfrm>
            <a:off x="7818120" y="4370832"/>
            <a:ext cx="146304" cy="146304"/>
          </a:xfrm>
          <a:prstGeom prst="ellipse">
            <a:avLst/>
          </a:prstGeom>
          <a:solidFill>
            <a:srgbClr val="1C7293"/>
          </a:solidFill>
          <a:ln/>
        </p:spPr>
        <p:txBody>
          <a:bodyPr/>
          <a:lstStyle/>
          <a:p>
            <a:endParaRPr lang="ja-JP" altLang="en-US"/>
          </a:p>
        </p:txBody>
      </p:sp>
      <p:sp>
        <p:nvSpPr>
          <p:cNvPr id="35" name="Text 33"/>
          <p:cNvSpPr/>
          <p:nvPr/>
        </p:nvSpPr>
        <p:spPr>
          <a:xfrm>
            <a:off x="8092440" y="4261104"/>
            <a:ext cx="3429000" cy="402336"/>
          </a:xfrm>
          <a:prstGeom prst="rect">
            <a:avLst/>
          </a:prstGeom>
          <a:noFill/>
          <a:ln/>
        </p:spPr>
        <p:txBody>
          <a:bodyPr wrap="square" lIns="0" tIns="0" rIns="0" bIns="0" rtlCol="0" anchor="ctr"/>
          <a:lstStyle/>
          <a:p>
            <a:pPr marL="0" indent="0">
              <a:buNone/>
            </a:pPr>
            <a:r>
              <a:rPr lang="en-US" sz="1150" dirty="0">
                <a:solidFill>
                  <a:srgbClr val="1E293B"/>
                </a:solidFill>
                <a:latin typeface="Meiryo" pitchFamily="34" charset="0"/>
                <a:ea typeface="Meiryo" pitchFamily="34" charset="-122"/>
                <a:cs typeface="Meiryo" pitchFamily="34" charset="-120"/>
              </a:rPr>
              <a:t>SOC・システム委託先</a:t>
            </a:r>
            <a:endParaRPr lang="en-US" sz="1150" dirty="0"/>
          </a:p>
        </p:txBody>
      </p:sp>
      <p:sp>
        <p:nvSpPr>
          <p:cNvPr id="36" name="Shape 34"/>
          <p:cNvSpPr/>
          <p:nvPr/>
        </p:nvSpPr>
        <p:spPr>
          <a:xfrm>
            <a:off x="7818120" y="4901184"/>
            <a:ext cx="146304" cy="146304"/>
          </a:xfrm>
          <a:prstGeom prst="ellipse">
            <a:avLst/>
          </a:prstGeom>
          <a:solidFill>
            <a:srgbClr val="1C7293"/>
          </a:solidFill>
          <a:ln/>
        </p:spPr>
        <p:txBody>
          <a:bodyPr/>
          <a:lstStyle/>
          <a:p>
            <a:endParaRPr lang="ja-JP" altLang="en-US"/>
          </a:p>
        </p:txBody>
      </p:sp>
      <p:sp>
        <p:nvSpPr>
          <p:cNvPr id="37" name="Text 35"/>
          <p:cNvSpPr/>
          <p:nvPr/>
        </p:nvSpPr>
        <p:spPr>
          <a:xfrm>
            <a:off x="8092440" y="4791456"/>
            <a:ext cx="3429000" cy="402336"/>
          </a:xfrm>
          <a:prstGeom prst="rect">
            <a:avLst/>
          </a:prstGeom>
          <a:noFill/>
          <a:ln/>
        </p:spPr>
        <p:txBody>
          <a:bodyPr wrap="square" lIns="0" tIns="0" rIns="0" bIns="0" rtlCol="0" anchor="ctr"/>
          <a:lstStyle/>
          <a:p>
            <a:pPr marL="0" indent="0">
              <a:buNone/>
            </a:pPr>
            <a:r>
              <a:rPr lang="en-US" sz="1150" dirty="0">
                <a:solidFill>
                  <a:srgbClr val="1E293B"/>
                </a:solidFill>
                <a:latin typeface="Meiryo" pitchFamily="34" charset="0"/>
                <a:ea typeface="Meiryo" pitchFamily="34" charset="-122"/>
                <a:cs typeface="Meiryo" pitchFamily="34" charset="-120"/>
              </a:rPr>
              <a:t>クレジットカード会社・決済代行</a:t>
            </a:r>
            <a:endParaRPr lang="en-US" sz="1150" dirty="0"/>
          </a:p>
        </p:txBody>
      </p:sp>
      <p:sp>
        <p:nvSpPr>
          <p:cNvPr id="38" name="Shape 36"/>
          <p:cNvSpPr/>
          <p:nvPr/>
        </p:nvSpPr>
        <p:spPr>
          <a:xfrm>
            <a:off x="7818120" y="5431536"/>
            <a:ext cx="146304" cy="146304"/>
          </a:xfrm>
          <a:prstGeom prst="ellipse">
            <a:avLst/>
          </a:prstGeom>
          <a:solidFill>
            <a:srgbClr val="1C7293"/>
          </a:solidFill>
          <a:ln/>
        </p:spPr>
        <p:txBody>
          <a:bodyPr/>
          <a:lstStyle/>
          <a:p>
            <a:endParaRPr lang="ja-JP" altLang="en-US"/>
          </a:p>
        </p:txBody>
      </p:sp>
      <p:sp>
        <p:nvSpPr>
          <p:cNvPr id="39" name="Text 37"/>
          <p:cNvSpPr/>
          <p:nvPr/>
        </p:nvSpPr>
        <p:spPr>
          <a:xfrm>
            <a:off x="8092440" y="5321808"/>
            <a:ext cx="3429000" cy="402336"/>
          </a:xfrm>
          <a:prstGeom prst="rect">
            <a:avLst/>
          </a:prstGeom>
          <a:noFill/>
          <a:ln/>
        </p:spPr>
        <p:txBody>
          <a:bodyPr wrap="square" lIns="0" tIns="0" rIns="0" bIns="0" rtlCol="0" anchor="ctr"/>
          <a:lstStyle/>
          <a:p>
            <a:pPr marL="0" indent="0">
              <a:buNone/>
            </a:pPr>
            <a:r>
              <a:rPr lang="en-US" sz="1150" dirty="0">
                <a:solidFill>
                  <a:srgbClr val="1E293B"/>
                </a:solidFill>
                <a:latin typeface="Meiryo" pitchFamily="34" charset="0"/>
                <a:ea typeface="Meiryo" pitchFamily="34" charset="-122"/>
                <a:cs typeface="Meiryo" pitchFamily="34" charset="-120"/>
              </a:rPr>
              <a:t>影響を受ける顧客・取引先</a:t>
            </a:r>
            <a:endParaRPr lang="en-US" sz="1150" dirty="0"/>
          </a:p>
        </p:txBody>
      </p:sp>
      <p:sp>
        <p:nvSpPr>
          <p:cNvPr id="40" name="Text 38"/>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41" name="Text 39"/>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Meiryo" pitchFamily="34" charset="0"/>
                <a:ea typeface="Meiryo" pitchFamily="34" charset="-122"/>
                <a:cs typeface="Meiryo" pitchFamily="34" charset="-120"/>
              </a:rPr>
              <a:t>4. 改訂 ③</a:t>
            </a:r>
            <a:endParaRPr lang="en-US" sz="1200" dirty="0"/>
          </a:p>
        </p:txBody>
      </p:sp>
      <p:sp>
        <p:nvSpPr>
          <p:cNvPr id="3" name="Text 1"/>
          <p:cNvSpPr/>
          <p:nvPr/>
        </p:nvSpPr>
        <p:spPr>
          <a:xfrm>
            <a:off x="548640" y="658368"/>
            <a:ext cx="11064240" cy="566928"/>
          </a:xfrm>
          <a:prstGeom prst="rect">
            <a:avLst/>
          </a:prstGeom>
          <a:noFill/>
          <a:ln/>
        </p:spPr>
        <p:txBody>
          <a:bodyPr wrap="square" lIns="0" tIns="0" rIns="0" bIns="0" rtlCol="0" anchor="ctr"/>
          <a:lstStyle/>
          <a:p>
            <a:pPr marL="0" indent="0">
              <a:buNone/>
            </a:pPr>
            <a:r>
              <a:rPr lang="en-US" sz="2600" b="1" dirty="0">
                <a:solidFill>
                  <a:srgbClr val="0F2A47"/>
                </a:solidFill>
                <a:latin typeface="Meiryo" pitchFamily="34" charset="0"/>
                <a:ea typeface="Meiryo" pitchFamily="34" charset="-122"/>
                <a:cs typeface="Meiryo" pitchFamily="34" charset="-120"/>
              </a:rPr>
              <a:t>基本規定 その他必要箇所の改訂</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4352544"/>
        </p:xfrm>
        <a:graphic>
          <a:graphicData uri="http://schemas.openxmlformats.org/drawingml/2006/table">
            <a:tbl>
              <a:tblPr/>
              <a:tblGrid>
                <a:gridCol w="2834640">
                  <a:extLst>
                    <a:ext uri="{9D8B030D-6E8A-4147-A177-3AD203B41FA5}">
                      <a16:colId xmlns:a16="http://schemas.microsoft.com/office/drawing/2014/main" val="20000"/>
                    </a:ext>
                  </a:extLst>
                </a:gridCol>
                <a:gridCol w="8275320">
                  <a:extLst>
                    <a:ext uri="{9D8B030D-6E8A-4147-A177-3AD203B41FA5}">
                      <a16:colId xmlns:a16="http://schemas.microsoft.com/office/drawing/2014/main" val="20001"/>
                    </a:ext>
                  </a:extLst>
                </a:gridCol>
              </a:tblGrid>
              <a:tr h="621792">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条項</a:t>
                      </a:r>
                      <a:endParaRPr lang="en-US" sz="120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tc>
                  <a:txBody>
                    <a:bodyPr/>
                    <a:lstStyle/>
                    <a:p>
                      <a:pPr marL="0" indent="0" algn="ctr">
                        <a:buNone/>
                      </a:pPr>
                      <a:r>
                        <a:rPr lang="en-US" sz="1200" b="1" dirty="0">
                          <a:solidFill>
                            <a:srgbClr val="FFFFFF"/>
                          </a:solidFill>
                          <a:latin typeface="Meiryo" pitchFamily="34" charset="0"/>
                          <a:ea typeface="Meiryo" pitchFamily="34" charset="-122"/>
                          <a:cs typeface="Meiryo" pitchFamily="34" charset="-120"/>
                        </a:rPr>
                        <a:t>改訂の要点</a:t>
                      </a:r>
                      <a:endParaRPr lang="en-US" sz="120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0F2A47"/>
                    </a:solidFill>
                  </a:tcPr>
                </a:tc>
                <a:extLst>
                  <a:ext uri="{0D108BD9-81ED-4DB2-BD59-A6C34878D82A}">
                    <a16:rowId xmlns:a16="http://schemas.microsoft.com/office/drawing/2014/main" val="10000"/>
                  </a:ext>
                </a:extLst>
              </a:tr>
              <a:tr h="621792">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3.管理体制／4.責任者</a:t>
                      </a:r>
                      <a:endParaRPr lang="en-US" sz="110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60" dirty="0">
                          <a:solidFill>
                            <a:srgbClr val="1E293B"/>
                          </a:solidFill>
                          <a:latin typeface="Meiryo" pitchFamily="34" charset="0"/>
                          <a:ea typeface="Meiryo" pitchFamily="34" charset="-122"/>
                          <a:cs typeface="Meiryo" pitchFamily="34" charset="-120"/>
                        </a:rPr>
                        <a:t>CSIRT・SOC を含む体制図と責任分界点を明記。SOC 外注に伴う監督責任を規定。</a:t>
                      </a:r>
                      <a:endParaRPr lang="en-US" sz="106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5.／6. 対策の実現</a:t>
                      </a:r>
                      <a:endParaRPr lang="en-US" sz="110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60" dirty="0">
                          <a:solidFill>
                            <a:srgbClr val="1E293B"/>
                          </a:solidFill>
                          <a:latin typeface="Meiryo" pitchFamily="34" charset="0"/>
                          <a:ea typeface="Meiryo" pitchFamily="34" charset="-122"/>
                          <a:cs typeface="Meiryo" pitchFamily="34" charset="-120"/>
                        </a:rPr>
                        <a:t>SOC による24時間365日の監視・ログの取得と保管・分析を追加。</a:t>
                      </a:r>
                      <a:endParaRPr lang="en-US" sz="106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（新設）個人情報の保護</a:t>
                      </a:r>
                      <a:endParaRPr lang="en-US" sz="110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60" dirty="0">
                          <a:solidFill>
                            <a:srgbClr val="1E293B"/>
                          </a:solidFill>
                          <a:latin typeface="Meiryo" pitchFamily="34" charset="0"/>
                          <a:ea typeface="Meiryo" pitchFamily="34" charset="-122"/>
                          <a:cs typeface="Meiryo" pitchFamily="34" charset="-120"/>
                        </a:rPr>
                        <a:t>GDPR 対応（域外適用、EU 代理人／DPO、データ主体の権利、越境移転、72時間通知）を明記。</a:t>
                      </a:r>
                      <a:endParaRPr lang="en-US" sz="106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3"/>
                  </a:ext>
                </a:extLst>
              </a:tr>
              <a:tr h="621792">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9. 業務委託先の管理</a:t>
                      </a:r>
                      <a:endParaRPr lang="en-US" sz="110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60" dirty="0">
                          <a:solidFill>
                            <a:srgbClr val="1E293B"/>
                          </a:solidFill>
                          <a:latin typeface="Meiryo" pitchFamily="34" charset="0"/>
                          <a:ea typeface="Meiryo" pitchFamily="34" charset="-122"/>
                          <a:cs typeface="Meiryo" pitchFamily="34" charset="-120"/>
                        </a:rPr>
                        <a:t>SOC 等委託先への SLA・秘密保持・監査権・インシデント通報義務を追加。</a:t>
                      </a:r>
                      <a:endParaRPr lang="en-US" sz="106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4"/>
                  </a:ext>
                </a:extLst>
              </a:tr>
              <a:tr h="621792">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11. 見直し</a:t>
                      </a:r>
                      <a:endParaRPr lang="en-US" sz="110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60" dirty="0">
                          <a:solidFill>
                            <a:srgbClr val="1E293B"/>
                          </a:solidFill>
                          <a:latin typeface="Meiryo" pitchFamily="34" charset="0"/>
                          <a:ea typeface="Meiryo" pitchFamily="34" charset="-122"/>
                          <a:cs typeface="Meiryo" pitchFamily="34" charset="-120"/>
                        </a:rPr>
                        <a:t>法改正・脅威の変化に応じ、年1回以上および重大インシデント発生時に見直し。</a:t>
                      </a:r>
                      <a:endParaRPr lang="en-US" sz="106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5"/>
                  </a:ext>
                </a:extLst>
              </a:tr>
              <a:tr h="621792">
                <a:tc>
                  <a:txBody>
                    <a:bodyPr/>
                    <a:lstStyle/>
                    <a:p>
                      <a:pPr marL="0" indent="0" algn="l">
                        <a:buNone/>
                      </a:pPr>
                      <a:r>
                        <a:rPr lang="en-US" sz="1100" b="1" dirty="0">
                          <a:solidFill>
                            <a:srgbClr val="0F2A47"/>
                          </a:solidFill>
                          <a:latin typeface="Meiryo" pitchFamily="34" charset="0"/>
                          <a:ea typeface="Meiryo" pitchFamily="34" charset="-122"/>
                          <a:cs typeface="Meiryo" pitchFamily="34" charset="-120"/>
                        </a:rPr>
                        <a:t>（新設）文書体系</a:t>
                      </a:r>
                      <a:endParaRPr lang="en-US" sz="110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solidFill>
                      <a:srgbClr val="EEF4F8"/>
                    </a:solidFill>
                  </a:tcPr>
                </a:tc>
                <a:tc>
                  <a:txBody>
                    <a:bodyPr/>
                    <a:lstStyle/>
                    <a:p>
                      <a:pPr marL="0" indent="0" algn="l">
                        <a:buNone/>
                      </a:pPr>
                      <a:r>
                        <a:rPr lang="en-US" sz="1060" dirty="0">
                          <a:solidFill>
                            <a:srgbClr val="1E293B"/>
                          </a:solidFill>
                          <a:latin typeface="Meiryo" pitchFamily="34" charset="0"/>
                          <a:ea typeface="Meiryo" pitchFamily="34" charset="-122"/>
                          <a:cs typeface="Meiryo" pitchFamily="34" charset="-120"/>
                        </a:rPr>
                        <a:t>基本規定の下位に「対策基準」「実施手順」を整備し、ポリシー体系を確立。</a:t>
                      </a:r>
                      <a:endParaRPr lang="en-US" sz="1060" dirty="0">
                        <a:latin typeface="Meiryo" charset="0"/>
                        <a:ea typeface="Meiryo" charset="0"/>
                        <a:cs typeface="Meiryo" charset="0"/>
                      </a:endParaRPr>
                    </a:p>
                  </a:txBody>
                  <a:tcPr marL="88900" marR="88900" marT="38100" marB="38100" anchor="ctr">
                    <a:lnL w="6350" cap="flat" cmpd="sng" algn="ctr">
                      <a:solidFill>
                        <a:srgbClr val="D8E1E8"/>
                      </a:solidFill>
                      <a:prstDash val="solid"/>
                      <a:round/>
                      <a:headEnd type="none" w="med" len="med"/>
                      <a:tailEnd type="none" w="med" len="med"/>
                    </a:lnL>
                    <a:lnR w="6350" cap="flat" cmpd="sng" algn="ctr">
                      <a:solidFill>
                        <a:srgbClr val="D8E1E8"/>
                      </a:solidFill>
                      <a:prstDash val="solid"/>
                      <a:round/>
                      <a:headEnd type="none" w="med" len="med"/>
                      <a:tailEnd type="none" w="med" len="med"/>
                    </a:lnR>
                    <a:lnT w="6350" cap="flat" cmpd="sng" algn="ctr">
                      <a:solidFill>
                        <a:srgbClr val="D8E1E8"/>
                      </a:solidFill>
                      <a:prstDash val="solid"/>
                      <a:round/>
                      <a:headEnd type="none" w="med" len="med"/>
                      <a:tailEnd type="none" w="med" len="med"/>
                    </a:lnT>
                    <a:lnB w="6350" cap="flat" cmpd="sng" algn="ctr">
                      <a:solidFill>
                        <a:srgbClr val="D8E1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6" name="Text 3"/>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7"/>
        </a:solidFill>
        <a:effectLst/>
      </p:bgPr>
    </p:bg>
    <p:spTree>
      <p:nvGrpSpPr>
        <p:cNvPr id="1" name=""/>
        <p:cNvGrpSpPr/>
        <p:nvPr/>
      </p:nvGrpSpPr>
      <p:grpSpPr>
        <a:xfrm>
          <a:off x="0" y="0"/>
          <a:ext cx="0" cy="0"/>
          <a:chOff x="0" y="0"/>
          <a:chExt cx="0" cy="0"/>
        </a:xfrm>
      </p:grpSpPr>
      <p:sp>
        <p:nvSpPr>
          <p:cNvPr id="3" name="Shape 1"/>
          <p:cNvSpPr/>
          <p:nvPr/>
        </p:nvSpPr>
        <p:spPr>
          <a:xfrm>
            <a:off x="822960" y="566928"/>
            <a:ext cx="128016" cy="566928"/>
          </a:xfrm>
          <a:prstGeom prst="rect">
            <a:avLst/>
          </a:prstGeom>
          <a:solidFill>
            <a:srgbClr val="E0A63C"/>
          </a:solidFill>
          <a:ln/>
        </p:spPr>
        <p:txBody>
          <a:bodyPr/>
          <a:lstStyle/>
          <a:p>
            <a:endParaRPr lang="ja-JP" altLang="en-US"/>
          </a:p>
        </p:txBody>
      </p:sp>
      <p:sp>
        <p:nvSpPr>
          <p:cNvPr id="4" name="Text 2"/>
          <p:cNvSpPr/>
          <p:nvPr/>
        </p:nvSpPr>
        <p:spPr>
          <a:xfrm>
            <a:off x="1097280" y="548640"/>
            <a:ext cx="7315200" cy="548640"/>
          </a:xfrm>
          <a:prstGeom prst="rect">
            <a:avLst/>
          </a:prstGeom>
          <a:noFill/>
          <a:ln/>
        </p:spPr>
        <p:txBody>
          <a:bodyPr wrap="square" lIns="0" tIns="0" rIns="0" bIns="0" rtlCol="0" anchor="ctr"/>
          <a:lstStyle/>
          <a:p>
            <a:pPr marL="0" indent="0">
              <a:buNone/>
            </a:pPr>
            <a:r>
              <a:rPr lang="en-US" sz="3000" b="1" dirty="0">
                <a:solidFill>
                  <a:srgbClr val="FFFFFF"/>
                </a:solidFill>
                <a:latin typeface="Meiryo" pitchFamily="34" charset="0"/>
                <a:ea typeface="Meiryo" pitchFamily="34" charset="-122"/>
                <a:cs typeface="Meiryo" pitchFamily="34" charset="-120"/>
              </a:rPr>
              <a:t>まとめ</a:t>
            </a:r>
            <a:endParaRPr lang="en-US" sz="3000" dirty="0"/>
          </a:p>
        </p:txBody>
      </p:sp>
      <p:sp>
        <p:nvSpPr>
          <p:cNvPr id="5" name="Shape 3"/>
          <p:cNvSpPr/>
          <p:nvPr/>
        </p:nvSpPr>
        <p:spPr>
          <a:xfrm>
            <a:off x="1097280" y="1435608"/>
            <a:ext cx="457200" cy="457200"/>
          </a:xfrm>
          <a:prstGeom prst="ellipse">
            <a:avLst/>
          </a:prstGeom>
          <a:solidFill>
            <a:srgbClr val="E0A63C"/>
          </a:solidFill>
          <a:ln/>
        </p:spPr>
        <p:txBody>
          <a:bodyPr/>
          <a:lstStyle/>
          <a:p>
            <a:endParaRPr lang="ja-JP" altLang="en-US"/>
          </a:p>
        </p:txBody>
      </p:sp>
      <p:sp>
        <p:nvSpPr>
          <p:cNvPr id="6" name="Text 4"/>
          <p:cNvSpPr/>
          <p:nvPr/>
        </p:nvSpPr>
        <p:spPr>
          <a:xfrm>
            <a:off x="1097280" y="1435608"/>
            <a:ext cx="457200" cy="457200"/>
          </a:xfrm>
          <a:prstGeom prst="rect">
            <a:avLst/>
          </a:prstGeom>
          <a:noFill/>
          <a:ln/>
        </p:spPr>
        <p:txBody>
          <a:bodyPr wrap="square" lIns="0" tIns="0" rIns="0" bIns="0" rtlCol="0" anchor="ctr"/>
          <a:lstStyle/>
          <a:p>
            <a:pPr marL="0" indent="0" algn="ctr">
              <a:buNone/>
            </a:pPr>
            <a:r>
              <a:rPr lang="en-US" sz="1600" b="1" dirty="0">
                <a:solidFill>
                  <a:srgbClr val="0F2A47"/>
                </a:solidFill>
                <a:latin typeface="Meiryo" pitchFamily="34" charset="0"/>
                <a:ea typeface="Meiryo" pitchFamily="34" charset="-122"/>
                <a:cs typeface="Meiryo" pitchFamily="34" charset="-120"/>
              </a:rPr>
              <a:t>1</a:t>
            </a:r>
            <a:endParaRPr lang="en-US" sz="1600" dirty="0"/>
          </a:p>
        </p:txBody>
      </p:sp>
      <p:sp>
        <p:nvSpPr>
          <p:cNvPr id="7" name="Text 5"/>
          <p:cNvSpPr/>
          <p:nvPr/>
        </p:nvSpPr>
        <p:spPr>
          <a:xfrm>
            <a:off x="1691640" y="1380744"/>
            <a:ext cx="6400800" cy="868680"/>
          </a:xfrm>
          <a:prstGeom prst="rect">
            <a:avLst/>
          </a:prstGeom>
          <a:noFill/>
          <a:ln/>
        </p:spPr>
        <p:txBody>
          <a:bodyPr wrap="square" lIns="0" tIns="0" rIns="0" bIns="0" rtlCol="0" anchor="ctr"/>
          <a:lstStyle/>
          <a:p>
            <a:pPr marL="0" indent="0">
              <a:lnSpc>
                <a:spcPct val="110000"/>
              </a:lnSpc>
              <a:buNone/>
            </a:pPr>
            <a:r>
              <a:rPr lang="en-US" sz="1500" b="1" dirty="0">
                <a:solidFill>
                  <a:srgbClr val="E0A63C"/>
                </a:solidFill>
                <a:latin typeface="Meiryo" pitchFamily="34" charset="0"/>
                <a:ea typeface="Meiryo" pitchFamily="34" charset="-122"/>
                <a:cs typeface="Meiryo" pitchFamily="34" charset="-120"/>
              </a:rPr>
              <a:t>リスクを可視化　</a:t>
            </a:r>
            <a:r>
              <a:rPr lang="en-US" sz="1200" dirty="0">
                <a:solidFill>
                  <a:srgbClr val="E4EDF4"/>
                </a:solidFill>
                <a:latin typeface="Meiryo" pitchFamily="34" charset="0"/>
                <a:ea typeface="Meiryo" pitchFamily="34" charset="-122"/>
                <a:cs typeface="Meiryo" pitchFamily="34" charset="-120"/>
              </a:rPr>
              <a:t>情報資産を業務に即して洗い出し、脅威9件を発生可能性×影響度で評価。最優先＝ランサムウェア・個人情報漏えい（T1・T2）。</a:t>
            </a:r>
            <a:endParaRPr lang="en-US" sz="1500" dirty="0"/>
          </a:p>
        </p:txBody>
      </p:sp>
      <p:sp>
        <p:nvSpPr>
          <p:cNvPr id="8" name="Shape 6"/>
          <p:cNvSpPr/>
          <p:nvPr/>
        </p:nvSpPr>
        <p:spPr>
          <a:xfrm>
            <a:off x="1097280" y="2350008"/>
            <a:ext cx="457200" cy="457200"/>
          </a:xfrm>
          <a:prstGeom prst="ellipse">
            <a:avLst/>
          </a:prstGeom>
          <a:solidFill>
            <a:srgbClr val="E0A63C"/>
          </a:solidFill>
          <a:ln/>
        </p:spPr>
        <p:txBody>
          <a:bodyPr/>
          <a:lstStyle/>
          <a:p>
            <a:endParaRPr lang="ja-JP" altLang="en-US"/>
          </a:p>
        </p:txBody>
      </p:sp>
      <p:sp>
        <p:nvSpPr>
          <p:cNvPr id="9" name="Text 7"/>
          <p:cNvSpPr/>
          <p:nvPr/>
        </p:nvSpPr>
        <p:spPr>
          <a:xfrm>
            <a:off x="1097280" y="2350008"/>
            <a:ext cx="457200" cy="457200"/>
          </a:xfrm>
          <a:prstGeom prst="rect">
            <a:avLst/>
          </a:prstGeom>
          <a:noFill/>
          <a:ln/>
        </p:spPr>
        <p:txBody>
          <a:bodyPr wrap="square" lIns="0" tIns="0" rIns="0" bIns="0" rtlCol="0" anchor="ctr"/>
          <a:lstStyle/>
          <a:p>
            <a:pPr marL="0" indent="0" algn="ctr">
              <a:buNone/>
            </a:pPr>
            <a:r>
              <a:rPr lang="en-US" sz="1600" b="1" dirty="0">
                <a:solidFill>
                  <a:srgbClr val="0F2A47"/>
                </a:solidFill>
                <a:latin typeface="Meiryo" pitchFamily="34" charset="0"/>
                <a:ea typeface="Meiryo" pitchFamily="34" charset="-122"/>
                <a:cs typeface="Meiryo" pitchFamily="34" charset="-120"/>
              </a:rPr>
              <a:t>2</a:t>
            </a:r>
            <a:endParaRPr lang="en-US" sz="1600" dirty="0"/>
          </a:p>
        </p:txBody>
      </p:sp>
      <p:sp>
        <p:nvSpPr>
          <p:cNvPr id="10" name="Text 8"/>
          <p:cNvSpPr/>
          <p:nvPr/>
        </p:nvSpPr>
        <p:spPr>
          <a:xfrm>
            <a:off x="1691640" y="2295144"/>
            <a:ext cx="6400800" cy="868680"/>
          </a:xfrm>
          <a:prstGeom prst="rect">
            <a:avLst/>
          </a:prstGeom>
          <a:noFill/>
          <a:ln/>
        </p:spPr>
        <p:txBody>
          <a:bodyPr wrap="square" lIns="0" tIns="0" rIns="0" bIns="0" rtlCol="0" anchor="ctr"/>
          <a:lstStyle/>
          <a:p>
            <a:pPr marL="0" indent="0">
              <a:lnSpc>
                <a:spcPct val="110000"/>
              </a:lnSpc>
              <a:buNone/>
            </a:pPr>
            <a:r>
              <a:rPr lang="en-US" sz="1500" b="1" dirty="0">
                <a:solidFill>
                  <a:srgbClr val="E0A63C"/>
                </a:solidFill>
                <a:latin typeface="Meiryo" pitchFamily="34" charset="0"/>
                <a:ea typeface="Meiryo" pitchFamily="34" charset="-122"/>
                <a:cs typeface="Meiryo" pitchFamily="34" charset="-120"/>
              </a:rPr>
              <a:t>「7.」を具体化　</a:t>
            </a:r>
            <a:r>
              <a:rPr lang="en-US" sz="1200" dirty="0">
                <a:solidFill>
                  <a:srgbClr val="E4EDF4"/>
                </a:solidFill>
                <a:latin typeface="Meiryo" pitchFamily="34" charset="0"/>
                <a:ea typeface="Meiryo" pitchFamily="34" charset="-122"/>
                <a:cs typeface="Meiryo" pitchFamily="34" charset="-120"/>
              </a:rPr>
              <a:t>CSIRT を中心に SOC と連携し、検知〜事後対応の6段階と証拠保全を明記して基本規定を改訂。</a:t>
            </a:r>
            <a:endParaRPr lang="en-US" sz="1500" dirty="0"/>
          </a:p>
        </p:txBody>
      </p:sp>
      <p:sp>
        <p:nvSpPr>
          <p:cNvPr id="11" name="Shape 9"/>
          <p:cNvSpPr/>
          <p:nvPr/>
        </p:nvSpPr>
        <p:spPr>
          <a:xfrm>
            <a:off x="1097280" y="3264408"/>
            <a:ext cx="457200" cy="457200"/>
          </a:xfrm>
          <a:prstGeom prst="ellipse">
            <a:avLst/>
          </a:prstGeom>
          <a:solidFill>
            <a:srgbClr val="E0A63C"/>
          </a:solidFill>
          <a:ln/>
        </p:spPr>
        <p:txBody>
          <a:bodyPr/>
          <a:lstStyle/>
          <a:p>
            <a:endParaRPr lang="ja-JP" altLang="en-US"/>
          </a:p>
        </p:txBody>
      </p:sp>
      <p:sp>
        <p:nvSpPr>
          <p:cNvPr id="12" name="Text 10"/>
          <p:cNvSpPr/>
          <p:nvPr/>
        </p:nvSpPr>
        <p:spPr>
          <a:xfrm>
            <a:off x="1097280" y="3264408"/>
            <a:ext cx="457200" cy="457200"/>
          </a:xfrm>
          <a:prstGeom prst="rect">
            <a:avLst/>
          </a:prstGeom>
          <a:noFill/>
          <a:ln/>
        </p:spPr>
        <p:txBody>
          <a:bodyPr wrap="square" lIns="0" tIns="0" rIns="0" bIns="0" rtlCol="0" anchor="ctr"/>
          <a:lstStyle/>
          <a:p>
            <a:pPr marL="0" indent="0" algn="ctr">
              <a:buNone/>
            </a:pPr>
            <a:r>
              <a:rPr lang="en-US" sz="1600" b="1" dirty="0">
                <a:solidFill>
                  <a:srgbClr val="0F2A47"/>
                </a:solidFill>
                <a:latin typeface="Meiryo" pitchFamily="34" charset="0"/>
                <a:ea typeface="Meiryo" pitchFamily="34" charset="-122"/>
                <a:cs typeface="Meiryo" pitchFamily="34" charset="-120"/>
              </a:rPr>
              <a:t>3</a:t>
            </a:r>
            <a:endParaRPr lang="en-US" sz="1600" dirty="0"/>
          </a:p>
        </p:txBody>
      </p:sp>
      <p:sp>
        <p:nvSpPr>
          <p:cNvPr id="13" name="Text 11"/>
          <p:cNvSpPr/>
          <p:nvPr/>
        </p:nvSpPr>
        <p:spPr>
          <a:xfrm>
            <a:off x="1691640" y="3209544"/>
            <a:ext cx="6400800" cy="868680"/>
          </a:xfrm>
          <a:prstGeom prst="rect">
            <a:avLst/>
          </a:prstGeom>
          <a:noFill/>
          <a:ln/>
        </p:spPr>
        <p:txBody>
          <a:bodyPr wrap="square" lIns="0" tIns="0" rIns="0" bIns="0" rtlCol="0" anchor="ctr"/>
          <a:lstStyle/>
          <a:p>
            <a:pPr marL="0" indent="0">
              <a:lnSpc>
                <a:spcPct val="110000"/>
              </a:lnSpc>
              <a:buNone/>
            </a:pPr>
            <a:r>
              <a:rPr lang="en-US" sz="1500" b="1" dirty="0">
                <a:solidFill>
                  <a:srgbClr val="E0A63C"/>
                </a:solidFill>
                <a:latin typeface="Meiryo" pitchFamily="34" charset="0"/>
                <a:ea typeface="Meiryo" pitchFamily="34" charset="-122"/>
                <a:cs typeface="Meiryo" pitchFamily="34" charset="-120"/>
              </a:rPr>
              <a:t>対策基準を新設　</a:t>
            </a:r>
            <a:r>
              <a:rPr lang="en-US" sz="1200" dirty="0">
                <a:solidFill>
                  <a:srgbClr val="E4EDF4"/>
                </a:solidFill>
                <a:latin typeface="Meiryo" pitchFamily="34" charset="0"/>
                <a:ea typeface="Meiryo" pitchFamily="34" charset="-122"/>
                <a:cs typeface="Meiryo" pitchFamily="34" charset="-120"/>
              </a:rPr>
              <a:t>インシデント対応プロセス・役割分担、個人情報保護委員会報告・本人通知・GDPR 72時間通知を規定。</a:t>
            </a:r>
            <a:endParaRPr lang="en-US" sz="1500" dirty="0"/>
          </a:p>
        </p:txBody>
      </p:sp>
      <p:sp>
        <p:nvSpPr>
          <p:cNvPr id="14" name="Shape 12"/>
          <p:cNvSpPr/>
          <p:nvPr/>
        </p:nvSpPr>
        <p:spPr>
          <a:xfrm>
            <a:off x="1097280" y="4178808"/>
            <a:ext cx="457200" cy="457200"/>
          </a:xfrm>
          <a:prstGeom prst="ellipse">
            <a:avLst/>
          </a:prstGeom>
          <a:solidFill>
            <a:srgbClr val="E0A63C"/>
          </a:solidFill>
          <a:ln/>
        </p:spPr>
        <p:txBody>
          <a:bodyPr/>
          <a:lstStyle/>
          <a:p>
            <a:endParaRPr lang="ja-JP" altLang="en-US"/>
          </a:p>
        </p:txBody>
      </p:sp>
      <p:sp>
        <p:nvSpPr>
          <p:cNvPr id="15" name="Text 13"/>
          <p:cNvSpPr/>
          <p:nvPr/>
        </p:nvSpPr>
        <p:spPr>
          <a:xfrm>
            <a:off x="1097280" y="4178808"/>
            <a:ext cx="457200" cy="457200"/>
          </a:xfrm>
          <a:prstGeom prst="rect">
            <a:avLst/>
          </a:prstGeom>
          <a:noFill/>
          <a:ln/>
        </p:spPr>
        <p:txBody>
          <a:bodyPr wrap="square" lIns="0" tIns="0" rIns="0" bIns="0" rtlCol="0" anchor="ctr"/>
          <a:lstStyle/>
          <a:p>
            <a:pPr marL="0" indent="0" algn="ctr">
              <a:buNone/>
            </a:pPr>
            <a:r>
              <a:rPr lang="en-US" sz="1600" b="1" dirty="0">
                <a:solidFill>
                  <a:srgbClr val="0F2A47"/>
                </a:solidFill>
                <a:latin typeface="Meiryo" pitchFamily="34" charset="0"/>
                <a:ea typeface="Meiryo" pitchFamily="34" charset="-122"/>
                <a:cs typeface="Meiryo" pitchFamily="34" charset="-120"/>
              </a:rPr>
              <a:t>4</a:t>
            </a:r>
            <a:endParaRPr lang="en-US" sz="1600" dirty="0"/>
          </a:p>
        </p:txBody>
      </p:sp>
      <p:sp>
        <p:nvSpPr>
          <p:cNvPr id="16" name="Text 14"/>
          <p:cNvSpPr/>
          <p:nvPr/>
        </p:nvSpPr>
        <p:spPr>
          <a:xfrm>
            <a:off x="1691640" y="4123944"/>
            <a:ext cx="6400800" cy="868680"/>
          </a:xfrm>
          <a:prstGeom prst="rect">
            <a:avLst/>
          </a:prstGeom>
          <a:noFill/>
          <a:ln/>
        </p:spPr>
        <p:txBody>
          <a:bodyPr wrap="square" lIns="0" tIns="0" rIns="0" bIns="0" rtlCol="0" anchor="ctr"/>
          <a:lstStyle/>
          <a:p>
            <a:pPr marL="0" indent="0">
              <a:lnSpc>
                <a:spcPct val="110000"/>
              </a:lnSpc>
              <a:buNone/>
            </a:pPr>
            <a:r>
              <a:rPr lang="en-US" sz="1500" b="1" dirty="0">
                <a:solidFill>
                  <a:srgbClr val="E0A63C"/>
                </a:solidFill>
                <a:latin typeface="Meiryo" pitchFamily="34" charset="0"/>
                <a:ea typeface="Meiryo" pitchFamily="34" charset="-122"/>
                <a:cs typeface="Meiryo" pitchFamily="34" charset="-120"/>
              </a:rPr>
              <a:t>体系を整備　</a:t>
            </a:r>
            <a:r>
              <a:rPr lang="en-US" sz="1200" dirty="0">
                <a:solidFill>
                  <a:srgbClr val="E4EDF4"/>
                </a:solidFill>
                <a:latin typeface="Meiryo" pitchFamily="34" charset="0"/>
                <a:ea typeface="Meiryo" pitchFamily="34" charset="-122"/>
                <a:cs typeface="Meiryo" pitchFamily="34" charset="-120"/>
              </a:rPr>
              <a:t>他条項（体制・委託先・見直し）を改訂し、対策基準・実施手順を含むポリシー体系を確立。</a:t>
            </a:r>
            <a:endParaRPr lang="en-US" sz="1500" dirty="0"/>
          </a:p>
        </p:txBody>
      </p:sp>
      <p:sp>
        <p:nvSpPr>
          <p:cNvPr id="17" name="Shape 15"/>
          <p:cNvSpPr/>
          <p:nvPr/>
        </p:nvSpPr>
        <p:spPr>
          <a:xfrm>
            <a:off x="8366760" y="1417320"/>
            <a:ext cx="3291840" cy="4572000"/>
          </a:xfrm>
          <a:prstGeom prst="roundRect">
            <a:avLst>
              <a:gd name="adj" fmla="val 1944"/>
            </a:avLst>
          </a:prstGeom>
          <a:solidFill>
            <a:srgbClr val="16375A"/>
          </a:solidFill>
          <a:ln w="12700">
            <a:solidFill>
              <a:srgbClr val="35597A"/>
            </a:solidFill>
            <a:prstDash val="solid"/>
          </a:ln>
        </p:spPr>
        <p:txBody>
          <a:bodyPr/>
          <a:lstStyle/>
          <a:p>
            <a:endParaRPr lang="ja-JP" altLang="en-US"/>
          </a:p>
        </p:txBody>
      </p:sp>
      <p:sp>
        <p:nvSpPr>
          <p:cNvPr id="18" name="Text 16"/>
          <p:cNvSpPr/>
          <p:nvPr/>
        </p:nvSpPr>
        <p:spPr>
          <a:xfrm>
            <a:off x="8595360" y="1572768"/>
            <a:ext cx="2834640" cy="310896"/>
          </a:xfrm>
          <a:prstGeom prst="rect">
            <a:avLst/>
          </a:prstGeom>
          <a:noFill/>
          <a:ln/>
        </p:spPr>
        <p:txBody>
          <a:bodyPr wrap="square" lIns="0" tIns="0" rIns="0" bIns="0" rtlCol="0" anchor="ctr"/>
          <a:lstStyle/>
          <a:p>
            <a:pPr marL="0" indent="0">
              <a:buNone/>
            </a:pPr>
            <a:r>
              <a:rPr lang="en-US" sz="1250" b="1" dirty="0">
                <a:solidFill>
                  <a:srgbClr val="E0A63C"/>
                </a:solidFill>
                <a:latin typeface="Meiryo" pitchFamily="34" charset="0"/>
                <a:ea typeface="Meiryo" pitchFamily="34" charset="-122"/>
                <a:cs typeface="Meiryo" pitchFamily="34" charset="-120"/>
              </a:rPr>
              <a:t>本レポートで設定した前提</a:t>
            </a:r>
            <a:endParaRPr lang="en-US" sz="1250" dirty="0"/>
          </a:p>
        </p:txBody>
      </p:sp>
      <p:sp>
        <p:nvSpPr>
          <p:cNvPr id="19" name="Text 17"/>
          <p:cNvSpPr/>
          <p:nvPr/>
        </p:nvSpPr>
        <p:spPr>
          <a:xfrm>
            <a:off x="8595360" y="2011680"/>
            <a:ext cx="228600" cy="365760"/>
          </a:xfrm>
          <a:prstGeom prst="rect">
            <a:avLst/>
          </a:prstGeom>
          <a:noFill/>
          <a:ln/>
        </p:spPr>
        <p:txBody>
          <a:bodyPr wrap="square" lIns="0" tIns="0" rIns="0" bIns="0" rtlCol="0" anchor="ctr"/>
          <a:lstStyle/>
          <a:p>
            <a:pPr marL="0" indent="0">
              <a:buNone/>
            </a:pPr>
            <a:r>
              <a:rPr lang="en-US" sz="1100" dirty="0">
                <a:solidFill>
                  <a:srgbClr val="E0A63C"/>
                </a:solidFill>
                <a:latin typeface="Meiryo" pitchFamily="34" charset="0"/>
                <a:ea typeface="Meiryo" pitchFamily="34" charset="-122"/>
                <a:cs typeface="Meiryo" pitchFamily="34" charset="-120"/>
              </a:rPr>
              <a:t>•</a:t>
            </a:r>
            <a:endParaRPr lang="en-US" sz="1100" dirty="0"/>
          </a:p>
        </p:txBody>
      </p:sp>
      <p:sp>
        <p:nvSpPr>
          <p:cNvPr id="20" name="Text 18"/>
          <p:cNvSpPr/>
          <p:nvPr/>
        </p:nvSpPr>
        <p:spPr>
          <a:xfrm>
            <a:off x="8823960" y="2011680"/>
            <a:ext cx="2697480" cy="603504"/>
          </a:xfrm>
          <a:prstGeom prst="rect">
            <a:avLst/>
          </a:prstGeom>
          <a:noFill/>
          <a:ln/>
        </p:spPr>
        <p:txBody>
          <a:bodyPr wrap="square" lIns="0" tIns="0" rIns="0" bIns="0" rtlCol="0" anchor="t"/>
          <a:lstStyle/>
          <a:p>
            <a:pPr marL="0" indent="0">
              <a:lnSpc>
                <a:spcPct val="105000"/>
              </a:lnSpc>
              <a:buNone/>
            </a:pPr>
            <a:r>
              <a:rPr lang="en-US" sz="1000" dirty="0">
                <a:solidFill>
                  <a:srgbClr val="D7E2EC"/>
                </a:solidFill>
                <a:latin typeface="Meiryo" pitchFamily="34" charset="0"/>
                <a:ea typeface="Meiryo" pitchFamily="34" charset="-122"/>
                <a:cs typeface="Meiryo" pitchFamily="34" charset="-120"/>
              </a:rPr>
              <a:t>EU 拠点は持たず、EU 居住者データを国内で取扱い（GDPR 域外適用）</a:t>
            </a:r>
            <a:endParaRPr lang="en-US" sz="1000" dirty="0"/>
          </a:p>
        </p:txBody>
      </p:sp>
      <p:sp>
        <p:nvSpPr>
          <p:cNvPr id="21" name="Text 19"/>
          <p:cNvSpPr/>
          <p:nvPr/>
        </p:nvSpPr>
        <p:spPr>
          <a:xfrm>
            <a:off x="8595360" y="2670048"/>
            <a:ext cx="228600" cy="365760"/>
          </a:xfrm>
          <a:prstGeom prst="rect">
            <a:avLst/>
          </a:prstGeom>
          <a:noFill/>
          <a:ln/>
        </p:spPr>
        <p:txBody>
          <a:bodyPr wrap="square" lIns="0" tIns="0" rIns="0" bIns="0" rtlCol="0" anchor="ctr"/>
          <a:lstStyle/>
          <a:p>
            <a:pPr marL="0" indent="0">
              <a:buNone/>
            </a:pPr>
            <a:r>
              <a:rPr lang="en-US" sz="1100" dirty="0">
                <a:solidFill>
                  <a:srgbClr val="E0A63C"/>
                </a:solidFill>
                <a:latin typeface="Meiryo" pitchFamily="34" charset="0"/>
                <a:ea typeface="Meiryo" pitchFamily="34" charset="-122"/>
                <a:cs typeface="Meiryo" pitchFamily="34" charset="-120"/>
              </a:rPr>
              <a:t>•</a:t>
            </a:r>
            <a:endParaRPr lang="en-US" sz="1100" dirty="0"/>
          </a:p>
        </p:txBody>
      </p:sp>
      <p:sp>
        <p:nvSpPr>
          <p:cNvPr id="22" name="Text 20"/>
          <p:cNvSpPr/>
          <p:nvPr/>
        </p:nvSpPr>
        <p:spPr>
          <a:xfrm>
            <a:off x="8823960" y="2670048"/>
            <a:ext cx="2697480" cy="603504"/>
          </a:xfrm>
          <a:prstGeom prst="rect">
            <a:avLst/>
          </a:prstGeom>
          <a:noFill/>
          <a:ln/>
        </p:spPr>
        <p:txBody>
          <a:bodyPr wrap="square" lIns="0" tIns="0" rIns="0" bIns="0" rtlCol="0" anchor="t"/>
          <a:lstStyle/>
          <a:p>
            <a:pPr marL="0" indent="0">
              <a:lnSpc>
                <a:spcPct val="105000"/>
              </a:lnSpc>
              <a:buNone/>
            </a:pPr>
            <a:r>
              <a:rPr lang="en-US" sz="1000" dirty="0">
                <a:solidFill>
                  <a:srgbClr val="D7E2EC"/>
                </a:solidFill>
                <a:latin typeface="Meiryo" pitchFamily="34" charset="0"/>
                <a:ea typeface="Meiryo" pitchFamily="34" charset="-122"/>
                <a:cs typeface="Meiryo" pitchFamily="34" charset="-120"/>
              </a:rPr>
              <a:t>決済は PCI DSS 準拠の決済代行を利用</a:t>
            </a:r>
            <a:endParaRPr lang="en-US" sz="1000" dirty="0"/>
          </a:p>
        </p:txBody>
      </p:sp>
      <p:sp>
        <p:nvSpPr>
          <p:cNvPr id="23" name="Text 21"/>
          <p:cNvSpPr/>
          <p:nvPr/>
        </p:nvSpPr>
        <p:spPr>
          <a:xfrm>
            <a:off x="8595360" y="3328416"/>
            <a:ext cx="228600" cy="365760"/>
          </a:xfrm>
          <a:prstGeom prst="rect">
            <a:avLst/>
          </a:prstGeom>
          <a:noFill/>
          <a:ln/>
        </p:spPr>
        <p:txBody>
          <a:bodyPr wrap="square" lIns="0" tIns="0" rIns="0" bIns="0" rtlCol="0" anchor="ctr"/>
          <a:lstStyle/>
          <a:p>
            <a:pPr marL="0" indent="0">
              <a:buNone/>
            </a:pPr>
            <a:r>
              <a:rPr lang="en-US" sz="1100" dirty="0">
                <a:solidFill>
                  <a:srgbClr val="E0A63C"/>
                </a:solidFill>
                <a:latin typeface="Meiryo" pitchFamily="34" charset="0"/>
                <a:ea typeface="Meiryo" pitchFamily="34" charset="-122"/>
                <a:cs typeface="Meiryo" pitchFamily="34" charset="-120"/>
              </a:rPr>
              <a:t>•</a:t>
            </a:r>
            <a:endParaRPr lang="en-US" sz="1100" dirty="0"/>
          </a:p>
        </p:txBody>
      </p:sp>
      <p:sp>
        <p:nvSpPr>
          <p:cNvPr id="24" name="Text 22"/>
          <p:cNvSpPr/>
          <p:nvPr/>
        </p:nvSpPr>
        <p:spPr>
          <a:xfrm>
            <a:off x="8823960" y="3328416"/>
            <a:ext cx="2697480" cy="603504"/>
          </a:xfrm>
          <a:prstGeom prst="rect">
            <a:avLst/>
          </a:prstGeom>
          <a:noFill/>
          <a:ln/>
        </p:spPr>
        <p:txBody>
          <a:bodyPr wrap="square" lIns="0" tIns="0" rIns="0" bIns="0" rtlCol="0" anchor="t"/>
          <a:lstStyle/>
          <a:p>
            <a:pPr marL="0" indent="0">
              <a:lnSpc>
                <a:spcPct val="105000"/>
              </a:lnSpc>
              <a:buNone/>
            </a:pPr>
            <a:r>
              <a:rPr lang="en-US" sz="1000" dirty="0">
                <a:solidFill>
                  <a:srgbClr val="D7E2EC"/>
                </a:solidFill>
                <a:latin typeface="Meiryo" pitchFamily="34" charset="0"/>
                <a:ea typeface="Meiryo" pitchFamily="34" charset="-122"/>
                <a:cs typeface="Meiryo" pitchFamily="34" charset="-120"/>
              </a:rPr>
              <a:t>SOC は24時間365日で外部委託</a:t>
            </a:r>
            <a:endParaRPr lang="en-US" sz="1000" dirty="0"/>
          </a:p>
        </p:txBody>
      </p:sp>
      <p:sp>
        <p:nvSpPr>
          <p:cNvPr id="25" name="Text 23"/>
          <p:cNvSpPr/>
          <p:nvPr/>
        </p:nvSpPr>
        <p:spPr>
          <a:xfrm>
            <a:off x="8595360" y="3986784"/>
            <a:ext cx="228600" cy="365760"/>
          </a:xfrm>
          <a:prstGeom prst="rect">
            <a:avLst/>
          </a:prstGeom>
          <a:noFill/>
          <a:ln/>
        </p:spPr>
        <p:txBody>
          <a:bodyPr wrap="square" lIns="0" tIns="0" rIns="0" bIns="0" rtlCol="0" anchor="ctr"/>
          <a:lstStyle/>
          <a:p>
            <a:pPr marL="0" indent="0">
              <a:buNone/>
            </a:pPr>
            <a:r>
              <a:rPr lang="en-US" sz="1100" dirty="0">
                <a:solidFill>
                  <a:srgbClr val="E0A63C"/>
                </a:solidFill>
                <a:latin typeface="Meiryo" pitchFamily="34" charset="0"/>
                <a:ea typeface="Meiryo" pitchFamily="34" charset="-122"/>
                <a:cs typeface="Meiryo" pitchFamily="34" charset="-120"/>
              </a:rPr>
              <a:t>•</a:t>
            </a:r>
            <a:endParaRPr lang="en-US" sz="1100" dirty="0"/>
          </a:p>
        </p:txBody>
      </p:sp>
      <p:sp>
        <p:nvSpPr>
          <p:cNvPr id="26" name="Text 24"/>
          <p:cNvSpPr/>
          <p:nvPr/>
        </p:nvSpPr>
        <p:spPr>
          <a:xfrm>
            <a:off x="8823960" y="3986784"/>
            <a:ext cx="2697480" cy="603504"/>
          </a:xfrm>
          <a:prstGeom prst="rect">
            <a:avLst/>
          </a:prstGeom>
          <a:noFill/>
          <a:ln/>
        </p:spPr>
        <p:txBody>
          <a:bodyPr wrap="square" lIns="0" tIns="0" rIns="0" bIns="0" rtlCol="0" anchor="t"/>
          <a:lstStyle/>
          <a:p>
            <a:pPr marL="0" indent="0">
              <a:lnSpc>
                <a:spcPct val="105000"/>
              </a:lnSpc>
              <a:buNone/>
            </a:pPr>
            <a:r>
              <a:rPr lang="en-US" sz="1000" dirty="0">
                <a:solidFill>
                  <a:srgbClr val="D7E2EC"/>
                </a:solidFill>
                <a:latin typeface="Meiryo" pitchFamily="34" charset="0"/>
                <a:ea typeface="Meiryo" pitchFamily="34" charset="-122"/>
                <a:cs typeface="Meiryo" pitchFamily="34" charset="-120"/>
              </a:rPr>
              <a:t>GDPR 対応として EU 代理人／DPO を選任</a:t>
            </a:r>
            <a:endParaRPr lang="en-US" sz="1000" dirty="0"/>
          </a:p>
        </p:txBody>
      </p:sp>
      <p:sp>
        <p:nvSpPr>
          <p:cNvPr id="27" name="Text 25"/>
          <p:cNvSpPr/>
          <p:nvPr/>
        </p:nvSpPr>
        <p:spPr>
          <a:xfrm>
            <a:off x="8595360" y="4645152"/>
            <a:ext cx="228600" cy="365760"/>
          </a:xfrm>
          <a:prstGeom prst="rect">
            <a:avLst/>
          </a:prstGeom>
          <a:noFill/>
          <a:ln/>
        </p:spPr>
        <p:txBody>
          <a:bodyPr wrap="square" lIns="0" tIns="0" rIns="0" bIns="0" rtlCol="0" anchor="ctr"/>
          <a:lstStyle/>
          <a:p>
            <a:pPr marL="0" indent="0">
              <a:buNone/>
            </a:pPr>
            <a:r>
              <a:rPr lang="en-US" sz="1100" dirty="0">
                <a:solidFill>
                  <a:srgbClr val="E0A63C"/>
                </a:solidFill>
                <a:latin typeface="Meiryo" pitchFamily="34" charset="0"/>
                <a:ea typeface="Meiryo" pitchFamily="34" charset="-122"/>
                <a:cs typeface="Meiryo" pitchFamily="34" charset="-120"/>
              </a:rPr>
              <a:t>•</a:t>
            </a:r>
            <a:endParaRPr lang="en-US" sz="1100" dirty="0"/>
          </a:p>
        </p:txBody>
      </p:sp>
      <p:sp>
        <p:nvSpPr>
          <p:cNvPr id="28" name="Text 26"/>
          <p:cNvSpPr/>
          <p:nvPr/>
        </p:nvSpPr>
        <p:spPr>
          <a:xfrm>
            <a:off x="8823960" y="4645152"/>
            <a:ext cx="2697480" cy="603504"/>
          </a:xfrm>
          <a:prstGeom prst="rect">
            <a:avLst/>
          </a:prstGeom>
          <a:noFill/>
          <a:ln/>
        </p:spPr>
        <p:txBody>
          <a:bodyPr wrap="square" lIns="0" tIns="0" rIns="0" bIns="0" rtlCol="0" anchor="t"/>
          <a:lstStyle/>
          <a:p>
            <a:pPr marL="0" indent="0">
              <a:lnSpc>
                <a:spcPct val="105000"/>
              </a:lnSpc>
              <a:buNone/>
            </a:pPr>
            <a:r>
              <a:rPr lang="en-US" sz="1000" dirty="0">
                <a:solidFill>
                  <a:srgbClr val="D7E2EC"/>
                </a:solidFill>
                <a:latin typeface="Meiryo" pitchFamily="34" charset="0"/>
                <a:ea typeface="Meiryo" pitchFamily="34" charset="-122"/>
                <a:cs typeface="Meiryo" pitchFamily="34" charset="-120"/>
              </a:rPr>
              <a:t>報告期限等の数値は法令に基づき設定</a:t>
            </a:r>
            <a:endParaRPr lang="en-US" sz="1000" dirty="0"/>
          </a:p>
        </p:txBody>
      </p:sp>
      <p:sp>
        <p:nvSpPr>
          <p:cNvPr id="29" name="Text 27"/>
          <p:cNvSpPr/>
          <p:nvPr/>
        </p:nvSpPr>
        <p:spPr>
          <a:xfrm>
            <a:off x="8595360" y="5303520"/>
            <a:ext cx="228600" cy="365760"/>
          </a:xfrm>
          <a:prstGeom prst="rect">
            <a:avLst/>
          </a:prstGeom>
          <a:noFill/>
          <a:ln/>
        </p:spPr>
        <p:txBody>
          <a:bodyPr wrap="square" lIns="0" tIns="0" rIns="0" bIns="0" rtlCol="0" anchor="ctr"/>
          <a:lstStyle/>
          <a:p>
            <a:pPr marL="0" indent="0">
              <a:buNone/>
            </a:pPr>
            <a:r>
              <a:rPr lang="en-US" sz="1100" dirty="0">
                <a:solidFill>
                  <a:srgbClr val="E0A63C"/>
                </a:solidFill>
                <a:latin typeface="Meiryo" pitchFamily="34" charset="0"/>
                <a:ea typeface="Meiryo" pitchFamily="34" charset="-122"/>
                <a:cs typeface="Meiryo" pitchFamily="34" charset="-120"/>
              </a:rPr>
              <a:t>•</a:t>
            </a:r>
            <a:endParaRPr lang="en-US" sz="1100" dirty="0"/>
          </a:p>
        </p:txBody>
      </p:sp>
      <p:sp>
        <p:nvSpPr>
          <p:cNvPr id="30" name="Text 28"/>
          <p:cNvSpPr/>
          <p:nvPr/>
        </p:nvSpPr>
        <p:spPr>
          <a:xfrm>
            <a:off x="8823960" y="5303520"/>
            <a:ext cx="2697480" cy="603504"/>
          </a:xfrm>
          <a:prstGeom prst="rect">
            <a:avLst/>
          </a:prstGeom>
          <a:noFill/>
          <a:ln/>
        </p:spPr>
        <p:txBody>
          <a:bodyPr wrap="square" lIns="0" tIns="0" rIns="0" bIns="0" rtlCol="0" anchor="t"/>
          <a:lstStyle/>
          <a:p>
            <a:pPr marL="0" indent="0">
              <a:lnSpc>
                <a:spcPct val="105000"/>
              </a:lnSpc>
              <a:buNone/>
            </a:pPr>
            <a:r>
              <a:rPr lang="en-US" sz="1000" dirty="0">
                <a:solidFill>
                  <a:srgbClr val="D7E2EC"/>
                </a:solidFill>
                <a:latin typeface="Meiryo" pitchFamily="34" charset="0"/>
                <a:ea typeface="Meiryo" pitchFamily="34" charset="-122"/>
                <a:cs typeface="Meiryo" pitchFamily="34" charset="-120"/>
              </a:rPr>
              <a:t>今後、実施手順の整備・訓練・内部監査を実施</a:t>
            </a:r>
            <a:endParaRPr lang="en-US" sz="1000" dirty="0"/>
          </a:p>
        </p:txBody>
      </p:sp>
      <p:sp>
        <p:nvSpPr>
          <p:cNvPr id="31" name="Text 29"/>
          <p:cNvSpPr/>
          <p:nvPr/>
        </p:nvSpPr>
        <p:spPr>
          <a:xfrm>
            <a:off x="1097280" y="6172200"/>
            <a:ext cx="6400800" cy="320040"/>
          </a:xfrm>
          <a:prstGeom prst="rect">
            <a:avLst/>
          </a:prstGeom>
          <a:noFill/>
          <a:ln/>
        </p:spPr>
        <p:txBody>
          <a:bodyPr wrap="square" lIns="0" tIns="0" rIns="0" bIns="0" rtlCol="0" anchor="ctr"/>
          <a:lstStyle/>
          <a:p>
            <a:pPr marL="0" indent="0">
              <a:buNone/>
            </a:pPr>
            <a:r>
              <a:rPr lang="en-US" sz="1100" dirty="0">
                <a:solidFill>
                  <a:srgbClr val="9FB6CA"/>
                </a:solidFill>
                <a:latin typeface="Meiryo" pitchFamily="34" charset="0"/>
                <a:ea typeface="Meiryo" pitchFamily="34" charset="-122"/>
                <a:cs typeface="Meiryo" pitchFamily="34" charset="-120"/>
              </a:rPr>
              <a:t>株式会社 芝浦トラベル　情報セキュリティ担当</a:t>
            </a:r>
            <a:endParaRPr lang="en-US" sz="1100" dirty="0"/>
          </a:p>
        </p:txBody>
      </p:sp>
      <p:sp>
        <p:nvSpPr>
          <p:cNvPr id="32" name="Text 30"/>
          <p:cNvSpPr/>
          <p:nvPr/>
        </p:nvSpPr>
        <p:spPr>
          <a:xfrm>
            <a:off x="457200" y="6455664"/>
            <a:ext cx="9144000" cy="274320"/>
          </a:xfrm>
          <a:prstGeom prst="rect">
            <a:avLst/>
          </a:prstGeom>
          <a:noFill/>
          <a:ln/>
        </p:spPr>
        <p:txBody>
          <a:bodyPr wrap="square" lIns="0" tIns="0" rIns="0" bIns="0" rtlCol="0" anchor="ctr"/>
          <a:lstStyle/>
          <a:p>
            <a:pPr marL="0" indent="0" algn="l">
              <a:buNone/>
            </a:pPr>
            <a:r>
              <a:rPr lang="en-US" sz="850" dirty="0">
                <a:solidFill>
                  <a:srgbClr val="5B6B7B"/>
                </a:solidFill>
                <a:latin typeface="Meiryo" pitchFamily="34" charset="0"/>
                <a:ea typeface="Meiryo" pitchFamily="34" charset="-122"/>
                <a:cs typeface="Meiryo" pitchFamily="34" charset="-120"/>
              </a:rPr>
              <a:t>株式会社 芝浦トラベル ｜ 情報セキュリティポリシー改訂レポート</a:t>
            </a:r>
            <a:endParaRPr lang="en-US" sz="850" dirty="0"/>
          </a:p>
        </p:txBody>
      </p:sp>
      <p:sp>
        <p:nvSpPr>
          <p:cNvPr id="33" name="Text 31"/>
          <p:cNvSpPr/>
          <p:nvPr/>
        </p:nvSpPr>
        <p:spPr>
          <a:xfrm>
            <a:off x="11338560" y="6455664"/>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Meiryo" pitchFamily="34" charset="0"/>
                <a:ea typeface="Meiryo" pitchFamily="34" charset="-122"/>
                <a:cs typeface="Meiryo"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1260</Words>
  <Application>Microsoft Office PowerPoint</Application>
  <PresentationFormat>ワイド画面</PresentationFormat>
  <Paragraphs>288</Paragraphs>
  <Slides>12</Slides>
  <Notes>12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12</vt:i4>
      </vt:variant>
    </vt:vector>
  </HeadingPairs>
  <TitlesOfParts>
    <vt:vector size="15" baseType="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情報セキュリティポリシー改訂レポート</dc:title>
  <dc:subject>PptxGenJS Presentation</dc:subject>
  <dc:creator>芝浦トラベル 情報セキュリティ担当</dc:creator>
  <cp:lastModifiedBy>颯斗 卜部</cp:lastModifiedBy>
  <cp:revision>4</cp:revision>
  <dcterms:created xsi:type="dcterms:W3CDTF">2026-07-08T09:55:23Z</dcterms:created>
  <dcterms:modified xsi:type="dcterms:W3CDTF">2026-07-08T10:14:16Z</dcterms:modified>
</cp:coreProperties>
</file>